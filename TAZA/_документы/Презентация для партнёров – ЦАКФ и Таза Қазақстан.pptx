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sldIdLst>
    <p:sldId id="272" r:id="rId4"/>
    <p:sldId id="273" r:id="rId5"/>
    <p:sldId id="274" r:id="rId6"/>
    <p:sldId id="275" r:id="rId7"/>
    <p:sldId id="276" r:id="rId8"/>
    <p:sldId id="277" r:id="rId9"/>
    <p:sldId id="278" r:id="rId10"/>
    <p:sldId id="256" r:id="rId11"/>
    <p:sldId id="257" r:id="rId12"/>
    <p:sldId id="258" r:id="rId13"/>
    <p:sldId id="259" r:id="rId14"/>
    <p:sldId id="260" r:id="rId15"/>
    <p:sldId id="261" r:id="rId16"/>
    <p:sldId id="282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9" r:id="rId28"/>
    <p:sldId id="280" r:id="rId29"/>
    <p:sldId id="281" r:id="rId3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91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C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112" d="100"/>
          <a:sy n="112" d="100"/>
        </p:scale>
        <p:origin x="516" y="-84"/>
      </p:cViewPr>
      <p:guideLst>
        <p:guide orient="horz" pos="2891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12182856" y="0"/>
                </a:lnTo>
                <a:lnTo>
                  <a:pt x="9144" y="0"/>
                </a:lnTo>
                <a:lnTo>
                  <a:pt x="0" y="0"/>
                </a:lnTo>
                <a:lnTo>
                  <a:pt x="0" y="9144"/>
                </a:lnTo>
                <a:lnTo>
                  <a:pt x="0" y="6858000"/>
                </a:lnTo>
                <a:lnTo>
                  <a:pt x="9144" y="6858000"/>
                </a:lnTo>
                <a:lnTo>
                  <a:pt x="9144" y="9144"/>
                </a:lnTo>
                <a:lnTo>
                  <a:pt x="12182856" y="9144"/>
                </a:lnTo>
                <a:lnTo>
                  <a:pt x="12182856" y="6858000"/>
                </a:lnTo>
                <a:lnTo>
                  <a:pt x="12191987" y="6858000"/>
                </a:lnTo>
                <a:lnTo>
                  <a:pt x="12191987" y="9144"/>
                </a:lnTo>
                <a:lnTo>
                  <a:pt x="12192000" y="0"/>
                </a:lnTo>
                <a:close/>
              </a:path>
            </a:pathLst>
          </a:custGeom>
          <a:solidFill>
            <a:srgbClr val="E1E8E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6620256" y="0"/>
                </a:moveTo>
                <a:lnTo>
                  <a:pt x="361188" y="0"/>
                </a:lnTo>
                <a:lnTo>
                  <a:pt x="312168" y="3296"/>
                </a:lnTo>
                <a:lnTo>
                  <a:pt x="265156" y="12899"/>
                </a:lnTo>
                <a:lnTo>
                  <a:pt x="220581" y="28378"/>
                </a:lnTo>
                <a:lnTo>
                  <a:pt x="178872" y="49304"/>
                </a:lnTo>
                <a:lnTo>
                  <a:pt x="140460" y="75246"/>
                </a:lnTo>
                <a:lnTo>
                  <a:pt x="105775" y="105775"/>
                </a:lnTo>
                <a:lnTo>
                  <a:pt x="75246" y="140460"/>
                </a:lnTo>
                <a:lnTo>
                  <a:pt x="49304" y="178872"/>
                </a:lnTo>
                <a:lnTo>
                  <a:pt x="28378" y="220581"/>
                </a:lnTo>
                <a:lnTo>
                  <a:pt x="12899" y="265156"/>
                </a:lnTo>
                <a:lnTo>
                  <a:pt x="3296" y="312168"/>
                </a:lnTo>
                <a:lnTo>
                  <a:pt x="0" y="361188"/>
                </a:lnTo>
                <a:lnTo>
                  <a:pt x="3296" y="410207"/>
                </a:lnTo>
                <a:lnTo>
                  <a:pt x="12899" y="457219"/>
                </a:lnTo>
                <a:lnTo>
                  <a:pt x="28378" y="501794"/>
                </a:lnTo>
                <a:lnTo>
                  <a:pt x="49304" y="543503"/>
                </a:lnTo>
                <a:lnTo>
                  <a:pt x="75246" y="581915"/>
                </a:lnTo>
                <a:lnTo>
                  <a:pt x="105775" y="616600"/>
                </a:lnTo>
                <a:lnTo>
                  <a:pt x="140460" y="647129"/>
                </a:lnTo>
                <a:lnTo>
                  <a:pt x="178872" y="673071"/>
                </a:lnTo>
                <a:lnTo>
                  <a:pt x="220581" y="693997"/>
                </a:lnTo>
                <a:lnTo>
                  <a:pt x="265156" y="709476"/>
                </a:lnTo>
                <a:lnTo>
                  <a:pt x="312168" y="719079"/>
                </a:lnTo>
                <a:lnTo>
                  <a:pt x="361188" y="722376"/>
                </a:lnTo>
                <a:lnTo>
                  <a:pt x="6620256" y="722376"/>
                </a:lnTo>
                <a:lnTo>
                  <a:pt x="6669275" y="719079"/>
                </a:lnTo>
                <a:lnTo>
                  <a:pt x="6716287" y="709476"/>
                </a:lnTo>
                <a:lnTo>
                  <a:pt x="6760862" y="693997"/>
                </a:lnTo>
                <a:lnTo>
                  <a:pt x="6802571" y="673071"/>
                </a:lnTo>
                <a:lnTo>
                  <a:pt x="6840983" y="647129"/>
                </a:lnTo>
                <a:lnTo>
                  <a:pt x="6875668" y="616600"/>
                </a:lnTo>
                <a:lnTo>
                  <a:pt x="6906197" y="581915"/>
                </a:lnTo>
                <a:lnTo>
                  <a:pt x="6932139" y="543503"/>
                </a:lnTo>
                <a:lnTo>
                  <a:pt x="6953065" y="501794"/>
                </a:lnTo>
                <a:lnTo>
                  <a:pt x="6968544" y="457219"/>
                </a:lnTo>
                <a:lnTo>
                  <a:pt x="6978147" y="410207"/>
                </a:lnTo>
                <a:lnTo>
                  <a:pt x="6981444" y="361188"/>
                </a:lnTo>
                <a:lnTo>
                  <a:pt x="6978147" y="312168"/>
                </a:lnTo>
                <a:lnTo>
                  <a:pt x="6968544" y="265156"/>
                </a:lnTo>
                <a:lnTo>
                  <a:pt x="6953065" y="220581"/>
                </a:lnTo>
                <a:lnTo>
                  <a:pt x="6932139" y="178872"/>
                </a:lnTo>
                <a:lnTo>
                  <a:pt x="6906197" y="140460"/>
                </a:lnTo>
                <a:lnTo>
                  <a:pt x="6875668" y="105775"/>
                </a:lnTo>
                <a:lnTo>
                  <a:pt x="6840983" y="75246"/>
                </a:lnTo>
                <a:lnTo>
                  <a:pt x="6802571" y="49304"/>
                </a:lnTo>
                <a:lnTo>
                  <a:pt x="6760862" y="28378"/>
                </a:lnTo>
                <a:lnTo>
                  <a:pt x="6716287" y="12899"/>
                </a:lnTo>
                <a:lnTo>
                  <a:pt x="6669275" y="3296"/>
                </a:lnTo>
                <a:lnTo>
                  <a:pt x="66202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0" y="361188"/>
                </a:moveTo>
                <a:lnTo>
                  <a:pt x="3296" y="312168"/>
                </a:lnTo>
                <a:lnTo>
                  <a:pt x="12899" y="265156"/>
                </a:lnTo>
                <a:lnTo>
                  <a:pt x="28378" y="220581"/>
                </a:lnTo>
                <a:lnTo>
                  <a:pt x="49304" y="178872"/>
                </a:lnTo>
                <a:lnTo>
                  <a:pt x="75246" y="140460"/>
                </a:lnTo>
                <a:lnTo>
                  <a:pt x="105775" y="105775"/>
                </a:lnTo>
                <a:lnTo>
                  <a:pt x="140460" y="75246"/>
                </a:lnTo>
                <a:lnTo>
                  <a:pt x="178872" y="49304"/>
                </a:lnTo>
                <a:lnTo>
                  <a:pt x="220581" y="28378"/>
                </a:lnTo>
                <a:lnTo>
                  <a:pt x="265156" y="12899"/>
                </a:lnTo>
                <a:lnTo>
                  <a:pt x="312168" y="3296"/>
                </a:lnTo>
                <a:lnTo>
                  <a:pt x="361188" y="0"/>
                </a:lnTo>
                <a:lnTo>
                  <a:pt x="6620256" y="0"/>
                </a:lnTo>
                <a:lnTo>
                  <a:pt x="6669275" y="3296"/>
                </a:lnTo>
                <a:lnTo>
                  <a:pt x="6716287" y="12899"/>
                </a:lnTo>
                <a:lnTo>
                  <a:pt x="6760862" y="28378"/>
                </a:lnTo>
                <a:lnTo>
                  <a:pt x="6802571" y="49304"/>
                </a:lnTo>
                <a:lnTo>
                  <a:pt x="6840983" y="75246"/>
                </a:lnTo>
                <a:lnTo>
                  <a:pt x="6875668" y="105775"/>
                </a:lnTo>
                <a:lnTo>
                  <a:pt x="6906197" y="140460"/>
                </a:lnTo>
                <a:lnTo>
                  <a:pt x="6932139" y="178872"/>
                </a:lnTo>
                <a:lnTo>
                  <a:pt x="6953065" y="220581"/>
                </a:lnTo>
                <a:lnTo>
                  <a:pt x="6968544" y="265156"/>
                </a:lnTo>
                <a:lnTo>
                  <a:pt x="6978147" y="312168"/>
                </a:lnTo>
                <a:lnTo>
                  <a:pt x="6981444" y="361188"/>
                </a:lnTo>
                <a:lnTo>
                  <a:pt x="6978147" y="410207"/>
                </a:lnTo>
                <a:lnTo>
                  <a:pt x="6968544" y="457219"/>
                </a:lnTo>
                <a:lnTo>
                  <a:pt x="6953065" y="501794"/>
                </a:lnTo>
                <a:lnTo>
                  <a:pt x="6932139" y="543503"/>
                </a:lnTo>
                <a:lnTo>
                  <a:pt x="6906197" y="581915"/>
                </a:lnTo>
                <a:lnTo>
                  <a:pt x="6875668" y="616600"/>
                </a:lnTo>
                <a:lnTo>
                  <a:pt x="6840983" y="647129"/>
                </a:lnTo>
                <a:lnTo>
                  <a:pt x="6802571" y="673071"/>
                </a:lnTo>
                <a:lnTo>
                  <a:pt x="6760862" y="693997"/>
                </a:lnTo>
                <a:lnTo>
                  <a:pt x="6716287" y="709476"/>
                </a:lnTo>
                <a:lnTo>
                  <a:pt x="6669275" y="719079"/>
                </a:lnTo>
                <a:lnTo>
                  <a:pt x="6620256" y="722376"/>
                </a:lnTo>
                <a:lnTo>
                  <a:pt x="361188" y="722376"/>
                </a:lnTo>
                <a:lnTo>
                  <a:pt x="312168" y="719079"/>
                </a:lnTo>
                <a:lnTo>
                  <a:pt x="265156" y="709476"/>
                </a:lnTo>
                <a:lnTo>
                  <a:pt x="220581" y="693997"/>
                </a:lnTo>
                <a:lnTo>
                  <a:pt x="178872" y="673071"/>
                </a:lnTo>
                <a:lnTo>
                  <a:pt x="140460" y="647129"/>
                </a:lnTo>
                <a:lnTo>
                  <a:pt x="105775" y="616600"/>
                </a:lnTo>
                <a:lnTo>
                  <a:pt x="75246" y="581915"/>
                </a:lnTo>
                <a:lnTo>
                  <a:pt x="49304" y="543503"/>
                </a:lnTo>
                <a:lnTo>
                  <a:pt x="28378" y="501794"/>
                </a:lnTo>
                <a:lnTo>
                  <a:pt x="12899" y="457219"/>
                </a:lnTo>
                <a:lnTo>
                  <a:pt x="3296" y="410207"/>
                </a:lnTo>
                <a:lnTo>
                  <a:pt x="0" y="361188"/>
                </a:lnTo>
                <a:close/>
              </a:path>
            </a:pathLst>
          </a:custGeom>
          <a:ln w="9144">
            <a:solidFill>
              <a:srgbClr val="CAD4E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575" y="2865882"/>
            <a:ext cx="9535160" cy="513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900" y="434162"/>
            <a:ext cx="10138282" cy="778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12396" y="6593535"/>
            <a:ext cx="415290" cy="1860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image" Target="../media/image3.png"/><Relationship Id="rId20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jpeg"/><Relationship Id="rId3" Type="http://schemas.openxmlformats.org/officeDocument/2006/relationships/image" Target="../media/image17.png"/><Relationship Id="rId4" Type="http://schemas.openxmlformats.org/officeDocument/2006/relationships/image" Target="../media/image18.jpeg"/><Relationship Id="rId5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image" Target="../media/image20.jpeg"/><Relationship Id="rId3" Type="http://schemas.openxmlformats.org/officeDocument/2006/relationships/image" Target="../media/image21.jpeg"/><Relationship Id="rId4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jpeg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jpeg"/><Relationship Id="rId2" Type="http://schemas.openxmlformats.org/officeDocument/2006/relationships/image" Target="../media/image34.jpeg"/><Relationship Id="rId3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8.xml"/><Relationship Id="rId3" Type="http://schemas.openxmlformats.org/officeDocument/2006/relationships/tags" Target="../tags/tag19.xml"/><Relationship Id="rId4" Type="http://schemas.openxmlformats.org/officeDocument/2006/relationships/tags" Target="../tags/tag20.xml"/><Relationship Id="rId5" Type="http://schemas.openxmlformats.org/officeDocument/2006/relationships/tags" Target="../tags/tag21.xml"/><Relationship Id="rId6" Type="http://schemas.openxmlformats.org/officeDocument/2006/relationships/tags" Target="../tags/tag22.xml"/><Relationship Id="rId7" Type="http://schemas.openxmlformats.org/officeDocument/2006/relationships/tags" Target="../tags/tag23.xml"/><Relationship Id="rId8" Type="http://schemas.openxmlformats.org/officeDocument/2006/relationships/tags" Target="../tags/tag24.xml"/><Relationship Id="rId9" Type="http://schemas.openxmlformats.org/officeDocument/2006/relationships/tags" Target="../tags/tag25.xml"/><Relationship Id="rId10" Type="http://schemas.openxmlformats.org/officeDocument/2006/relationships/tags" Target="../tags/tag26.xml"/><Relationship Id="rId11" Type="http://schemas.openxmlformats.org/officeDocument/2006/relationships/tags" Target="../tags/tag27.xml"/><Relationship Id="rId12" Type="http://schemas.openxmlformats.org/officeDocument/2006/relationships/tags" Target="../tags/tag28.xml"/><Relationship Id="rId13" Type="http://schemas.openxmlformats.org/officeDocument/2006/relationships/tags" Target="../tags/tag29.xml"/><Relationship Id="rId14" Type="http://schemas.openxmlformats.org/officeDocument/2006/relationships/tags" Target="../tags/tag30.xml"/><Relationship Id="rId15" Type="http://schemas.openxmlformats.org/officeDocument/2006/relationships/tags" Target="../tags/tag31.xml"/><Relationship Id="rId16" Type="http://schemas.openxmlformats.org/officeDocument/2006/relationships/tags" Target="../tags/tag32.xml"/><Relationship Id="rId17" Type="http://schemas.openxmlformats.org/officeDocument/2006/relationships/tags" Target="../tags/tag33.xml"/><Relationship Id="rId18" Type="http://schemas.openxmlformats.org/officeDocument/2006/relationships/tags" Target="../tags/tag34.xml"/><Relationship Id="rId19" Type="http://schemas.openxmlformats.org/officeDocument/2006/relationships/tags" Target="../tags/tag35.xml"/><Relationship Id="rId20" Type="http://schemas.openxmlformats.org/officeDocument/2006/relationships/tags" Target="../tags/tag36.xml"/><Relationship Id="rId21" Type="http://schemas.openxmlformats.org/officeDocument/2006/relationships/tags" Target="../tags/tag37.xml"/><Relationship Id="rId22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827999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612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827999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736000"/>
            <a:ext cx="11124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ПРОЕКТНЫЙ ОФИС «ТАЗА ҚАЗАҚСТАН»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НА БАЗЕ ЦЕНТРАЛЬНО-АЗИАТСКОГО КЛИМАТИЧЕСКОГО ФОНДА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616000"/>
            <a:ext cx="107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Астана, 2026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ЦЕНТРАЛЬНО-АЗИАТСКИЙ КЛИМАТИЧЕСКИЙ ФОНД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52000" y="162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Создан 22 февраля 2024 года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инициативе Главы государства Касым-Жомарта Токаева, озвученной на 78-й сессии Генеральной Ассамблеи ООН.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2000" y="261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Юридическая форма Проектного офиса для Центральной Азии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изменению климата и зелёной энергетике.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52000" y="360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Самостоятельная международная организация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52000" y="459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Региональные проекты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28000" y="1655999"/>
            <a:ext cx="4536000" cy="266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28000" y="1655999"/>
            <a:ext cx="43200" cy="266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3999" y="1764000"/>
            <a:ext cx="4176000" cy="18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  <a:endParaRPr sz="15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43999" y="3671999"/>
            <a:ext cx="4176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465469"/>
                </a:solidFill>
                <a:latin typeface="Arial" panose="020B0604020202020204"/>
              </a:rPr>
              <a:t>Президент Республики Казахстан К.-Ж. Токаев</a:t>
            </a:r>
            <a:endParaRPr sz="1200" b="1">
              <a:solidFill>
                <a:srgbClr val="465469"/>
              </a:solidFill>
              <a:latin typeface="Arial" panose="020B0604020202020204"/>
            </a:endParaRPr>
          </a:p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78-я сессия Генеральной Ассамблеи ООН, Нью-Йорк, 2023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28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2024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28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регистрация в МФЦА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76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2025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76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положительное аудиторское заключение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СТРУКТУРА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284000" y="1404000"/>
            <a:ext cx="3636000" cy="36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4000" y="1404000"/>
            <a:ext cx="3636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Верховный попечитель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83999" y="1764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84000" y="1980000"/>
            <a:ext cx="3636000" cy="54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4000" y="1980000"/>
            <a:ext cx="3636000" cy="54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Главный исполнительный директор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  <a:p>
            <a:pPr algn="ctr"/>
            <a:r>
              <a:rPr sz="1400" b="0">
                <a:solidFill>
                  <a:srgbClr val="FFFFFF"/>
                </a:solidFill>
                <a:latin typeface="Arial" panose="020B0604020202020204"/>
              </a:rPr>
              <a:t>Председатель Управляющего совета</a:t>
            </a:r>
            <a:endParaRPr sz="1400" b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3999" y="2520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0000" y="2736000"/>
            <a:ext cx="8604000" cy="18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00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0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2951999"/>
            <a:ext cx="2646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для Центральной Азии по изменению климата и зелёной энергетике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6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региональные климатические проекты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климатическая политика и сотрудничество стран ЦА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ESG, климатические финансы, «Зелёные школы»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626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6000" y="2951999"/>
            <a:ext cx="2646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1999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«Таза Қазақстан»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91999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социология и аналитика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проектное управление и региональная координация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цифровое развитие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00A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2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2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2000" y="2951999"/>
            <a:ext cx="2646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Сеть экспертов Центральной Азии+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318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экспертно-аналитическое сопровождение климатической, экологической и энергетической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заключения и рекомендации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0277999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17999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17999" y="2951999"/>
            <a:ext cx="2646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Административно-финансовый блок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44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административные вопросы, закупки, кадры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финансы и бухгалтерия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правовое сопровождение (МФЦА)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IT-поддержка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3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НАПРАВЛЕНИЯ РАБОТЫ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4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40000" y="1440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Региональный экологический саммит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000" y="2214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Сопровождение решений и инициатив РЭС-2026: 58 сессий как портфель проектов и программ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84000" y="1440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«Таза Қазақстан»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0000" y="2214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Проектный офис и оператор мероприятий инициативы; адаптация практик для стран Центральной Азии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28000" y="1440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ESG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54000" y="2214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0000" y="3186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0000" y="3186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000" y="3311999"/>
            <a:ext cx="334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Климатические и экологические риски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000" y="3960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Оценка физических и переходных рисков для государственных органов, организаций и инвесторов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84000" y="3186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84000" y="3186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10000" y="3311999"/>
            <a:ext cx="334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Аналитика и «Зелёный Think Tank»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10000" y="3960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28000" y="3186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28000" y="3186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54000" y="3311999"/>
            <a:ext cx="334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Зелёные школы и молодёжь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54000" y="3960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Региональная координация программы «Зелёные школы» с ЮНИСЕФ, волонтёрство, экологическое просвещение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0000" y="4932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0000" y="4932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6000" y="5058000"/>
            <a:ext cx="334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Обучение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6000" y="570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Учебный центр Фонда: обучение и повышение квалификации по экологии, климату, устойчивому развитию и ESG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284000" y="4932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84000" y="4932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10000" y="5058000"/>
            <a:ext cx="334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Международное и грантовое финансирование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10000" y="570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Совместные проекты с ООН и МФО, привлечение климатического, грантового и проектного финансирования, гранты экологическим проектам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28000" y="4932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028000" y="4932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54000" y="5058000"/>
            <a:ext cx="334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Цифровые решения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54000" y="570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Инструменты и платформы на основе ИИ и ГИС для сбора, анализа и мониторинга экологических и климатических данных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СТРАТЕГИЧЕСКИЕ ЦЕЛИ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68000"/>
            <a:ext cx="450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Цели по уставу Фонда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6000" y="1746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Ускорение региональных климатических действий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6000" y="2412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Региональная климатическая политика и сотрудничество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6000" y="3077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Поддержка разработки политик и регулирования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16000" y="3743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Исследования и инновации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05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16000" y="4409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Партнёрства с МФИ, НПО, бизнесом и наукой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06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16000" y="5075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Климатические данные и наука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07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16000" y="5741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Повышение осведомлённости и развитие потенциала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08000" y="1368000"/>
            <a:ext cx="612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Стратегия 2026–2035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508000" y="1764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8000" y="1764000"/>
            <a:ext cx="43200" cy="140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8000" y="1872000"/>
            <a:ext cx="1296000" cy="65087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2026–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2027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56000" y="1872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Устойчивость и новая операционная модель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56000" y="2232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Сопровождение решений РЭС, проектный портфель, «Зелёные школы» и волонтёрство, ESG, «Таза Қазақстан», сеть экспертов, международное сотрудничество, тендеры и гранты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508000" y="3348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8000" y="3348000"/>
            <a:ext cx="43200" cy="140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88000" y="3456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D3AE37"/>
                </a:solidFill>
                <a:latin typeface="Tahoma" panose="020B0604030504040204"/>
              </a:rPr>
              <a:t>до 2028</a:t>
            </a:r>
            <a:endParaRPr sz="20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056000" y="3456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«Зелёный Think Tank» Центральной Азии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056000" y="3816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Собственная аналитическая платформа, регулярная аналитика, признанный центр компетенций региона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08000" y="4932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08000" y="4932000"/>
            <a:ext cx="43200" cy="140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8000" y="5040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184C6"/>
                </a:solidFill>
                <a:latin typeface="Tahoma" panose="020B0604030504040204"/>
              </a:rPr>
              <a:t>до 2035</a:t>
            </a:r>
            <a:endParaRPr sz="20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056000" y="5040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«Суперфонд»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56000" y="5400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5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ОПЫТ И РЕЗУЛЬТАТЫ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Региональный экологический саммит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Астана, 22–24 апреля 2026 года: более 11 300 участников, 58 сессий, в том числе 21 высокого уровня.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Декларация глав государств Центральной Азии, п. 24 – поддержка Проектного офиса.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4284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7"/>
            </p:custDataLst>
          </p:nvPr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8"/>
            </p:custDataLst>
          </p:nvPr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Аналитика для отрасли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4410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Комплексный анализ рисков и возможностей устойчивого развития Центральной Азии для энергетического сектора Казахстана – отчёт для KAZENERGY (2026).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28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ESG-аналитика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154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pic>
        <p:nvPicPr>
          <p:cNvPr id="28" name="Picture 27" descr="fond_s03_42e75af4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3455999" y="3275369"/>
            <a:ext cx="576000" cy="540631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40000" y="4050000"/>
            <a:ext cx="5472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000" y="4050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Обучение и просвещение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000" y="4644000"/>
            <a:ext cx="5220000" cy="181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ESG-обучение совместно с ИАЦ ООС МЭПР.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Программа «Зелёные школы» Центральной Азии в рамках меморандума с ЮНИСЕФ.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6000" y="4050000"/>
            <a:ext cx="5472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56000" y="4050000"/>
            <a:ext cx="5472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2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Международные партнёрства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2000" y="4644000"/>
            <a:ext cx="5220000" cy="181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Меморандумы с ЮНИСЕФ и ЮНКТАД.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ОТ КЛИМАТИЧЕСКОЙ ПОВЕСТКИ К «ТАЗА ҚАЗАҚСТАН»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468000"/>
            <a:ext cx="1512000" cy="50940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0000" y="1332000"/>
            <a:ext cx="11124000" cy="11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332000"/>
            <a:ext cx="43200" cy="11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000" y="1386000"/>
            <a:ext cx="10764000" cy="100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Экологические решения – от сокращения выбросов до обращения с отходами – дают результат только тогда, когда их поддерживает общество и они становятся частью повседневного поведения людей и бизнеса. </a:t>
            </a:r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Эту задачу на национальном уровне решает инициатива Главы государства «Таза Қазақстан».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0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2628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МЭПР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6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Общее руководство, определение приоритетов, координация государственных органов и акиматов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284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4000" y="262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0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Проектный офис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10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Реализация задач инициативы по четырём направлениям: социология, проектное управление и регионы, цифровизация,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28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000" y="262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4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Фонд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154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Организационная, правовая и финансовая платформа, методология и проверка данных, аналитика, международные методики и партнёрства, привлечение внебюджетных средств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0000" y="4788000"/>
            <a:ext cx="1112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Итоги Концепции «Таза Қазақстан» 2024–2029 на сегодня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0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≈3 млн т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0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отходов собрано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48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≈3 млн га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48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территорий очищено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56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≈5,8 млн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56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деревьев высажено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64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184C6"/>
                </a:solidFill>
                <a:latin typeface="Tahoma" panose="020B0604030504040204"/>
              </a:rPr>
              <a:t>6+ млн</a:t>
            </a:r>
            <a:endParaRPr sz="26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64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участников ежегодно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40000" y="6048000"/>
            <a:ext cx="11124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Размещение Проектного офиса на базе Фонда не требует создания новой государственной структуры и позволяет сразу использовать инфраструктуру, опыт и международные партнёрства Фонда.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7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105400" y="609600"/>
            <a:ext cx="1402080" cy="126187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1600200" y="3124200"/>
            <a:ext cx="1043622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8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r>
              <a:rPr sz="28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ЖАЛПЫҰЛТТЫҚ</a:t>
            </a:r>
            <a:r>
              <a:rPr sz="28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ЖОБАСЫ</a:t>
            </a:r>
            <a:endParaRPr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2819400" y="4038600"/>
            <a:ext cx="6553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ОРТА</a:t>
            </a:r>
            <a:r>
              <a:rPr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14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ӘДЕТ</a:t>
            </a:r>
            <a:r>
              <a:rPr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8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САНА</a:t>
            </a:r>
            <a:endParaRPr sz="2400" dirty="0">
              <a:latin typeface="Tahoma" panose="020B0604030504040204"/>
              <a:cs typeface="Tahoma" panose="020B0604030504040204"/>
            </a:endParaRP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48006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/>
          <p:cNvCxnSpPr/>
          <p:nvPr/>
        </p:nvCxnSpPr>
        <p:spPr>
          <a:xfrm>
            <a:off x="69342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96900" y="546861"/>
            <a:ext cx="818388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100" spc="9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ТЕКУЩАЯ</a:t>
            </a:r>
            <a:r>
              <a:rPr sz="2100" spc="-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МОДЕЛЬ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0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 </a:t>
            </a:r>
            <a:r>
              <a:rPr sz="2100" spc="1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ОБЩЕНАЦИОНАЛЬНОГО</a:t>
            </a:r>
            <a:r>
              <a:rPr sz="2100" spc="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4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9955" y="1828800"/>
            <a:ext cx="45720" cy="3601720"/>
          </a:xfrm>
          <a:custGeom>
            <a:avLst/>
            <a:gdLst/>
            <a:ahLst/>
            <a:cxnLst/>
            <a:rect l="l" t="t" r="r" b="b"/>
            <a:pathLst>
              <a:path w="45720" h="3601720">
                <a:moveTo>
                  <a:pt x="45720" y="0"/>
                </a:moveTo>
                <a:lnTo>
                  <a:pt x="0" y="0"/>
                </a:lnTo>
                <a:lnTo>
                  <a:pt x="0" y="3601212"/>
                </a:lnTo>
                <a:lnTo>
                  <a:pt x="45720" y="3601212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544068" y="1851660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9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9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616712" y="1851786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21486" y="1809750"/>
            <a:ext cx="3100705" cy="13284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КОНЦЕПЦИЯ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РАЗВИТИЯ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2024–2029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ГГ.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  <a:spcBef>
                <a:spcPts val="1135"/>
              </a:spcBef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60</a:t>
            </a:r>
            <a:r>
              <a:rPr sz="1800" b="1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8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3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направлениям: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379976" y="1833372"/>
            <a:ext cx="384175" cy="334010"/>
          </a:xfrm>
          <a:custGeom>
            <a:avLst/>
            <a:gdLst/>
            <a:ahLst/>
            <a:cxnLst/>
            <a:rect l="l" t="t" r="r" b="b"/>
            <a:pathLst>
              <a:path w="384175" h="334010">
                <a:moveTo>
                  <a:pt x="317246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17246" y="333755"/>
                </a:lnTo>
                <a:lnTo>
                  <a:pt x="343275" y="328515"/>
                </a:lnTo>
                <a:lnTo>
                  <a:pt x="364505" y="314213"/>
                </a:lnTo>
                <a:lnTo>
                  <a:pt x="378807" y="292983"/>
                </a:lnTo>
                <a:lnTo>
                  <a:pt x="384048" y="266953"/>
                </a:lnTo>
                <a:lnTo>
                  <a:pt x="384048" y="66801"/>
                </a:lnTo>
                <a:lnTo>
                  <a:pt x="378807" y="40772"/>
                </a:lnTo>
                <a:lnTo>
                  <a:pt x="364505" y="19542"/>
                </a:lnTo>
                <a:lnTo>
                  <a:pt x="343275" y="5240"/>
                </a:lnTo>
                <a:lnTo>
                  <a:pt x="31724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4435221" y="184378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69509" y="1795348"/>
            <a:ext cx="256667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СОБЫТИЙНЫЙ</a:t>
            </a:r>
            <a:r>
              <a:rPr sz="2000" b="1" spc="-1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РЯД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141207" y="1833372"/>
            <a:ext cx="408940" cy="334010"/>
          </a:xfrm>
          <a:custGeom>
            <a:avLst/>
            <a:gdLst/>
            <a:ahLst/>
            <a:cxnLst/>
            <a:rect l="l" t="t" r="r" b="b"/>
            <a:pathLst>
              <a:path w="408940" h="334010">
                <a:moveTo>
                  <a:pt x="341630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41630" y="333755"/>
                </a:lnTo>
                <a:lnTo>
                  <a:pt x="367659" y="328515"/>
                </a:lnTo>
                <a:lnTo>
                  <a:pt x="388889" y="314213"/>
                </a:lnTo>
                <a:lnTo>
                  <a:pt x="403191" y="292983"/>
                </a:lnTo>
                <a:lnTo>
                  <a:pt x="408432" y="266953"/>
                </a:lnTo>
                <a:lnTo>
                  <a:pt x="408432" y="66801"/>
                </a:lnTo>
                <a:lnTo>
                  <a:pt x="403191" y="40772"/>
                </a:lnTo>
                <a:lnTo>
                  <a:pt x="388889" y="19542"/>
                </a:lnTo>
                <a:lnTo>
                  <a:pt x="367659" y="5240"/>
                </a:lnTo>
                <a:lnTo>
                  <a:pt x="341630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8178165" y="1834337"/>
            <a:ext cx="2787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85461" y="2100833"/>
            <a:ext cx="3334385" cy="10496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20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20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Г.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50495">
              <a:lnSpc>
                <a:spcPct val="100000"/>
              </a:lnSpc>
              <a:spcBef>
                <a:spcPts val="1335"/>
              </a:spcBef>
            </a:pP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Более</a:t>
            </a:r>
            <a:r>
              <a:rPr sz="1800" b="1" spc="-7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360</a:t>
            </a:r>
            <a:r>
              <a:rPr sz="1800" b="1" spc="-55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мероприятий,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19380">
              <a:lnSpc>
                <a:spcPct val="100000"/>
              </a:lnSpc>
            </a:pP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Ключевые</a:t>
            </a:r>
            <a:r>
              <a:rPr sz="1800" b="1" spc="-8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мероприятия: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9650" y="3355340"/>
            <a:ext cx="289687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5245" indent="-287020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мышление</a:t>
            </a:r>
            <a:r>
              <a:rPr sz="1800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7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поведение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marR="1007745" indent="-287020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образование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просвещение</a:t>
            </a:r>
            <a:r>
              <a:rPr sz="1800" spc="-9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информ-сопровождение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19955" y="1851660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4881498" y="3308730"/>
            <a:ext cx="2694940" cy="1946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«Мөлдір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бұлақ»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аула»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бейсенбі»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Общенациональные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экологические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1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42147" y="1860804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8700896" y="1832813"/>
            <a:ext cx="32893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КОНТРОЛЬ</a:t>
            </a:r>
            <a:r>
              <a:rPr sz="2000" b="1" spc="-1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519286" y="2554985"/>
            <a:ext cx="276288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Ежемесячные</a:t>
            </a:r>
            <a:r>
              <a:rPr sz="18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совещания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председательством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Премьер-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Министра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56193" y="3741801"/>
            <a:ext cx="3545204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Ответственные</a:t>
            </a:r>
            <a:r>
              <a:rPr sz="1800" spc="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государственные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органы</a:t>
            </a:r>
            <a:r>
              <a:rPr sz="1800" spc="-7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докладывают</a:t>
            </a:r>
            <a:r>
              <a:rPr sz="18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ходе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552445" y="627634"/>
            <a:ext cx="7445375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ПРОГРАММНЫЕ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ВЫСТУПЛЕНИЯ</a:t>
            </a:r>
            <a:r>
              <a:rPr sz="2100" spc="-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ГЛАВЫ</a:t>
            </a:r>
            <a:r>
              <a:rPr sz="2100" spc="-6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ГОСУДАРСТВА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9" name="object 19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388363" y="1250314"/>
            <a:ext cx="3701796" cy="25734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9523" y="1251203"/>
            <a:ext cx="3701796" cy="2561844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611123" y="4192523"/>
            <a:ext cx="45720" cy="2208530"/>
          </a:xfrm>
          <a:custGeom>
            <a:avLst/>
            <a:gdLst/>
            <a:ahLst/>
            <a:cxnLst/>
            <a:rect l="l" t="t" r="r" b="b"/>
            <a:pathLst>
              <a:path w="45720" h="2208529">
                <a:moveTo>
                  <a:pt x="45720" y="0"/>
                </a:moveTo>
                <a:lnTo>
                  <a:pt x="0" y="0"/>
                </a:lnTo>
                <a:lnTo>
                  <a:pt x="0" y="2208276"/>
                </a:lnTo>
                <a:lnTo>
                  <a:pt x="45720" y="2208276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835253" y="4175886"/>
            <a:ext cx="31737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2480" algn="l"/>
                <a:tab pos="2162810" algn="l"/>
                <a:tab pos="262191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праву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76626" y="4419727"/>
            <a:ext cx="12934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проектом,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0">
              <a:lnSpc>
                <a:spcPct val="100000"/>
              </a:lnSpc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изменениям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5253" y="4419727"/>
            <a:ext cx="16414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30619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уникальным прогрессивным сознании...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991736" y="4175886"/>
            <a:ext cx="190753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0" algn="just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можно</a:t>
            </a:r>
            <a:r>
              <a:rPr sz="1600" i="1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назвать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способствовавшим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i="1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5226" y="4907660"/>
            <a:ext cx="31927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03300" algn="l"/>
                <a:tab pos="2109470" algn="l"/>
                <a:tab pos="295592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должны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вывести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акцию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5253" y="5151501"/>
            <a:ext cx="50634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новый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уровень.</a:t>
            </a:r>
            <a:r>
              <a:rPr sz="1600" i="1" spc="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Считаю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необходимым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5253" y="5395366"/>
            <a:ext cx="5061585" cy="1071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946275" algn="l"/>
                <a:tab pos="3978275" algn="l"/>
                <a:tab pos="4955540" algn="l"/>
              </a:tabLst>
            </a:pP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разработать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 </a:t>
            </a:r>
            <a:r>
              <a:rPr sz="1600" b="1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.</a:t>
            </a:r>
            <a:r>
              <a:rPr sz="1600" i="1" u="sng" spc="-4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Это</a:t>
            </a:r>
            <a:r>
              <a:rPr sz="1600" i="1" u="sng" spc="-55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требование</a:t>
            </a:r>
            <a:r>
              <a:rPr sz="1600" i="1" u="sng" spc="-5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времени.»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		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  <a:spcBef>
                <a:spcPts val="107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400" b="1" spc="-6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r>
              <a:rPr sz="1400" b="1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400" b="1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19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10300" y="4192523"/>
            <a:ext cx="47625" cy="2208530"/>
          </a:xfrm>
          <a:custGeom>
            <a:avLst/>
            <a:gdLst/>
            <a:ahLst/>
            <a:cxnLst/>
            <a:rect l="l" t="t" r="r" b="b"/>
            <a:pathLst>
              <a:path w="47625" h="2208529">
                <a:moveTo>
                  <a:pt x="47244" y="0"/>
                </a:moveTo>
                <a:lnTo>
                  <a:pt x="0" y="0"/>
                </a:lnTo>
                <a:lnTo>
                  <a:pt x="0" y="2208276"/>
                </a:lnTo>
                <a:lnTo>
                  <a:pt x="47244" y="2208276"/>
                </a:lnTo>
                <a:lnTo>
                  <a:pt x="472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6436614" y="4175886"/>
            <a:ext cx="50647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«Важно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наполнить</a:t>
            </a:r>
            <a:r>
              <a:rPr sz="1600" i="1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инициативу</a:t>
            </a:r>
            <a:r>
              <a:rPr sz="1600" i="1" spc="2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новым</a:t>
            </a:r>
            <a:r>
              <a:rPr sz="1600" i="1" spc="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содержанием,</a:t>
            </a:r>
            <a:r>
              <a:rPr sz="1600" i="1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свежими</a:t>
            </a:r>
            <a:r>
              <a:rPr sz="1600" i="1" spc="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36614" y="4663262"/>
            <a:ext cx="50641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01650" algn="l"/>
                <a:tab pos="2211705" algn="l"/>
                <a:tab pos="3728085" algn="l"/>
              </a:tabLst>
            </a:pP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креативными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проектами.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Посредством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общенационального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553704" y="4907660"/>
            <a:ext cx="29457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89660" algn="l"/>
                <a:tab pos="1798320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движения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36614" y="5151501"/>
            <a:ext cx="50628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r>
              <a:rPr sz="1600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меняем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отношение</a:t>
            </a:r>
            <a:r>
              <a:rPr sz="1600" b="1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всего</a:t>
            </a:r>
            <a:r>
              <a:rPr sz="1600" b="1" i="1" spc="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нашего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народа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этим</a:t>
            </a:r>
            <a:r>
              <a:rPr sz="1600" i="1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вопросам.»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448044" y="5858255"/>
            <a:ext cx="4944110" cy="9525"/>
          </a:xfrm>
          <a:custGeom>
            <a:avLst/>
            <a:gdLst/>
            <a:ahLst/>
            <a:cxnLst/>
            <a:rect l="l" t="t" r="r" b="b"/>
            <a:pathLst>
              <a:path w="4944109" h="9525">
                <a:moveTo>
                  <a:pt x="4943856" y="0"/>
                </a:moveTo>
                <a:lnTo>
                  <a:pt x="0" y="0"/>
                </a:lnTo>
                <a:lnTo>
                  <a:pt x="0" y="9144"/>
                </a:lnTo>
                <a:lnTo>
                  <a:pt x="4943856" y="9144"/>
                </a:lnTo>
                <a:lnTo>
                  <a:pt x="49438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6436614" y="6029959"/>
            <a:ext cx="5036820" cy="455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Первой</a:t>
            </a:r>
            <a:r>
              <a:rPr sz="1400" b="1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Сессии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r>
              <a:rPr sz="1400" b="1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Халық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Кеңесі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24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490340" y="807211"/>
            <a:ext cx="5958460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ГЛАВНАЯ</a:t>
            </a:r>
            <a:r>
              <a:rPr sz="2100" b="1" spc="-9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ЦЕЛЬ</a:t>
            </a:r>
            <a:r>
              <a:rPr sz="2100" b="1" spc="-95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b="1" spc="-8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609600" y="2046732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47" y="0"/>
                </a:lnTo>
                <a:lnTo>
                  <a:pt x="101388" y="7562"/>
                </a:lnTo>
                <a:lnTo>
                  <a:pt x="60693" y="28614"/>
                </a:lnTo>
                <a:lnTo>
                  <a:pt x="28602" y="60707"/>
                </a:lnTo>
                <a:lnTo>
                  <a:pt x="7557" y="101388"/>
                </a:lnTo>
                <a:lnTo>
                  <a:pt x="0" y="148208"/>
                </a:lnTo>
                <a:lnTo>
                  <a:pt x="0" y="3105530"/>
                </a:lnTo>
                <a:lnTo>
                  <a:pt x="7557" y="3152351"/>
                </a:lnTo>
                <a:lnTo>
                  <a:pt x="28602" y="3193032"/>
                </a:lnTo>
                <a:lnTo>
                  <a:pt x="60693" y="3225125"/>
                </a:lnTo>
                <a:lnTo>
                  <a:pt x="101388" y="3246177"/>
                </a:lnTo>
                <a:lnTo>
                  <a:pt x="148247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0"/>
                </a:lnTo>
                <a:lnTo>
                  <a:pt x="5334000" y="148208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407413" y="2947797"/>
            <a:ext cx="3740785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20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должен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стать фундаментальной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основой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национальной</a:t>
            </a:r>
            <a:r>
              <a:rPr sz="2000" b="1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идеологии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49114" y="4249928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400" y="2129027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09" y="0"/>
                </a:lnTo>
                <a:lnTo>
                  <a:pt x="101388" y="7562"/>
                </a:lnTo>
                <a:lnTo>
                  <a:pt x="60707" y="28614"/>
                </a:lnTo>
                <a:lnTo>
                  <a:pt x="28614" y="60707"/>
                </a:lnTo>
                <a:lnTo>
                  <a:pt x="7562" y="101388"/>
                </a:lnTo>
                <a:lnTo>
                  <a:pt x="0" y="148209"/>
                </a:lnTo>
                <a:lnTo>
                  <a:pt x="0" y="3105531"/>
                </a:lnTo>
                <a:lnTo>
                  <a:pt x="7562" y="3152351"/>
                </a:lnTo>
                <a:lnTo>
                  <a:pt x="28614" y="3193032"/>
                </a:lnTo>
                <a:lnTo>
                  <a:pt x="60707" y="3225125"/>
                </a:lnTo>
                <a:lnTo>
                  <a:pt x="101388" y="3246177"/>
                </a:lnTo>
                <a:lnTo>
                  <a:pt x="148209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1"/>
                </a:lnTo>
                <a:lnTo>
                  <a:pt x="5334000" y="148209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6668516" y="2891739"/>
            <a:ext cx="4704080" cy="2219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4805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Сделать</a:t>
            </a:r>
            <a:r>
              <a:rPr sz="20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идею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чистоты,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</a:t>
            </a:r>
            <a:r>
              <a:rPr sz="20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 marR="5080" indent="476885">
              <a:lnSpc>
                <a:spcPct val="100000"/>
              </a:lnSpc>
            </a:pP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неотъемлемой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частью</a:t>
            </a:r>
            <a:r>
              <a:rPr sz="20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777875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характера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менталитета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R="64135" algn="r">
              <a:lnSpc>
                <a:spcPct val="100000"/>
              </a:lnSpc>
              <a:spcBef>
                <a:spcPts val="1190"/>
              </a:spcBef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8" name="object 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 txBox="1"/>
          <p:nvPr/>
        </p:nvSpPr>
        <p:spPr>
          <a:xfrm>
            <a:off x="1033373" y="614562"/>
            <a:ext cx="10048011" cy="671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ПЕРЕХОД</a:t>
            </a:r>
            <a:r>
              <a:rPr sz="2100" spc="-7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</a:t>
            </a:r>
            <a:r>
              <a:rPr sz="2100" spc="-6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СИСТЕМНОЙ</a:t>
            </a:r>
            <a:r>
              <a:rPr sz="2100" spc="-6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ОБЩЕНАЦИОНАЛЬНОЙ</a:t>
            </a:r>
            <a:r>
              <a:rPr sz="2100" spc="-4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МОДЕЛИ</a:t>
            </a:r>
            <a:endParaRPr lang="en-US" sz="2100" spc="-10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</a:t>
            </a:r>
            <a:r>
              <a:rPr lang="ru-RU" sz="2100" b="0" spc="-2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</a:t>
            </a:r>
            <a:r>
              <a:rPr lang="ru-RU" sz="2100" b="0" spc="-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ОСНОВЕ</a:t>
            </a:r>
            <a:r>
              <a:rPr lang="ru-RU" sz="2100" b="0" spc="-3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ТРЕХ</a:t>
            </a:r>
            <a:r>
              <a:rPr lang="ru-RU" sz="2100" b="1" spc="-3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ВЗАИМОСВЯЗАННЫХ</a:t>
            </a:r>
            <a:r>
              <a:rPr lang="ru-RU" sz="2100" b="1" spc="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ПРИНЦИПОВ</a:t>
            </a:r>
            <a:endParaRPr sz="21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8744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5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75131" y="2551176"/>
            <a:ext cx="3497579" cy="3813175"/>
          </a:xfrm>
          <a:custGeom>
            <a:avLst/>
            <a:gdLst/>
            <a:ahLst/>
            <a:cxnLst/>
            <a:rect l="l" t="t" r="r" b="b"/>
            <a:pathLst>
              <a:path w="3497579" h="3813175">
                <a:moveTo>
                  <a:pt x="3402838" y="0"/>
                </a:moveTo>
                <a:lnTo>
                  <a:pt x="94716" y="0"/>
                </a:lnTo>
                <a:lnTo>
                  <a:pt x="57848" y="7445"/>
                </a:lnTo>
                <a:lnTo>
                  <a:pt x="27741" y="27749"/>
                </a:lnTo>
                <a:lnTo>
                  <a:pt x="7443" y="57864"/>
                </a:lnTo>
                <a:lnTo>
                  <a:pt x="0" y="94741"/>
                </a:lnTo>
                <a:lnTo>
                  <a:pt x="0" y="3718331"/>
                </a:lnTo>
                <a:lnTo>
                  <a:pt x="7443" y="3755199"/>
                </a:lnTo>
                <a:lnTo>
                  <a:pt x="27741" y="3785306"/>
                </a:lnTo>
                <a:lnTo>
                  <a:pt x="57848" y="3805604"/>
                </a:lnTo>
                <a:lnTo>
                  <a:pt x="94716" y="3813048"/>
                </a:lnTo>
                <a:lnTo>
                  <a:pt x="3402838" y="3813048"/>
                </a:lnTo>
                <a:lnTo>
                  <a:pt x="3439715" y="3805604"/>
                </a:lnTo>
                <a:lnTo>
                  <a:pt x="3469830" y="3785306"/>
                </a:lnTo>
                <a:lnTo>
                  <a:pt x="3490134" y="3755199"/>
                </a:lnTo>
                <a:lnTo>
                  <a:pt x="3497579" y="3718331"/>
                </a:lnTo>
                <a:lnTo>
                  <a:pt x="3497579" y="94741"/>
                </a:lnTo>
                <a:lnTo>
                  <a:pt x="3490134" y="57864"/>
                </a:lnTo>
                <a:lnTo>
                  <a:pt x="3469830" y="27749"/>
                </a:lnTo>
                <a:lnTo>
                  <a:pt x="3439715" y="7445"/>
                </a:lnTo>
                <a:lnTo>
                  <a:pt x="3402838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4346447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1" y="0"/>
                </a:moveTo>
                <a:lnTo>
                  <a:pt x="94741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1" y="4070604"/>
                </a:lnTo>
                <a:lnTo>
                  <a:pt x="3404361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4346447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074152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2" y="0"/>
                </a:moveTo>
                <a:lnTo>
                  <a:pt x="94742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2" y="4070604"/>
                </a:lnTo>
                <a:lnTo>
                  <a:pt x="3404362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2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8074152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" name="object 8" descr="image.png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546347" y="2465832"/>
            <a:ext cx="333755" cy="332232"/>
          </a:xfrm>
          <a:prstGeom prst="rect">
            <a:avLst/>
          </a:prstGeom>
        </p:spPr>
      </p:pic>
      <p:pic>
        <p:nvPicPr>
          <p:cNvPr id="9" name="object 9" descr="image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4135" y="2459735"/>
            <a:ext cx="423672" cy="338327"/>
          </a:xfrm>
          <a:prstGeom prst="rect">
            <a:avLst/>
          </a:prstGeom>
        </p:spPr>
      </p:pic>
      <p:pic>
        <p:nvPicPr>
          <p:cNvPr id="10" name="object 10" descr="image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72800" y="2436876"/>
            <a:ext cx="361188" cy="361188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33373" y="2910966"/>
            <a:ext cx="25736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Институционализация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3820" y="3485133"/>
            <a:ext cx="294830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</a:t>
            </a:r>
            <a:r>
              <a:rPr sz="18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работы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Проектного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офиса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формате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единого оперативного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" algn="ctr">
              <a:lnSpc>
                <a:spcPct val="100000"/>
              </a:lnSpc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методического</a:t>
            </a:r>
            <a:r>
              <a:rPr sz="18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562094" y="2910966"/>
            <a:ext cx="3004185" cy="253809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2860" marR="5080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b="1" spc="-114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направлений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L="12700" marR="84455" algn="ctr">
              <a:lnSpc>
                <a:spcPct val="100000"/>
              </a:lnSpc>
              <a:spcBef>
                <a:spcPts val="7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Ориентация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постоянное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гражданское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участие,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направлений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239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8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привычек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112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каждого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242310" y="5402681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B8CDE4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83529" y="5423712"/>
            <a:ext cx="12827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гражданина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936105" y="5404815"/>
            <a:ext cx="78867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14486" y="2921889"/>
            <a:ext cx="3208020" cy="33299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82270" marR="180975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Внедрение</a:t>
            </a:r>
            <a:r>
              <a:rPr sz="18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регулярной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системы</a:t>
            </a:r>
            <a:r>
              <a:rPr sz="18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оценки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(KPI)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065" marR="102235" algn="ctr">
              <a:lnSpc>
                <a:spcPct val="100000"/>
              </a:lnSpc>
              <a:spcBef>
                <a:spcPts val="935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Разработка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r>
              <a:rPr sz="18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 чистоты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.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Системное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закрепление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эко-норм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показателей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уровнях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государственного</a:t>
            </a:r>
            <a:r>
              <a:rPr sz="18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общественного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управления.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ts val="6000"/>
              </a:lnSpc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8" name="object 1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33400" y="508670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3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ПРОЕКТНЫЙ</a:t>
            </a:r>
            <a:r>
              <a:rPr sz="2100" spc="-8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ОФИС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7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185928" y="1382266"/>
            <a:ext cx="2775585" cy="3101903"/>
          </a:xfrm>
          <a:custGeom>
            <a:avLst/>
            <a:gdLst/>
            <a:ahLst/>
            <a:cxnLst/>
            <a:rect l="l" t="t" r="r" b="b"/>
            <a:pathLst>
              <a:path w="2775585" h="2420620">
                <a:moveTo>
                  <a:pt x="2593721" y="0"/>
                </a:moveTo>
                <a:lnTo>
                  <a:pt x="181508" y="0"/>
                </a:lnTo>
                <a:lnTo>
                  <a:pt x="133257" y="6484"/>
                </a:lnTo>
                <a:lnTo>
                  <a:pt x="89899" y="24783"/>
                </a:lnTo>
                <a:lnTo>
                  <a:pt x="53163" y="53165"/>
                </a:lnTo>
                <a:lnTo>
                  <a:pt x="24781" y="89897"/>
                </a:lnTo>
                <a:lnTo>
                  <a:pt x="6483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3" y="2286864"/>
                </a:lnTo>
                <a:lnTo>
                  <a:pt x="24781" y="2330214"/>
                </a:lnTo>
                <a:lnTo>
                  <a:pt x="53163" y="2366946"/>
                </a:lnTo>
                <a:lnTo>
                  <a:pt x="89899" y="2395328"/>
                </a:lnTo>
                <a:lnTo>
                  <a:pt x="133257" y="2413627"/>
                </a:lnTo>
                <a:lnTo>
                  <a:pt x="181508" y="2420112"/>
                </a:lnTo>
                <a:lnTo>
                  <a:pt x="2593721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323494" y="1499362"/>
            <a:ext cx="237109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28980" marR="5080" indent="-71628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1.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Социология,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BIG</a:t>
            </a:r>
            <a:r>
              <a:rPr sz="1400" b="1" spc="-2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6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DATA</a:t>
            </a:r>
            <a:r>
              <a:rPr sz="1400" b="1" spc="-1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24200" y="1376172"/>
            <a:ext cx="2784475" cy="3113532"/>
            <a:chOff x="3124200" y="1376172"/>
            <a:chExt cx="2784475" cy="2429510"/>
          </a:xfrm>
        </p:grpSpPr>
        <p:sp>
          <p:nvSpPr>
            <p:cNvPr id="4" name="object 4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2593720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0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0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0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0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3269741" y="1486281"/>
            <a:ext cx="247015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3175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2.</a:t>
            </a:r>
            <a:r>
              <a:rPr sz="1400" b="1" spc="-7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Проектное</a:t>
            </a:r>
            <a:r>
              <a:rPr sz="1400" b="1" spc="-6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управление</a:t>
            </a:r>
            <a:r>
              <a:rPr sz="1400" b="1" spc="-3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региональная</a:t>
            </a:r>
            <a:r>
              <a:rPr sz="1400" b="1" spc="-9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84047" y="1999488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3326891" y="1997964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3" y="0"/>
                </a:moveTo>
                <a:lnTo>
                  <a:pt x="0" y="0"/>
                </a:lnTo>
                <a:lnTo>
                  <a:pt x="0" y="19812"/>
                </a:lnTo>
                <a:lnTo>
                  <a:pt x="2409443" y="19812"/>
                </a:lnTo>
                <a:lnTo>
                  <a:pt x="2409443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6073140" y="1382266"/>
            <a:ext cx="2775585" cy="3113533"/>
          </a:xfrm>
          <a:custGeom>
            <a:avLst/>
            <a:gdLst/>
            <a:ahLst/>
            <a:cxnLst/>
            <a:rect l="l" t="t" r="r" b="b"/>
            <a:pathLst>
              <a:path w="2775584" h="2420620">
                <a:moveTo>
                  <a:pt x="2593720" y="0"/>
                </a:moveTo>
                <a:lnTo>
                  <a:pt x="181483" y="0"/>
                </a:lnTo>
                <a:lnTo>
                  <a:pt x="133247" y="6484"/>
                </a:lnTo>
                <a:lnTo>
                  <a:pt x="89897" y="24783"/>
                </a:lnTo>
                <a:lnTo>
                  <a:pt x="53165" y="53165"/>
                </a:lnTo>
                <a:lnTo>
                  <a:pt x="24783" y="89897"/>
                </a:lnTo>
                <a:lnTo>
                  <a:pt x="6484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4" y="2286864"/>
                </a:lnTo>
                <a:lnTo>
                  <a:pt x="24783" y="2330214"/>
                </a:lnTo>
                <a:lnTo>
                  <a:pt x="53165" y="2366946"/>
                </a:lnTo>
                <a:lnTo>
                  <a:pt x="89897" y="2395328"/>
                </a:lnTo>
                <a:lnTo>
                  <a:pt x="133247" y="2413627"/>
                </a:lnTo>
                <a:lnTo>
                  <a:pt x="181483" y="2420112"/>
                </a:lnTo>
                <a:lnTo>
                  <a:pt x="2593720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0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6501510" y="1487805"/>
            <a:ext cx="1800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064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3.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Цифровизация</a:t>
            </a:r>
            <a:r>
              <a:rPr sz="1400" b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цифровые</a:t>
            </a:r>
            <a:r>
              <a:rPr sz="1400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решения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269735" y="1999488"/>
            <a:ext cx="2411095" cy="20320"/>
          </a:xfrm>
          <a:custGeom>
            <a:avLst/>
            <a:gdLst/>
            <a:ahLst/>
            <a:cxnLst/>
            <a:rect l="l" t="t" r="r" b="b"/>
            <a:pathLst>
              <a:path w="2411095" h="20319">
                <a:moveTo>
                  <a:pt x="2410967" y="0"/>
                </a:moveTo>
                <a:lnTo>
                  <a:pt x="0" y="0"/>
                </a:lnTo>
                <a:lnTo>
                  <a:pt x="0" y="19812"/>
                </a:lnTo>
                <a:lnTo>
                  <a:pt x="2410967" y="19812"/>
                </a:lnTo>
                <a:lnTo>
                  <a:pt x="241096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9105900" y="1376171"/>
            <a:ext cx="2784475" cy="3113533"/>
            <a:chOff x="9105900" y="1376172"/>
            <a:chExt cx="2784475" cy="2429510"/>
          </a:xfrm>
        </p:grpSpPr>
        <p:sp>
          <p:nvSpPr>
            <p:cNvPr id="8" name="object 8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2593721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1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1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1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9224898" y="1486281"/>
            <a:ext cx="243078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4.</a:t>
            </a:r>
            <a:r>
              <a:rPr sz="14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Коммуникация</a:t>
            </a:r>
            <a:r>
              <a:rPr sz="1400" b="1" spc="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креатив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9329928" y="1988820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22300" y="2113026"/>
            <a:ext cx="2658110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5080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  <a:tab pos="1659255" algn="l"/>
                <a:tab pos="206565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Социологические 	исследования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анализ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r>
              <a:rPr sz="14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тенденций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5080">
              <a:lnSpc>
                <a:spcPct val="100000"/>
              </a:lnSpc>
              <a:spcBef>
                <a:spcPts val="105"/>
              </a:spcBef>
              <a:tabLst>
                <a:tab pos="190500" algn="l"/>
                <a:tab pos="1659255" algn="l"/>
                <a:tab pos="2065655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23495" indent="-177165">
              <a:lnSpc>
                <a:spcPct val="100000"/>
              </a:lnSpc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Экспертно-методологическое 	сопровождение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678171" y="2105660"/>
            <a:ext cx="1096645" cy="66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969010" algn="r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портфелем 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51453" y="2105660"/>
            <a:ext cx="1434465" cy="109068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управление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проектов,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84519" y="2107183"/>
            <a:ext cx="25311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86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89865" algn="l"/>
                <a:tab pos="155003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платформы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62827" y="2320544"/>
            <a:ext cx="23533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864235" algn="l"/>
                <a:tab pos="10972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автоматизация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1836" y="2533904"/>
            <a:ext cx="1149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223375" y="2105660"/>
            <a:ext cx="2531745" cy="110350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84645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Информационное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сопровождение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846455">
              <a:lnSpc>
                <a:spcPct val="100000"/>
              </a:lnSpc>
              <a:spcBef>
                <a:spcPts val="105"/>
              </a:spcBef>
              <a:tabLst>
                <a:tab pos="190500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5080" indent="-177165">
              <a:lnSpc>
                <a:spcPct val="100000"/>
              </a:lnSpc>
              <a:buChar char="•"/>
              <a:tabLst>
                <a:tab pos="190500" algn="l"/>
                <a:tab pos="1320165" algn="l"/>
                <a:tab pos="24187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креативных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медиапроектов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251453" y="3200400"/>
            <a:ext cx="96456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Контроль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30115" y="3200400"/>
            <a:ext cx="154368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7747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результатов,</a:t>
            </a:r>
            <a:r>
              <a:rPr sz="14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KPI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масштабирование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184519" y="2533904"/>
            <a:ext cx="2664206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00" marR="6096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взаимодействия участниками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endParaRPr lang="en-US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Интеграция</a:t>
            </a:r>
            <a:r>
              <a:rPr lang="ru-RU" sz="1400" dirty="0">
                <a:latin typeface="Arial" panose="020B0604020202020204"/>
                <a:cs typeface="Arial" panose="020B0604020202020204"/>
              </a:rPr>
              <a:t> 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осударственны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 систем, AI, GIS и цифрового мониторинга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189865" algn="l"/>
              </a:tabLst>
            </a:pP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90500">
              <a:lnSpc>
                <a:spcPct val="100000"/>
              </a:lnSpc>
            </a:pPr>
            <a:r>
              <a:rPr lang="en-US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19094" y="3626815"/>
            <a:ext cx="1537970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успешных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6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3" y="0"/>
                </a:lnTo>
                <a:lnTo>
                  <a:pt x="51349" y="6600"/>
                </a:lnTo>
                <a:lnTo>
                  <a:pt x="24625" y="24606"/>
                </a:lnTo>
                <a:lnTo>
                  <a:pt x="6607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7" y="850858"/>
                </a:lnTo>
                <a:lnTo>
                  <a:pt x="24625" y="877582"/>
                </a:lnTo>
                <a:lnTo>
                  <a:pt x="51349" y="895600"/>
                </a:lnTo>
                <a:lnTo>
                  <a:pt x="84073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6096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 txBox="1"/>
          <p:nvPr/>
        </p:nvSpPr>
        <p:spPr>
          <a:xfrm>
            <a:off x="768807" y="5065724"/>
            <a:ext cx="3329940" cy="7550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Акиматы</a:t>
            </a:r>
            <a:r>
              <a:rPr sz="14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400" b="1" spc="-6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Сверка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планов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•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Проведение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Методическая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 •</a:t>
            </a:r>
            <a:r>
              <a:rPr sz="12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Фото/видео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фиксация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722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4" y="0"/>
                </a:lnTo>
                <a:lnTo>
                  <a:pt x="51327" y="6600"/>
                </a:lnTo>
                <a:lnTo>
                  <a:pt x="24606" y="24606"/>
                </a:lnTo>
                <a:lnTo>
                  <a:pt x="6600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0" y="850858"/>
                </a:lnTo>
                <a:lnTo>
                  <a:pt x="24606" y="877582"/>
                </a:lnTo>
                <a:lnTo>
                  <a:pt x="51327" y="895600"/>
                </a:lnTo>
                <a:lnTo>
                  <a:pt x="84074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61722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/>
          <p:nvPr/>
        </p:nvSpPr>
        <p:spPr>
          <a:xfrm>
            <a:off x="6331965" y="4993658"/>
            <a:ext cx="3806825" cy="73660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Центральные</a:t>
            </a:r>
            <a:r>
              <a:rPr sz="14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государственные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органы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  <a:spcBef>
                <a:spcPts val="58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Республиканские</a:t>
            </a:r>
            <a:r>
              <a:rPr sz="12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рамках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37" name="object 3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1F3864"/>
                </a:solidFill>
                <a:latin typeface="Segoe UI" panose="020B0502040204020203" pitchFamily="34" charset="0"/>
              </a:rPr>
              <a:t>Советник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Проектного офиса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департамента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kern="12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kern="1200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kern="1200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kern="1200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kern="1200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kern="1200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kern="120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 kern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– ГИД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sp>
        <p:nvSpPr>
          <p:cNvPr id="463" name="TextBox 46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kern="1200">
                <a:solidFill>
                  <a:srgbClr val="808080"/>
                </a:solidFill>
                <a:latin typeface="Arial" panose="020B0604020202020204"/>
              </a:rPr>
              <a:t>14</a:t>
            </a:r>
            <a:endParaRPr sz="900" kern="12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 txBox="1"/>
          <p:nvPr/>
        </p:nvSpPr>
        <p:spPr>
          <a:xfrm>
            <a:off x="2514600" y="465003"/>
            <a:ext cx="8078598" cy="3366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b="1" spc="10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НАПРАВЛЕНИЯ</a:t>
            </a:r>
            <a:r>
              <a:rPr sz="1950" b="1" spc="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100" b="1" spc="1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РЕАЛИЗАЦИИ</a:t>
            </a:r>
            <a:r>
              <a:rPr sz="1950" b="1" spc="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«ТАЗА</a:t>
            </a:r>
            <a:r>
              <a:rPr sz="1950" b="1" spc="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spc="7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ҚАЗАҚСТАН»</a:t>
            </a:r>
            <a:endParaRPr sz="1950" dirty="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4300" y="18257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661791" y="0"/>
                </a:moveTo>
                <a:lnTo>
                  <a:pt x="72059" y="0"/>
                </a:lnTo>
                <a:lnTo>
                  <a:pt x="44009" y="5661"/>
                </a:lnTo>
                <a:lnTo>
                  <a:pt x="21104" y="21097"/>
                </a:lnTo>
                <a:lnTo>
                  <a:pt x="5662" y="43987"/>
                </a:lnTo>
                <a:lnTo>
                  <a:pt x="0" y="72009"/>
                </a:lnTo>
                <a:lnTo>
                  <a:pt x="0" y="2588895"/>
                </a:lnTo>
                <a:lnTo>
                  <a:pt x="5662" y="2616916"/>
                </a:lnTo>
                <a:lnTo>
                  <a:pt x="21104" y="2639806"/>
                </a:lnTo>
                <a:lnTo>
                  <a:pt x="44009" y="2655242"/>
                </a:lnTo>
                <a:lnTo>
                  <a:pt x="72059" y="2660904"/>
                </a:lnTo>
                <a:lnTo>
                  <a:pt x="3661791" y="2660904"/>
                </a:lnTo>
                <a:lnTo>
                  <a:pt x="3689812" y="2655242"/>
                </a:lnTo>
                <a:lnTo>
                  <a:pt x="3712702" y="2639806"/>
                </a:lnTo>
                <a:lnTo>
                  <a:pt x="3728138" y="2616916"/>
                </a:lnTo>
                <a:lnTo>
                  <a:pt x="3733800" y="2588895"/>
                </a:lnTo>
                <a:lnTo>
                  <a:pt x="3733800" y="72009"/>
                </a:lnTo>
                <a:lnTo>
                  <a:pt x="3728138" y="43987"/>
                </a:lnTo>
                <a:lnTo>
                  <a:pt x="3712702" y="21097"/>
                </a:lnTo>
                <a:lnTo>
                  <a:pt x="3689812" y="5661"/>
                </a:lnTo>
                <a:lnTo>
                  <a:pt x="3661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325611" y="19781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534283" y="0"/>
                </a:moveTo>
                <a:lnTo>
                  <a:pt x="199517" y="0"/>
                </a:lnTo>
                <a:lnTo>
                  <a:pt x="153795" y="5273"/>
                </a:lnTo>
                <a:lnTo>
                  <a:pt x="111809" y="20293"/>
                </a:lnTo>
                <a:lnTo>
                  <a:pt x="74763" y="43857"/>
                </a:lnTo>
                <a:lnTo>
                  <a:pt x="43857" y="74763"/>
                </a:lnTo>
                <a:lnTo>
                  <a:pt x="20293" y="111809"/>
                </a:lnTo>
                <a:lnTo>
                  <a:pt x="5273" y="153795"/>
                </a:lnTo>
                <a:lnTo>
                  <a:pt x="0" y="199517"/>
                </a:lnTo>
                <a:lnTo>
                  <a:pt x="0" y="2461387"/>
                </a:lnTo>
                <a:lnTo>
                  <a:pt x="5273" y="2507108"/>
                </a:lnTo>
                <a:lnTo>
                  <a:pt x="20293" y="2549094"/>
                </a:lnTo>
                <a:lnTo>
                  <a:pt x="43857" y="2586140"/>
                </a:lnTo>
                <a:lnTo>
                  <a:pt x="74763" y="2617046"/>
                </a:lnTo>
                <a:lnTo>
                  <a:pt x="111809" y="2640610"/>
                </a:lnTo>
                <a:lnTo>
                  <a:pt x="153795" y="2655630"/>
                </a:lnTo>
                <a:lnTo>
                  <a:pt x="199517" y="2660904"/>
                </a:lnTo>
                <a:lnTo>
                  <a:pt x="3534283" y="2660904"/>
                </a:lnTo>
                <a:lnTo>
                  <a:pt x="3580004" y="2655630"/>
                </a:lnTo>
                <a:lnTo>
                  <a:pt x="3621990" y="2640610"/>
                </a:lnTo>
                <a:lnTo>
                  <a:pt x="3659036" y="2617046"/>
                </a:lnTo>
                <a:lnTo>
                  <a:pt x="3689942" y="2586140"/>
                </a:lnTo>
                <a:lnTo>
                  <a:pt x="3713506" y="2549094"/>
                </a:lnTo>
                <a:lnTo>
                  <a:pt x="3728526" y="2507108"/>
                </a:lnTo>
                <a:lnTo>
                  <a:pt x="3733800" y="2461387"/>
                </a:lnTo>
                <a:lnTo>
                  <a:pt x="3733800" y="199517"/>
                </a:lnTo>
                <a:lnTo>
                  <a:pt x="3728526" y="153795"/>
                </a:lnTo>
                <a:lnTo>
                  <a:pt x="3713506" y="111809"/>
                </a:lnTo>
                <a:lnTo>
                  <a:pt x="3689942" y="74763"/>
                </a:lnTo>
                <a:lnTo>
                  <a:pt x="3659036" y="43857"/>
                </a:lnTo>
                <a:lnTo>
                  <a:pt x="3621990" y="20293"/>
                </a:lnTo>
                <a:lnTo>
                  <a:pt x="3580004" y="5273"/>
                </a:lnTo>
                <a:lnTo>
                  <a:pt x="3534283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589532" y="946403"/>
            <a:ext cx="8574405" cy="5911850"/>
            <a:chOff x="1589532" y="946403"/>
            <a:chExt cx="8574405" cy="5911850"/>
          </a:xfrm>
        </p:grpSpPr>
        <p:sp>
          <p:nvSpPr>
            <p:cNvPr id="5" name="object 5"/>
            <p:cNvSpPr/>
            <p:nvPr/>
          </p:nvSpPr>
          <p:spPr>
            <a:xfrm>
              <a:off x="3973067" y="946403"/>
              <a:ext cx="3733800" cy="2687320"/>
            </a:xfrm>
            <a:custGeom>
              <a:avLst/>
              <a:gdLst/>
              <a:ahLst/>
              <a:cxnLst/>
              <a:rect l="l" t="t" r="r" b="b"/>
              <a:pathLst>
                <a:path w="3733800" h="2687320">
                  <a:moveTo>
                    <a:pt x="3661029" y="0"/>
                  </a:moveTo>
                  <a:lnTo>
                    <a:pt x="72771" y="0"/>
                  </a:lnTo>
                  <a:lnTo>
                    <a:pt x="44416" y="5709"/>
                  </a:lnTo>
                  <a:lnTo>
                    <a:pt x="21288" y="21288"/>
                  </a:lnTo>
                  <a:lnTo>
                    <a:pt x="5709" y="44416"/>
                  </a:lnTo>
                  <a:lnTo>
                    <a:pt x="0" y="72771"/>
                  </a:lnTo>
                  <a:lnTo>
                    <a:pt x="0" y="2614041"/>
                  </a:lnTo>
                  <a:lnTo>
                    <a:pt x="5709" y="2642395"/>
                  </a:lnTo>
                  <a:lnTo>
                    <a:pt x="21288" y="2665523"/>
                  </a:lnTo>
                  <a:lnTo>
                    <a:pt x="44416" y="2681102"/>
                  </a:lnTo>
                  <a:lnTo>
                    <a:pt x="72771" y="2686812"/>
                  </a:lnTo>
                  <a:lnTo>
                    <a:pt x="3661029" y="2686812"/>
                  </a:lnTo>
                  <a:lnTo>
                    <a:pt x="3689383" y="2681102"/>
                  </a:lnTo>
                  <a:lnTo>
                    <a:pt x="3712511" y="2665523"/>
                  </a:lnTo>
                  <a:lnTo>
                    <a:pt x="3728090" y="2642395"/>
                  </a:lnTo>
                  <a:lnTo>
                    <a:pt x="3733800" y="2614041"/>
                  </a:lnTo>
                  <a:lnTo>
                    <a:pt x="3733800" y="72771"/>
                  </a:lnTo>
                  <a:lnTo>
                    <a:pt x="3728090" y="44416"/>
                  </a:lnTo>
                  <a:lnTo>
                    <a:pt x="3712511" y="21288"/>
                  </a:lnTo>
                  <a:lnTo>
                    <a:pt x="3689383" y="5709"/>
                  </a:lnTo>
                  <a:lnTo>
                    <a:pt x="3661029" y="0"/>
                  </a:lnTo>
                  <a:close/>
                </a:path>
              </a:pathLst>
            </a:custGeom>
            <a:solidFill>
              <a:srgbClr val="FCF8E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051304" y="3064763"/>
              <a:ext cx="7630668" cy="379323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89532" y="6219469"/>
              <a:ext cx="3249168" cy="6385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12864" y="6219469"/>
              <a:ext cx="3250692" cy="638529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4456176" y="1162811"/>
            <a:ext cx="2764790" cy="38100"/>
          </a:xfrm>
          <a:custGeom>
            <a:avLst/>
            <a:gdLst/>
            <a:ahLst/>
            <a:cxnLst/>
            <a:rect l="l" t="t" r="r" b="b"/>
            <a:pathLst>
              <a:path w="2764790" h="38100">
                <a:moveTo>
                  <a:pt x="2764535" y="0"/>
                </a:moveTo>
                <a:lnTo>
                  <a:pt x="0" y="0"/>
                </a:lnTo>
                <a:lnTo>
                  <a:pt x="0" y="38100"/>
                </a:lnTo>
                <a:lnTo>
                  <a:pt x="2764535" y="38100"/>
                </a:lnTo>
                <a:lnTo>
                  <a:pt x="2764535" y="0"/>
                </a:lnTo>
                <a:close/>
              </a:path>
            </a:pathLst>
          </a:custGeom>
          <a:solidFill>
            <a:srgbClr val="C76C0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4122801" y="1208352"/>
            <a:ext cx="3415665" cy="228854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803910">
              <a:lnSpc>
                <a:spcPct val="100000"/>
              </a:lnSpc>
              <a:spcBef>
                <a:spcPts val="505"/>
              </a:spcBef>
            </a:pPr>
            <a:r>
              <a:rPr sz="1600" b="1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ЖАҢА</a:t>
            </a:r>
            <a:r>
              <a:rPr sz="1600" b="1" spc="-2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МӘДЕНИЕТ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370"/>
              </a:spcBef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Исследование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установок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барьеров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Коммуникационные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кампании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изменений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6924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	повторного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7686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Upcycling-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9363" y="2425064"/>
            <a:ext cx="2952115" cy="191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139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ТА3А</a:t>
            </a:r>
            <a:r>
              <a:rPr sz="1600" b="1" spc="-8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35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ЕЛ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1155"/>
              </a:spcBef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40322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метрики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 	индексі»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AI /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GIS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/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Интеллектуальный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785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17970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 	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81091" y="5812332"/>
            <a:ext cx="1528445" cy="611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ts val="2305"/>
              </a:lnSpc>
              <a:spcBef>
                <a:spcPts val="100"/>
              </a:spcBef>
            </a:pPr>
            <a:r>
              <a:rPr sz="2000" b="1" spc="-2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ТАЗА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ts val="2305"/>
              </a:lnSpc>
            </a:pPr>
            <a:r>
              <a:rPr sz="2000" b="1" spc="-3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2246376"/>
            <a:ext cx="12192000" cy="4612005"/>
            <a:chOff x="0" y="2246376"/>
            <a:chExt cx="12192000" cy="4612005"/>
          </a:xfrm>
        </p:grpSpPr>
        <p:sp>
          <p:nvSpPr>
            <p:cNvPr id="14" name="object 14"/>
            <p:cNvSpPr/>
            <p:nvPr/>
          </p:nvSpPr>
          <p:spPr>
            <a:xfrm>
              <a:off x="9171431" y="2246376"/>
              <a:ext cx="2360930" cy="38100"/>
            </a:xfrm>
            <a:custGeom>
              <a:avLst/>
              <a:gdLst/>
              <a:ahLst/>
              <a:cxnLst/>
              <a:rect l="l" t="t" r="r" b="b"/>
              <a:pathLst>
                <a:path w="2360929" h="38100">
                  <a:moveTo>
                    <a:pt x="236067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360676" y="38100"/>
                  </a:lnTo>
                  <a:lnTo>
                    <a:pt x="2360676" y="0"/>
                  </a:lnTo>
                  <a:close/>
                </a:path>
              </a:pathLst>
            </a:custGeom>
            <a:solidFill>
              <a:srgbClr val="0560A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12063" y="2249424"/>
              <a:ext cx="2764790" cy="38100"/>
            </a:xfrm>
            <a:custGeom>
              <a:avLst/>
              <a:gdLst/>
              <a:ahLst/>
              <a:cxnLst/>
              <a:rect l="l" t="t" r="r" b="b"/>
              <a:pathLst>
                <a:path w="2764790" h="38100">
                  <a:moveTo>
                    <a:pt x="276453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764536" y="38100"/>
                  </a:lnTo>
                  <a:lnTo>
                    <a:pt x="2764536" y="0"/>
                  </a:lnTo>
                  <a:close/>
                </a:path>
              </a:pathLst>
            </a:custGeom>
            <a:solidFill>
              <a:srgbClr val="0D885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72028" y="5300472"/>
              <a:ext cx="1004315" cy="9189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94376" y="4069080"/>
              <a:ext cx="1088136" cy="83210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10271" y="5166360"/>
              <a:ext cx="725424" cy="844295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8526271" y="2419349"/>
            <a:ext cx="3295650" cy="1702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4587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9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САНА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3515" marR="189230" indent="-171450">
              <a:lnSpc>
                <a:spcPct val="100000"/>
              </a:lnSpc>
              <a:spcBef>
                <a:spcPts val="1205"/>
              </a:spcBef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	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4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r>
              <a:rPr sz="14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Mektep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talqy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oi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Молодежный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лагерь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«Құндылық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елшісі»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914083" y="415141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255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–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СТАНДАРТ</a:t>
            </a:r>
            <a:r>
              <a:rPr sz="21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ЧИСТОТЫ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2484" y="1254252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2" y="0"/>
                </a:moveTo>
                <a:lnTo>
                  <a:pt x="0" y="0"/>
                </a:lnTo>
                <a:lnTo>
                  <a:pt x="0" y="5148072"/>
                </a:lnTo>
                <a:lnTo>
                  <a:pt x="35052" y="5148072"/>
                </a:lnTo>
                <a:lnTo>
                  <a:pt x="35052" y="0"/>
                </a:lnTo>
                <a:close/>
              </a:path>
            </a:pathLst>
          </a:custGeom>
          <a:solidFill>
            <a:srgbClr val="2F456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160020" y="1351788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5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5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4211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769416" y="1311656"/>
            <a:ext cx="181165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требования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79089" y="1329055"/>
            <a:ext cx="260413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44030" y="1311656"/>
            <a:ext cx="20796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572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помощью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цифровых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инструментов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720453" y="1329689"/>
            <a:ext cx="2308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6985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шкале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0–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100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601" y="2310764"/>
            <a:ext cx="1874520" cy="1093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5580" indent="-182880">
              <a:lnSpc>
                <a:spcPct val="100000"/>
              </a:lnSpc>
              <a:spcBef>
                <a:spcPts val="105"/>
              </a:spcBef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215" indent="-183515">
              <a:lnSpc>
                <a:spcPct val="100000"/>
              </a:lnSpc>
              <a:buFont typeface="Segoe UI Symbol" panose="020B0502040204020203"/>
              <a:buChar char="✓"/>
              <a:tabLst>
                <a:tab pos="1962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Инфраструктура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Культура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74073" y="3759708"/>
            <a:ext cx="1537606" cy="201013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2758439" y="1269491"/>
            <a:ext cx="3075940" cy="5306695"/>
            <a:chOff x="2758439" y="1269491"/>
            <a:chExt cx="3075940" cy="530669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10255" y="2042159"/>
              <a:ext cx="3023616" cy="45339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758440" y="1269491"/>
              <a:ext cx="546100" cy="5148580"/>
            </a:xfrm>
            <a:custGeom>
              <a:avLst/>
              <a:gdLst/>
              <a:ahLst/>
              <a:cxnLst/>
              <a:rect l="l" t="t" r="r" b="b"/>
              <a:pathLst>
                <a:path w="546100" h="5148580">
                  <a:moveTo>
                    <a:pt x="35039" y="0"/>
                  </a:moveTo>
                  <a:lnTo>
                    <a:pt x="0" y="0"/>
                  </a:lnTo>
                  <a:lnTo>
                    <a:pt x="0" y="5148072"/>
                  </a:lnTo>
                  <a:lnTo>
                    <a:pt x="35039" y="5148072"/>
                  </a:lnTo>
                  <a:lnTo>
                    <a:pt x="35039" y="0"/>
                  </a:lnTo>
                  <a:close/>
                </a:path>
                <a:path w="546100" h="5148580">
                  <a:moveTo>
                    <a:pt x="545592" y="135636"/>
                  </a:moveTo>
                  <a:lnTo>
                    <a:pt x="541401" y="114871"/>
                  </a:lnTo>
                  <a:lnTo>
                    <a:pt x="529971" y="97917"/>
                  </a:lnTo>
                  <a:lnTo>
                    <a:pt x="513016" y="86487"/>
                  </a:lnTo>
                  <a:lnTo>
                    <a:pt x="492252" y="82296"/>
                  </a:lnTo>
                  <a:lnTo>
                    <a:pt x="175260" y="82296"/>
                  </a:lnTo>
                  <a:lnTo>
                    <a:pt x="154495" y="86499"/>
                  </a:lnTo>
                  <a:lnTo>
                    <a:pt x="137541" y="97917"/>
                  </a:lnTo>
                  <a:lnTo>
                    <a:pt x="126111" y="114871"/>
                  </a:lnTo>
                  <a:lnTo>
                    <a:pt x="121920" y="135636"/>
                  </a:lnTo>
                  <a:lnTo>
                    <a:pt x="121920" y="362712"/>
                  </a:lnTo>
                  <a:lnTo>
                    <a:pt x="126111" y="383476"/>
                  </a:lnTo>
                  <a:lnTo>
                    <a:pt x="137541" y="400431"/>
                  </a:lnTo>
                  <a:lnTo>
                    <a:pt x="154495" y="411873"/>
                  </a:lnTo>
                  <a:lnTo>
                    <a:pt x="175260" y="416052"/>
                  </a:lnTo>
                  <a:lnTo>
                    <a:pt x="492252" y="416052"/>
                  </a:lnTo>
                  <a:lnTo>
                    <a:pt x="513016" y="411873"/>
                  </a:lnTo>
                  <a:lnTo>
                    <a:pt x="529971" y="400431"/>
                  </a:lnTo>
                  <a:lnTo>
                    <a:pt x="541401" y="383476"/>
                  </a:lnTo>
                  <a:lnTo>
                    <a:pt x="545592" y="362712"/>
                  </a:lnTo>
                  <a:lnTo>
                    <a:pt x="545592" y="135636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296367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19800" y="1269491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1" y="0"/>
                </a:moveTo>
                <a:lnTo>
                  <a:pt x="0" y="0"/>
                </a:lnTo>
                <a:lnTo>
                  <a:pt x="0" y="5148072"/>
                </a:lnTo>
                <a:lnTo>
                  <a:pt x="35051" y="5148072"/>
                </a:lnTo>
                <a:lnTo>
                  <a:pt x="35051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6135623" y="1367027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39" y="0"/>
                </a:lnTo>
                <a:lnTo>
                  <a:pt x="32575" y="4191"/>
                </a:lnTo>
                <a:lnTo>
                  <a:pt x="15620" y="15621"/>
                </a:lnTo>
                <a:lnTo>
                  <a:pt x="4190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39" y="333756"/>
                </a:lnTo>
                <a:lnTo>
                  <a:pt x="376427" y="333756"/>
                </a:lnTo>
                <a:lnTo>
                  <a:pt x="397192" y="329564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6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6219571" y="138874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59067" y="2619755"/>
            <a:ext cx="2715767" cy="4073652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0" y="2560318"/>
            <a:ext cx="12192000" cy="4297680"/>
            <a:chOff x="0" y="2560318"/>
            <a:chExt cx="12192000" cy="429768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98864" y="2560318"/>
              <a:ext cx="2796539" cy="419709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9078468" y="1271016"/>
            <a:ext cx="36830" cy="5148580"/>
          </a:xfrm>
          <a:custGeom>
            <a:avLst/>
            <a:gdLst/>
            <a:ahLst/>
            <a:cxnLst/>
            <a:rect l="l" t="t" r="r" b="b"/>
            <a:pathLst>
              <a:path w="36829" h="5148580">
                <a:moveTo>
                  <a:pt x="36575" y="0"/>
                </a:moveTo>
                <a:lnTo>
                  <a:pt x="0" y="0"/>
                </a:lnTo>
                <a:lnTo>
                  <a:pt x="0" y="5148072"/>
                </a:lnTo>
                <a:lnTo>
                  <a:pt x="36575" y="5148072"/>
                </a:lnTo>
                <a:lnTo>
                  <a:pt x="36575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9185147" y="1351788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40" y="0"/>
                </a:lnTo>
                <a:lnTo>
                  <a:pt x="32575" y="4191"/>
                </a:lnTo>
                <a:lnTo>
                  <a:pt x="15621" y="15621"/>
                </a:lnTo>
                <a:lnTo>
                  <a:pt x="4191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40" y="333756"/>
                </a:lnTo>
                <a:lnTo>
                  <a:pt x="376427" y="333756"/>
                </a:lnTo>
                <a:lnTo>
                  <a:pt x="397192" y="329565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5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9269348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04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 descr="$PPTXTitle"/>
          <p:cNvSpPr txBox="1">
            <a:spLocks noGrp="1"/>
          </p:cNvSpPr>
          <p:nvPr>
            <p:ph type="title"/>
          </p:nvPr>
        </p:nvSpPr>
        <p:spPr>
          <a:xfrm>
            <a:off x="596900" y="407923"/>
            <a:ext cx="3616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lang="ru-RU"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5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26008" y="1080516"/>
            <a:ext cx="4053840" cy="629920"/>
            <a:chOff x="826008" y="1080516"/>
            <a:chExt cx="4053840" cy="629920"/>
          </a:xfrm>
        </p:grpSpPr>
        <p:sp>
          <p:nvSpPr>
            <p:cNvPr id="5" name="object 5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3998214" y="0"/>
                  </a:moveTo>
                  <a:lnTo>
                    <a:pt x="46520" y="0"/>
                  </a:lnTo>
                  <a:lnTo>
                    <a:pt x="28412" y="3655"/>
                  </a:lnTo>
                  <a:lnTo>
                    <a:pt x="13625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5" y="606647"/>
                  </a:lnTo>
                  <a:lnTo>
                    <a:pt x="28412" y="616612"/>
                  </a:lnTo>
                  <a:lnTo>
                    <a:pt x="46520" y="620267"/>
                  </a:lnTo>
                  <a:lnTo>
                    <a:pt x="3998214" y="620267"/>
                  </a:lnTo>
                  <a:lnTo>
                    <a:pt x="4016299" y="616612"/>
                  </a:lnTo>
                  <a:lnTo>
                    <a:pt x="4031075" y="606647"/>
                  </a:lnTo>
                  <a:lnTo>
                    <a:pt x="4041040" y="591871"/>
                  </a:lnTo>
                  <a:lnTo>
                    <a:pt x="4044696" y="573786"/>
                  </a:lnTo>
                  <a:lnTo>
                    <a:pt x="4044696" y="46482"/>
                  </a:lnTo>
                  <a:lnTo>
                    <a:pt x="4041040" y="28396"/>
                  </a:lnTo>
                  <a:lnTo>
                    <a:pt x="4031075" y="13620"/>
                  </a:lnTo>
                  <a:lnTo>
                    <a:pt x="4016299" y="3655"/>
                  </a:lnTo>
                  <a:lnTo>
                    <a:pt x="3998214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5" y="13620"/>
                  </a:lnTo>
                  <a:lnTo>
                    <a:pt x="28412" y="3655"/>
                  </a:lnTo>
                  <a:lnTo>
                    <a:pt x="46520" y="0"/>
                  </a:lnTo>
                  <a:lnTo>
                    <a:pt x="3998214" y="0"/>
                  </a:lnTo>
                  <a:lnTo>
                    <a:pt x="4016299" y="3655"/>
                  </a:lnTo>
                  <a:lnTo>
                    <a:pt x="4031075" y="13620"/>
                  </a:lnTo>
                  <a:lnTo>
                    <a:pt x="4041040" y="28396"/>
                  </a:lnTo>
                  <a:lnTo>
                    <a:pt x="4044696" y="46482"/>
                  </a:lnTo>
                  <a:lnTo>
                    <a:pt x="4044696" y="573786"/>
                  </a:lnTo>
                  <a:lnTo>
                    <a:pt x="4041040" y="591871"/>
                  </a:lnTo>
                  <a:lnTo>
                    <a:pt x="4031075" y="606647"/>
                  </a:lnTo>
                  <a:lnTo>
                    <a:pt x="4016299" y="616612"/>
                  </a:lnTo>
                  <a:lnTo>
                    <a:pt x="3998214" y="620267"/>
                  </a:lnTo>
                  <a:lnTo>
                    <a:pt x="46520" y="620267"/>
                  </a:lnTo>
                  <a:lnTo>
                    <a:pt x="28412" y="616612"/>
                  </a:lnTo>
                  <a:lnTo>
                    <a:pt x="13625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3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830580" y="1085088"/>
            <a:ext cx="404495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7475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Счетчик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48044" y="1080516"/>
            <a:ext cx="4055745" cy="629920"/>
            <a:chOff x="6448044" y="1080516"/>
            <a:chExt cx="4055745" cy="629920"/>
          </a:xfrm>
        </p:grpSpPr>
        <p:sp>
          <p:nvSpPr>
            <p:cNvPr id="13" name="object 13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3999738" y="0"/>
                  </a:moveTo>
                  <a:lnTo>
                    <a:pt x="46482" y="0"/>
                  </a:lnTo>
                  <a:lnTo>
                    <a:pt x="28396" y="3655"/>
                  </a:lnTo>
                  <a:lnTo>
                    <a:pt x="13620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0" y="606647"/>
                  </a:lnTo>
                  <a:lnTo>
                    <a:pt x="28396" y="616612"/>
                  </a:lnTo>
                  <a:lnTo>
                    <a:pt x="46482" y="620267"/>
                  </a:lnTo>
                  <a:lnTo>
                    <a:pt x="3999738" y="620267"/>
                  </a:lnTo>
                  <a:lnTo>
                    <a:pt x="4017823" y="616612"/>
                  </a:lnTo>
                  <a:lnTo>
                    <a:pt x="4032599" y="606647"/>
                  </a:lnTo>
                  <a:lnTo>
                    <a:pt x="4042564" y="591871"/>
                  </a:lnTo>
                  <a:lnTo>
                    <a:pt x="4046219" y="573786"/>
                  </a:lnTo>
                  <a:lnTo>
                    <a:pt x="4046219" y="46482"/>
                  </a:lnTo>
                  <a:lnTo>
                    <a:pt x="4042564" y="28396"/>
                  </a:lnTo>
                  <a:lnTo>
                    <a:pt x="4032599" y="13620"/>
                  </a:lnTo>
                  <a:lnTo>
                    <a:pt x="4017823" y="3655"/>
                  </a:lnTo>
                  <a:lnTo>
                    <a:pt x="399973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0" y="13620"/>
                  </a:lnTo>
                  <a:lnTo>
                    <a:pt x="28396" y="3655"/>
                  </a:lnTo>
                  <a:lnTo>
                    <a:pt x="46482" y="0"/>
                  </a:lnTo>
                  <a:lnTo>
                    <a:pt x="3999738" y="0"/>
                  </a:lnTo>
                  <a:lnTo>
                    <a:pt x="4017823" y="3655"/>
                  </a:lnTo>
                  <a:lnTo>
                    <a:pt x="4032599" y="13620"/>
                  </a:lnTo>
                  <a:lnTo>
                    <a:pt x="4042564" y="28396"/>
                  </a:lnTo>
                  <a:lnTo>
                    <a:pt x="4046219" y="46482"/>
                  </a:lnTo>
                  <a:lnTo>
                    <a:pt x="4046219" y="573786"/>
                  </a:lnTo>
                  <a:lnTo>
                    <a:pt x="4042564" y="591871"/>
                  </a:lnTo>
                  <a:lnTo>
                    <a:pt x="4032599" y="606647"/>
                  </a:lnTo>
                  <a:lnTo>
                    <a:pt x="4017823" y="616612"/>
                  </a:lnTo>
                  <a:lnTo>
                    <a:pt x="3999738" y="620267"/>
                  </a:lnTo>
                  <a:lnTo>
                    <a:pt x="46482" y="620267"/>
                  </a:lnTo>
                  <a:lnTo>
                    <a:pt x="28396" y="616612"/>
                  </a:lnTo>
                  <a:lnTo>
                    <a:pt x="13620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6452615" y="1085088"/>
            <a:ext cx="404622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белгісі»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856894" y="1831339"/>
            <a:ext cx="39903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51355" algn="l"/>
                <a:tab pos="2696210" algn="l"/>
                <a:tab pos="3013710" algn="l"/>
                <a:tab pos="386397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Информационный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стенд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парках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6894" y="2075179"/>
            <a:ext cx="27209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710565" algn="l"/>
                <a:tab pos="1002665" algn="l"/>
                <a:tab pos="1141730" algn="l"/>
                <a:tab pos="1710055" algn="l"/>
                <a:tab pos="19450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скверах,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показывающий дней,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течение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сохраняется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36085" y="2075179"/>
            <a:ext cx="111125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9685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количество территория Формирует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56894" y="2806954"/>
            <a:ext cx="398970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ощущение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общего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результата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личной ответственности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25540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6441185" y="1878279"/>
            <a:ext cx="5077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«ТАЗА»</a:t>
            </a:r>
            <a:r>
              <a:rPr sz="1600" b="1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присваивается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бизнесу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1185" y="2122677"/>
            <a:ext cx="1504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организациям, установленным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35188" y="2122677"/>
            <a:ext cx="3282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51790">
              <a:lnSpc>
                <a:spcPct val="100000"/>
              </a:lnSpc>
              <a:spcBef>
                <a:spcPts val="95"/>
              </a:spcBef>
              <a:tabLst>
                <a:tab pos="1431290" algn="l"/>
                <a:tab pos="19069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соответствуют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стандартам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1185" y="2610357"/>
            <a:ext cx="4151629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160145" algn="l"/>
                <a:tab pos="2299970" algn="l"/>
                <a:tab pos="2691765" algn="l"/>
                <a:tab pos="348932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учитывает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состояние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только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1185" y="2854198"/>
            <a:ext cx="4182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8830" algn="l"/>
                <a:tab pos="1897380" algn="l"/>
                <a:tab pos="2530475" algn="l"/>
                <a:tab pos="3339465" algn="l"/>
                <a:tab pos="382270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(кафе,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магазина,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АЗС,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рынка,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ЖК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736326" y="2366517"/>
            <a:ext cx="7835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53340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объекта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бизнес-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3" name="object 2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6675" y="3578352"/>
            <a:ext cx="3616452" cy="241096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6441185" y="3098037"/>
            <a:ext cx="50787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центра,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прилегающей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территории.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2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размещаться</a:t>
            </a:r>
            <a:r>
              <a:rPr sz="1600" spc="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фасаде,</a:t>
            </a:r>
            <a:r>
              <a:rPr sz="1600" spc="4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входе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специальной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информационной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таблички</a:t>
            </a:r>
            <a:r>
              <a:rPr sz="1600" spc="3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становится</a:t>
            </a:r>
            <a:r>
              <a:rPr sz="1600" spc="4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визуальным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подтверждением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54368" y="4344923"/>
            <a:ext cx="2793492" cy="2356104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8504301" y="642711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848088" y="4245864"/>
            <a:ext cx="1795272" cy="2455164"/>
          </a:xfrm>
          <a:prstGeom prst="rect">
            <a:avLst/>
          </a:prstGeom>
        </p:spPr>
      </p:pic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 19" descr="$PPTXTitle"/>
          <p:cNvSpPr txBox="1">
            <a:spLocks noGrp="1"/>
          </p:cNvSpPr>
          <p:nvPr>
            <p:ph type="title"/>
          </p:nvPr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ЖАҢА</a:t>
            </a:r>
            <a:r>
              <a:rPr sz="2100" spc="-75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</a:t>
            </a:r>
            <a:r>
              <a:rPr lang="ru-RU"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903541" y="1136713"/>
            <a:ext cx="5873750" cy="4126229"/>
            <a:chOff x="903541" y="1136713"/>
            <a:chExt cx="5873750" cy="4126229"/>
          </a:xfrm>
        </p:grpSpPr>
        <p:sp>
          <p:nvSpPr>
            <p:cNvPr id="5" name="object 5"/>
            <p:cNvSpPr/>
            <p:nvPr/>
          </p:nvSpPr>
          <p:spPr>
            <a:xfrm>
              <a:off x="6731507" y="1450847"/>
              <a:ext cx="45720" cy="3811904"/>
            </a:xfrm>
            <a:custGeom>
              <a:avLst/>
              <a:gdLst/>
              <a:ahLst/>
              <a:cxnLst/>
              <a:rect l="l" t="t" r="r" b="b"/>
              <a:pathLst>
                <a:path w="45720" h="3811904">
                  <a:moveTo>
                    <a:pt x="45720" y="0"/>
                  </a:moveTo>
                  <a:lnTo>
                    <a:pt x="0" y="0"/>
                  </a:lnTo>
                  <a:lnTo>
                    <a:pt x="0" y="3811524"/>
                  </a:lnTo>
                  <a:lnTo>
                    <a:pt x="45720" y="381152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3998341" y="0"/>
                  </a:moveTo>
                  <a:lnTo>
                    <a:pt x="46405" y="0"/>
                  </a:lnTo>
                  <a:lnTo>
                    <a:pt x="28342" y="3653"/>
                  </a:lnTo>
                  <a:lnTo>
                    <a:pt x="13592" y="13604"/>
                  </a:lnTo>
                  <a:lnTo>
                    <a:pt x="3646" y="28342"/>
                  </a:lnTo>
                  <a:lnTo>
                    <a:pt x="0" y="46354"/>
                  </a:lnTo>
                  <a:lnTo>
                    <a:pt x="0" y="572388"/>
                  </a:lnTo>
                  <a:lnTo>
                    <a:pt x="3646" y="590401"/>
                  </a:lnTo>
                  <a:lnTo>
                    <a:pt x="13592" y="605139"/>
                  </a:lnTo>
                  <a:lnTo>
                    <a:pt x="28342" y="615090"/>
                  </a:lnTo>
                  <a:lnTo>
                    <a:pt x="46405" y="618744"/>
                  </a:lnTo>
                  <a:lnTo>
                    <a:pt x="3998341" y="618744"/>
                  </a:lnTo>
                  <a:lnTo>
                    <a:pt x="4016353" y="615090"/>
                  </a:lnTo>
                  <a:lnTo>
                    <a:pt x="4031091" y="605139"/>
                  </a:lnTo>
                  <a:lnTo>
                    <a:pt x="4041042" y="590401"/>
                  </a:lnTo>
                  <a:lnTo>
                    <a:pt x="4044696" y="572388"/>
                  </a:lnTo>
                  <a:lnTo>
                    <a:pt x="4044696" y="46354"/>
                  </a:lnTo>
                  <a:lnTo>
                    <a:pt x="4041042" y="28342"/>
                  </a:lnTo>
                  <a:lnTo>
                    <a:pt x="4031091" y="13604"/>
                  </a:lnTo>
                  <a:lnTo>
                    <a:pt x="4016353" y="3653"/>
                  </a:lnTo>
                  <a:lnTo>
                    <a:pt x="399834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0" y="46354"/>
                  </a:moveTo>
                  <a:lnTo>
                    <a:pt x="3646" y="28342"/>
                  </a:lnTo>
                  <a:lnTo>
                    <a:pt x="13592" y="13604"/>
                  </a:lnTo>
                  <a:lnTo>
                    <a:pt x="28342" y="3653"/>
                  </a:lnTo>
                  <a:lnTo>
                    <a:pt x="46405" y="0"/>
                  </a:lnTo>
                  <a:lnTo>
                    <a:pt x="3998341" y="0"/>
                  </a:lnTo>
                  <a:lnTo>
                    <a:pt x="4016353" y="3653"/>
                  </a:lnTo>
                  <a:lnTo>
                    <a:pt x="4031091" y="13604"/>
                  </a:lnTo>
                  <a:lnTo>
                    <a:pt x="4041042" y="28342"/>
                  </a:lnTo>
                  <a:lnTo>
                    <a:pt x="4044696" y="46354"/>
                  </a:lnTo>
                  <a:lnTo>
                    <a:pt x="4044696" y="572388"/>
                  </a:lnTo>
                  <a:lnTo>
                    <a:pt x="4041042" y="590401"/>
                  </a:lnTo>
                  <a:lnTo>
                    <a:pt x="4031091" y="605139"/>
                  </a:lnTo>
                  <a:lnTo>
                    <a:pt x="4016353" y="615090"/>
                  </a:lnTo>
                  <a:lnTo>
                    <a:pt x="3998341" y="618744"/>
                  </a:lnTo>
                  <a:lnTo>
                    <a:pt x="46405" y="618744"/>
                  </a:lnTo>
                  <a:lnTo>
                    <a:pt x="28342" y="615090"/>
                  </a:lnTo>
                  <a:lnTo>
                    <a:pt x="13592" y="605139"/>
                  </a:lnTo>
                  <a:lnTo>
                    <a:pt x="3646" y="590401"/>
                  </a:lnTo>
                  <a:lnTo>
                    <a:pt x="0" y="572388"/>
                  </a:lnTo>
                  <a:lnTo>
                    <a:pt x="0" y="46354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1012952" y="1259840"/>
            <a:ext cx="3861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600" b="1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6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194804" y="1095755"/>
            <a:ext cx="4055745" cy="628015"/>
            <a:chOff x="7194804" y="1095755"/>
            <a:chExt cx="4055745" cy="628015"/>
          </a:xfrm>
        </p:grpSpPr>
        <p:sp>
          <p:nvSpPr>
            <p:cNvPr id="9" name="object 9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3999865" y="0"/>
                  </a:moveTo>
                  <a:lnTo>
                    <a:pt x="46354" y="0"/>
                  </a:lnTo>
                  <a:lnTo>
                    <a:pt x="28342" y="3653"/>
                  </a:lnTo>
                  <a:lnTo>
                    <a:pt x="13604" y="13604"/>
                  </a:lnTo>
                  <a:lnTo>
                    <a:pt x="3653" y="28342"/>
                  </a:lnTo>
                  <a:lnTo>
                    <a:pt x="0" y="46355"/>
                  </a:lnTo>
                  <a:lnTo>
                    <a:pt x="0" y="572388"/>
                  </a:lnTo>
                  <a:lnTo>
                    <a:pt x="3653" y="590401"/>
                  </a:lnTo>
                  <a:lnTo>
                    <a:pt x="13604" y="605139"/>
                  </a:lnTo>
                  <a:lnTo>
                    <a:pt x="28342" y="615090"/>
                  </a:lnTo>
                  <a:lnTo>
                    <a:pt x="46354" y="618744"/>
                  </a:lnTo>
                  <a:lnTo>
                    <a:pt x="3999865" y="618744"/>
                  </a:lnTo>
                  <a:lnTo>
                    <a:pt x="4017877" y="615090"/>
                  </a:lnTo>
                  <a:lnTo>
                    <a:pt x="4032615" y="605139"/>
                  </a:lnTo>
                  <a:lnTo>
                    <a:pt x="4042566" y="590401"/>
                  </a:lnTo>
                  <a:lnTo>
                    <a:pt x="4046220" y="572388"/>
                  </a:lnTo>
                  <a:lnTo>
                    <a:pt x="4046220" y="46355"/>
                  </a:lnTo>
                  <a:lnTo>
                    <a:pt x="4042566" y="28342"/>
                  </a:lnTo>
                  <a:lnTo>
                    <a:pt x="4032615" y="13604"/>
                  </a:lnTo>
                  <a:lnTo>
                    <a:pt x="4017877" y="3653"/>
                  </a:lnTo>
                  <a:lnTo>
                    <a:pt x="3999865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0" y="46355"/>
                  </a:moveTo>
                  <a:lnTo>
                    <a:pt x="3653" y="28342"/>
                  </a:lnTo>
                  <a:lnTo>
                    <a:pt x="13604" y="13604"/>
                  </a:lnTo>
                  <a:lnTo>
                    <a:pt x="28342" y="3653"/>
                  </a:lnTo>
                  <a:lnTo>
                    <a:pt x="46354" y="0"/>
                  </a:lnTo>
                  <a:lnTo>
                    <a:pt x="3999865" y="0"/>
                  </a:lnTo>
                  <a:lnTo>
                    <a:pt x="4017877" y="3653"/>
                  </a:lnTo>
                  <a:lnTo>
                    <a:pt x="4032615" y="13604"/>
                  </a:lnTo>
                  <a:lnTo>
                    <a:pt x="4042566" y="28342"/>
                  </a:lnTo>
                  <a:lnTo>
                    <a:pt x="4046220" y="46355"/>
                  </a:lnTo>
                  <a:lnTo>
                    <a:pt x="4046220" y="572388"/>
                  </a:lnTo>
                  <a:lnTo>
                    <a:pt x="4042566" y="590401"/>
                  </a:lnTo>
                  <a:lnTo>
                    <a:pt x="4032615" y="605139"/>
                  </a:lnTo>
                  <a:lnTo>
                    <a:pt x="4017877" y="615090"/>
                  </a:lnTo>
                  <a:lnTo>
                    <a:pt x="3999865" y="618744"/>
                  </a:lnTo>
                  <a:lnTo>
                    <a:pt x="46354" y="618744"/>
                  </a:lnTo>
                  <a:lnTo>
                    <a:pt x="28342" y="615090"/>
                  </a:lnTo>
                  <a:lnTo>
                    <a:pt x="13604" y="605139"/>
                  </a:lnTo>
                  <a:lnTo>
                    <a:pt x="3653" y="590401"/>
                  </a:lnTo>
                  <a:lnTo>
                    <a:pt x="0" y="572388"/>
                  </a:lnTo>
                  <a:lnTo>
                    <a:pt x="0" y="463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7199376" y="1100327"/>
            <a:ext cx="4046220" cy="61912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295910">
              <a:lnSpc>
                <a:spcPct val="100000"/>
              </a:lnSpc>
              <a:spcBef>
                <a:spcPts val="102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Социологические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исследования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052315" y="1658111"/>
            <a:ext cx="2647188" cy="490880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894994" y="2330576"/>
            <a:ext cx="31699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Вовлечение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</a:t>
            </a:r>
            <a:r>
              <a:rPr sz="1600" spc="3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47995" y="2331894"/>
            <a:ext cx="406167" cy="44770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894994" y="2574417"/>
            <a:ext cx="141732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71166" y="2574417"/>
            <a:ext cx="15932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8305" marR="5080" indent="-396240">
              <a:lnSpc>
                <a:spcPct val="100000"/>
              </a:lnSpc>
              <a:spcBef>
                <a:spcPts val="95"/>
              </a:spcBef>
            </a:pP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94994" y="3062097"/>
            <a:ext cx="3171825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платформу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Участники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смогут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выбирать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участвовать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посадке</a:t>
            </a:r>
            <a:r>
              <a:rPr sz="1600" spc="4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деревьев,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уборке,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уходе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территориями.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2" name="object 2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9138" y="3264623"/>
            <a:ext cx="383940" cy="360811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73907" y="3979603"/>
            <a:ext cx="386217" cy="38621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628890" y="2273045"/>
            <a:ext cx="3992245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Изучение</a:t>
            </a:r>
            <a:r>
              <a:rPr sz="1600" spc="2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2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благоустройству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общественному пространству.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6985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Выявление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факторов,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влияющих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поведение.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вовлеченности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динамики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поведенческих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1728195" y="64447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18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/>
          <p:nvPr/>
        </p:nvSpPr>
        <p:spPr>
          <a:xfrm>
            <a:off x="364236" y="1197863"/>
            <a:ext cx="47625" cy="2586355"/>
          </a:xfrm>
          <a:custGeom>
            <a:avLst/>
            <a:gdLst/>
            <a:ahLst/>
            <a:cxnLst/>
            <a:rect l="l" t="t" r="r" b="b"/>
            <a:pathLst>
              <a:path w="47625" h="2586354">
                <a:moveTo>
                  <a:pt x="47243" y="0"/>
                </a:moveTo>
                <a:lnTo>
                  <a:pt x="0" y="0"/>
                </a:lnTo>
                <a:lnTo>
                  <a:pt x="0" y="2586227"/>
                </a:lnTo>
                <a:lnTo>
                  <a:pt x="47243" y="2586227"/>
                </a:lnTo>
                <a:lnTo>
                  <a:pt x="47243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" name="object 5"/>
          <p:cNvGrpSpPr/>
          <p:nvPr/>
        </p:nvGrpSpPr>
        <p:grpSpPr>
          <a:xfrm>
            <a:off x="859536" y="1054608"/>
            <a:ext cx="2982595" cy="797560"/>
            <a:chOff x="859536" y="1054608"/>
            <a:chExt cx="2982595" cy="797560"/>
          </a:xfrm>
        </p:grpSpPr>
        <p:sp>
          <p:nvSpPr>
            <p:cNvPr id="6" name="object 6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8" y="0"/>
                  </a:moveTo>
                  <a:lnTo>
                    <a:pt x="59093" y="0"/>
                  </a:lnTo>
                  <a:lnTo>
                    <a:pt x="36090" y="4637"/>
                  </a:lnTo>
                  <a:lnTo>
                    <a:pt x="17306" y="17287"/>
                  </a:lnTo>
                  <a:lnTo>
                    <a:pt x="4643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43" y="751849"/>
                  </a:lnTo>
                  <a:lnTo>
                    <a:pt x="17306" y="770620"/>
                  </a:lnTo>
                  <a:lnTo>
                    <a:pt x="36090" y="783270"/>
                  </a:lnTo>
                  <a:lnTo>
                    <a:pt x="59093" y="787908"/>
                  </a:lnTo>
                  <a:lnTo>
                    <a:pt x="2914268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43" y="36058"/>
                  </a:lnTo>
                  <a:lnTo>
                    <a:pt x="17306" y="17287"/>
                  </a:lnTo>
                  <a:lnTo>
                    <a:pt x="36090" y="4637"/>
                  </a:lnTo>
                  <a:lnTo>
                    <a:pt x="59093" y="0"/>
                  </a:lnTo>
                  <a:lnTo>
                    <a:pt x="2914268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8" y="787908"/>
                  </a:lnTo>
                  <a:lnTo>
                    <a:pt x="59093" y="787908"/>
                  </a:lnTo>
                  <a:lnTo>
                    <a:pt x="36090" y="783270"/>
                  </a:lnTo>
                  <a:lnTo>
                    <a:pt x="17306" y="770620"/>
                  </a:lnTo>
                  <a:lnTo>
                    <a:pt x="4643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148892" y="1244346"/>
            <a:ext cx="24612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«Қалдықсыз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4841747" y="1054608"/>
            <a:ext cx="2982595" cy="797560"/>
            <a:chOff x="4841747" y="1054608"/>
            <a:chExt cx="2982595" cy="797560"/>
          </a:xfrm>
        </p:grpSpPr>
        <p:sp>
          <p:nvSpPr>
            <p:cNvPr id="3" name="object 3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9" y="0"/>
                  </a:moveTo>
                  <a:lnTo>
                    <a:pt x="59054" y="0"/>
                  </a:lnTo>
                  <a:lnTo>
                    <a:pt x="36058" y="4637"/>
                  </a:lnTo>
                  <a:lnTo>
                    <a:pt x="17287" y="17287"/>
                  </a:lnTo>
                  <a:lnTo>
                    <a:pt x="4637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37" y="751849"/>
                  </a:lnTo>
                  <a:lnTo>
                    <a:pt x="17287" y="770620"/>
                  </a:lnTo>
                  <a:lnTo>
                    <a:pt x="36058" y="783270"/>
                  </a:lnTo>
                  <a:lnTo>
                    <a:pt x="59054" y="787908"/>
                  </a:lnTo>
                  <a:lnTo>
                    <a:pt x="2914269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9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37" y="36058"/>
                  </a:lnTo>
                  <a:lnTo>
                    <a:pt x="17287" y="17287"/>
                  </a:lnTo>
                  <a:lnTo>
                    <a:pt x="36058" y="4637"/>
                  </a:lnTo>
                  <a:lnTo>
                    <a:pt x="59054" y="0"/>
                  </a:lnTo>
                  <a:lnTo>
                    <a:pt x="2914269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9" y="787908"/>
                  </a:lnTo>
                  <a:lnTo>
                    <a:pt x="59054" y="787908"/>
                  </a:lnTo>
                  <a:lnTo>
                    <a:pt x="36058" y="783270"/>
                  </a:lnTo>
                  <a:lnTo>
                    <a:pt x="17287" y="770620"/>
                  </a:lnTo>
                  <a:lnTo>
                    <a:pt x="4637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5423408" y="1133602"/>
            <a:ext cx="19132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1940" marR="5080" indent="-269875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Upcycling-проекты </a:t>
            </a: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b="1" spc="-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7646" y="1994661"/>
            <a:ext cx="2203450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76325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5085">
              <a:lnSpc>
                <a:spcPct val="100000"/>
              </a:lnSpc>
              <a:spcBef>
                <a:spcPts val="535"/>
              </a:spcBef>
              <a:tabLst>
                <a:tab pos="116078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площадок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69463" y="1994661"/>
            <a:ext cx="1480185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1397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использования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55943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0564" y="3038093"/>
            <a:ext cx="3592195" cy="1000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передачи,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ремонта и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вещей,</a:t>
            </a:r>
            <a:r>
              <a:rPr sz="1600" spc="20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сокращающих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образование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отходов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продлевающих</a:t>
            </a:r>
            <a:r>
              <a:rPr sz="1600" spc="1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536947" y="1150619"/>
            <a:ext cx="47625" cy="2633980"/>
          </a:xfrm>
          <a:custGeom>
            <a:avLst/>
            <a:gdLst/>
            <a:ahLst/>
            <a:cxnLst/>
            <a:rect l="l" t="t" r="r" b="b"/>
            <a:pathLst>
              <a:path w="47625" h="2633979">
                <a:moveTo>
                  <a:pt x="47244" y="0"/>
                </a:moveTo>
                <a:lnTo>
                  <a:pt x="0" y="0"/>
                </a:lnTo>
                <a:lnTo>
                  <a:pt x="0" y="2633472"/>
                </a:lnTo>
                <a:lnTo>
                  <a:pt x="47244" y="2633472"/>
                </a:lnTo>
                <a:lnTo>
                  <a:pt x="47244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4833873" y="2043175"/>
            <a:ext cx="2998470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r>
              <a:rPr sz="1600" spc="2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изделий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популяризирующее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4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потребление</a:t>
            </a:r>
            <a:r>
              <a:rPr sz="1600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64652" y="1150619"/>
            <a:ext cx="45720" cy="2633980"/>
          </a:xfrm>
          <a:custGeom>
            <a:avLst/>
            <a:gdLst/>
            <a:ahLst/>
            <a:cxnLst/>
            <a:rect l="l" t="t" r="r" b="b"/>
            <a:pathLst>
              <a:path w="45720" h="2633979">
                <a:moveTo>
                  <a:pt x="45720" y="0"/>
                </a:moveTo>
                <a:lnTo>
                  <a:pt x="0" y="0"/>
                </a:lnTo>
                <a:lnTo>
                  <a:pt x="0" y="2633472"/>
                </a:lnTo>
                <a:lnTo>
                  <a:pt x="45720" y="2633472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0" name="object 20"/>
          <p:cNvGrpSpPr/>
          <p:nvPr/>
        </p:nvGrpSpPr>
        <p:grpSpPr>
          <a:xfrm>
            <a:off x="8514588" y="1068324"/>
            <a:ext cx="2984500" cy="798830"/>
            <a:chOff x="8514588" y="1068324"/>
            <a:chExt cx="2984500" cy="798830"/>
          </a:xfrm>
        </p:grpSpPr>
        <p:sp>
          <p:nvSpPr>
            <p:cNvPr id="21" name="object 21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2915666" y="0"/>
                  </a:moveTo>
                  <a:lnTo>
                    <a:pt x="59182" y="0"/>
                  </a:lnTo>
                  <a:lnTo>
                    <a:pt x="36165" y="4657"/>
                  </a:lnTo>
                  <a:lnTo>
                    <a:pt x="17351" y="17351"/>
                  </a:lnTo>
                  <a:lnTo>
                    <a:pt x="4657" y="36165"/>
                  </a:lnTo>
                  <a:lnTo>
                    <a:pt x="0" y="59181"/>
                  </a:lnTo>
                  <a:lnTo>
                    <a:pt x="0" y="730250"/>
                  </a:lnTo>
                  <a:lnTo>
                    <a:pt x="4657" y="753266"/>
                  </a:lnTo>
                  <a:lnTo>
                    <a:pt x="17351" y="772080"/>
                  </a:lnTo>
                  <a:lnTo>
                    <a:pt x="36165" y="784774"/>
                  </a:lnTo>
                  <a:lnTo>
                    <a:pt x="59182" y="789431"/>
                  </a:lnTo>
                  <a:lnTo>
                    <a:pt x="2915666" y="789431"/>
                  </a:lnTo>
                  <a:lnTo>
                    <a:pt x="2938682" y="784774"/>
                  </a:lnTo>
                  <a:lnTo>
                    <a:pt x="2957496" y="772080"/>
                  </a:lnTo>
                  <a:lnTo>
                    <a:pt x="2970190" y="753266"/>
                  </a:lnTo>
                  <a:lnTo>
                    <a:pt x="2974848" y="730250"/>
                  </a:lnTo>
                  <a:lnTo>
                    <a:pt x="2974848" y="59181"/>
                  </a:lnTo>
                  <a:lnTo>
                    <a:pt x="2970190" y="36165"/>
                  </a:lnTo>
                  <a:lnTo>
                    <a:pt x="2957496" y="17351"/>
                  </a:lnTo>
                  <a:lnTo>
                    <a:pt x="2938682" y="4657"/>
                  </a:lnTo>
                  <a:lnTo>
                    <a:pt x="2915666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0" y="59181"/>
                  </a:moveTo>
                  <a:lnTo>
                    <a:pt x="4657" y="36165"/>
                  </a:lnTo>
                  <a:lnTo>
                    <a:pt x="17351" y="17351"/>
                  </a:lnTo>
                  <a:lnTo>
                    <a:pt x="36165" y="4657"/>
                  </a:lnTo>
                  <a:lnTo>
                    <a:pt x="59182" y="0"/>
                  </a:lnTo>
                  <a:lnTo>
                    <a:pt x="2915666" y="0"/>
                  </a:lnTo>
                  <a:lnTo>
                    <a:pt x="2938682" y="4657"/>
                  </a:lnTo>
                  <a:lnTo>
                    <a:pt x="2957496" y="17351"/>
                  </a:lnTo>
                  <a:lnTo>
                    <a:pt x="2970190" y="36165"/>
                  </a:lnTo>
                  <a:lnTo>
                    <a:pt x="2974848" y="59181"/>
                  </a:lnTo>
                  <a:lnTo>
                    <a:pt x="2974848" y="730250"/>
                  </a:lnTo>
                  <a:lnTo>
                    <a:pt x="2970190" y="753266"/>
                  </a:lnTo>
                  <a:lnTo>
                    <a:pt x="2957496" y="772080"/>
                  </a:lnTo>
                  <a:lnTo>
                    <a:pt x="2938682" y="784774"/>
                  </a:lnTo>
                  <a:lnTo>
                    <a:pt x="2915666" y="789431"/>
                  </a:lnTo>
                  <a:lnTo>
                    <a:pt x="59182" y="789431"/>
                  </a:lnTo>
                  <a:lnTo>
                    <a:pt x="36165" y="784774"/>
                  </a:lnTo>
                  <a:lnTo>
                    <a:pt x="17351" y="772080"/>
                  </a:lnTo>
                  <a:lnTo>
                    <a:pt x="4657" y="753266"/>
                  </a:lnTo>
                  <a:lnTo>
                    <a:pt x="0" y="730250"/>
                  </a:lnTo>
                  <a:lnTo>
                    <a:pt x="0" y="59181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9392539" y="1327785"/>
            <a:ext cx="122999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алаң»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07983" y="2057222"/>
            <a:ext cx="349377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спортивных,</a:t>
            </a:r>
            <a:r>
              <a:rPr sz="16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культурных,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507983" y="2545461"/>
            <a:ext cx="3496945" cy="14884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городских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фестивальных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мероприятиях.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Маскот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Тазабек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примером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правила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напоминает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вовлекает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поддержание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" name="object 16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25780" y="4396740"/>
            <a:ext cx="3857244" cy="208788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8679" y="4174235"/>
            <a:ext cx="3192779" cy="2310384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0" y="4178802"/>
            <a:ext cx="12192000" cy="2679700"/>
            <a:chOff x="0" y="4178802"/>
            <a:chExt cx="12192000" cy="2679700"/>
          </a:xfrm>
        </p:grpSpPr>
        <p:pic>
          <p:nvPicPr>
            <p:cNvPr id="27" name="object 2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57123" y="4178802"/>
              <a:ext cx="2062750" cy="258090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32" name="object 19" descr="$PPTXTitle"/>
          <p:cNvSpPr txBox="1"/>
          <p:nvPr/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ea typeface="+mj-ea"/>
                <a:cs typeface="Arial" panose="020B0604020202020204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210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«ЖАҢА</a:t>
            </a:r>
            <a:r>
              <a:rPr lang="ru-RU" sz="2100" spc="-75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spc="-1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МӘДЕНИЕТ»</a:t>
            </a:r>
            <a:endParaRPr lang="ru-RU"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ТАЗА</a:t>
            </a:r>
            <a:r>
              <a:rPr sz="2100" spc="-13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САНА</a:t>
            </a: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0" dirty="0">
              <a:solidFill>
                <a:srgbClr val="0369A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89787" y="1219200"/>
            <a:ext cx="2139950" cy="64135"/>
          </a:xfrm>
          <a:custGeom>
            <a:avLst/>
            <a:gdLst/>
            <a:ahLst/>
            <a:cxnLst/>
            <a:rect l="l" t="t" r="r" b="b"/>
            <a:pathLst>
              <a:path w="2139950" h="64134">
                <a:moveTo>
                  <a:pt x="2139696" y="0"/>
                </a:moveTo>
                <a:lnTo>
                  <a:pt x="0" y="0"/>
                </a:lnTo>
                <a:lnTo>
                  <a:pt x="0" y="64008"/>
                </a:lnTo>
                <a:lnTo>
                  <a:pt x="2139696" y="64008"/>
                </a:lnTo>
                <a:lnTo>
                  <a:pt x="2139696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3558540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6338315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9368028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20" y="0"/>
                </a:moveTo>
                <a:lnTo>
                  <a:pt x="0" y="0"/>
                </a:lnTo>
                <a:lnTo>
                  <a:pt x="0" y="64008"/>
                </a:lnTo>
                <a:lnTo>
                  <a:pt x="2141220" y="64008"/>
                </a:lnTo>
                <a:lnTo>
                  <a:pt x="2141220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 txBox="1"/>
          <p:nvPr/>
        </p:nvSpPr>
        <p:spPr>
          <a:xfrm>
            <a:off x="1131214" y="1443685"/>
            <a:ext cx="12274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mektep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3514" y="1761820"/>
            <a:ext cx="1233170" cy="7575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бережного окружающей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68829" y="1761820"/>
            <a:ext cx="1096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44217" y="2006345"/>
            <a:ext cx="10648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5687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39617" y="1325593"/>
            <a:ext cx="2926080" cy="119380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1336675" algn="just">
              <a:lnSpc>
                <a:spcPct val="100000"/>
              </a:lnSpc>
              <a:spcBef>
                <a:spcPts val="855"/>
              </a:spcBef>
            </a:pPr>
            <a:r>
              <a:rPr sz="1600" b="1" spc="-2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latin typeface="Arial" panose="020B0604020202020204"/>
                <a:cs typeface="Arial" panose="020B0604020202020204"/>
              </a:rPr>
              <a:t>oi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indent="419100" algn="just">
              <a:lnSpc>
                <a:spcPct val="100000"/>
              </a:lnSpc>
              <a:spcBef>
                <a:spcPts val="755"/>
              </a:spcBef>
              <a:tabLst>
                <a:tab pos="2687320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600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600" spc="2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4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27445" y="1369146"/>
            <a:ext cx="1773555" cy="661670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795020">
              <a:lnSpc>
                <a:spcPct val="100000"/>
              </a:lnSpc>
              <a:spcBef>
                <a:spcPts val="68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talqy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5953" y="1761820"/>
            <a:ext cx="7270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94140" y="1354988"/>
            <a:ext cx="2870200" cy="68262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0320" algn="ctr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Молодежный</a:t>
            </a:r>
            <a:r>
              <a:rPr sz="16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лагерь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  <a:spcBef>
                <a:spcPts val="670"/>
              </a:spcBef>
              <a:tabLst>
                <a:tab pos="18986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Образовательная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3514" y="2494025"/>
            <a:ext cx="25088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1–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11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классов.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27445" y="2006345"/>
            <a:ext cx="90424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 вопросов культуры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96708" y="2006345"/>
            <a:ext cx="153670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marR="5080" indent="-147955" algn="r">
              <a:lnSpc>
                <a:spcPct val="100000"/>
              </a:lnSpc>
              <a:spcBef>
                <a:spcPts val="95"/>
              </a:spcBef>
              <a:tabLst>
                <a:tab pos="385445" algn="l"/>
              </a:tabLst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обсуждения экологической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994140" y="2012695"/>
            <a:ext cx="28727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19810" algn="l"/>
                <a:tab pos="1984375" algn="l"/>
                <a:tab pos="263715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58971" y="2494025"/>
            <a:ext cx="25050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600" spc="2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мышления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навыков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принятия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решений.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27445" y="2737866"/>
            <a:ext cx="25076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</a:t>
            </a:r>
            <a:r>
              <a:rPr sz="16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регионах.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994140" y="2500375"/>
            <a:ext cx="28733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практикам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06187" y="3482334"/>
            <a:ext cx="2113042" cy="3173740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8823" y="3432042"/>
            <a:ext cx="2113042" cy="3173740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61751" y="3482334"/>
            <a:ext cx="2113042" cy="3173740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55831" y="3482334"/>
            <a:ext cx="2114559" cy="3173740"/>
          </a:xfrm>
          <a:prstGeom prst="rect">
            <a:avLst/>
          </a:prstGeom>
        </p:spPr>
      </p:pic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6" name="object 2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97687" y="450857"/>
            <a:ext cx="10138282" cy="501855"/>
          </a:xfrm>
          <a:prstGeom prst="rect">
            <a:avLst/>
          </a:prstGeom>
        </p:spPr>
        <p:txBody>
          <a:bodyPr vert="horz" wrap="square" lIns="0" tIns="176961" rIns="0" bIns="0" rtlCol="0">
            <a:spAutoFit/>
          </a:bodyPr>
          <a:lstStyle/>
          <a:p>
            <a:pPr marL="237744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YOUTUBE-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</a:t>
            </a:r>
            <a:r>
              <a:rPr sz="21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«ҚҰНДЫЛЫҚ</a:t>
            </a:r>
            <a:r>
              <a:rPr sz="2100" spc="-5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ЕЛШІСІ»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22731" y="1310386"/>
            <a:ext cx="96881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Проект,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людей,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ежедневным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трудом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деятельностью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вносят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сохранение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9955" y="2045207"/>
            <a:ext cx="45720" cy="1988820"/>
          </a:xfrm>
          <a:custGeom>
            <a:avLst/>
            <a:gdLst/>
            <a:ahLst/>
            <a:cxnLst/>
            <a:rect l="l" t="t" r="r" b="b"/>
            <a:pathLst>
              <a:path w="45720" h="1988820">
                <a:moveTo>
                  <a:pt x="45720" y="0"/>
                </a:moveTo>
                <a:lnTo>
                  <a:pt x="0" y="0"/>
                </a:lnTo>
                <a:lnTo>
                  <a:pt x="0" y="1988820"/>
                </a:lnTo>
                <a:lnTo>
                  <a:pt x="45720" y="1988820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544068" y="2066544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8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8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616712" y="206844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79976" y="2049779"/>
            <a:ext cx="384175" cy="332740"/>
          </a:xfrm>
          <a:custGeom>
            <a:avLst/>
            <a:gdLst/>
            <a:ahLst/>
            <a:cxnLst/>
            <a:rect l="l" t="t" r="r" b="b"/>
            <a:pathLst>
              <a:path w="384175" h="332739">
                <a:moveTo>
                  <a:pt x="317626" y="0"/>
                </a:moveTo>
                <a:lnTo>
                  <a:pt x="66421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1"/>
                </a:lnTo>
                <a:lnTo>
                  <a:pt x="0" y="265811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1" y="332232"/>
                </a:lnTo>
                <a:lnTo>
                  <a:pt x="317626" y="332232"/>
                </a:lnTo>
                <a:lnTo>
                  <a:pt x="343489" y="327015"/>
                </a:lnTo>
                <a:lnTo>
                  <a:pt x="364601" y="312785"/>
                </a:lnTo>
                <a:lnTo>
                  <a:pt x="378831" y="291673"/>
                </a:lnTo>
                <a:lnTo>
                  <a:pt x="384048" y="265811"/>
                </a:lnTo>
                <a:lnTo>
                  <a:pt x="384048" y="66421"/>
                </a:lnTo>
                <a:lnTo>
                  <a:pt x="378831" y="40558"/>
                </a:lnTo>
                <a:lnTo>
                  <a:pt x="364601" y="19446"/>
                </a:lnTo>
                <a:lnTo>
                  <a:pt x="343489" y="5216"/>
                </a:lnTo>
                <a:lnTo>
                  <a:pt x="31762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986434" y="2582621"/>
            <a:ext cx="31172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468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Сотрудники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заповедников,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86434" y="2827147"/>
            <a:ext cx="8464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лесники, местные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88057" y="2827147"/>
            <a:ext cx="21183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">
              <a:lnSpc>
                <a:spcPct val="100000"/>
              </a:lnSpc>
              <a:spcBef>
                <a:spcPts val="95"/>
              </a:spcBef>
              <a:tabLst>
                <a:tab pos="1022985" algn="l"/>
                <a:tab pos="1173480" algn="l"/>
                <a:tab pos="147066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волонтеры, активисты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другие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2983" y="2619882"/>
            <a:ext cx="103886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600" spc="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8175" y="2619882"/>
            <a:ext cx="190690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92100" algn="r">
              <a:lnSpc>
                <a:spcPct val="100000"/>
              </a:lnSpc>
              <a:spcBef>
                <a:spcPts val="95"/>
              </a:spcBef>
              <a:tabLst>
                <a:tab pos="832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документальные героях,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их</a:t>
            </a:r>
            <a:r>
              <a:rPr sz="1600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конкретных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86434" y="3314827"/>
            <a:ext cx="311912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люди,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чья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связана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заботой</a:t>
            </a:r>
            <a:r>
              <a:rPr sz="1600" spc="3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природе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229100" y="2066544"/>
            <a:ext cx="45720" cy="1967864"/>
          </a:xfrm>
          <a:custGeom>
            <a:avLst/>
            <a:gdLst/>
            <a:ahLst/>
            <a:cxnLst/>
            <a:rect l="l" t="t" r="r" b="b"/>
            <a:pathLst>
              <a:path w="45720" h="1967864">
                <a:moveTo>
                  <a:pt x="45720" y="0"/>
                </a:moveTo>
                <a:lnTo>
                  <a:pt x="0" y="0"/>
                </a:lnTo>
                <a:lnTo>
                  <a:pt x="0" y="1967483"/>
                </a:lnTo>
                <a:lnTo>
                  <a:pt x="45720" y="1967483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4435221" y="206057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88338" y="2020951"/>
            <a:ext cx="53949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4570" algn="l"/>
              </a:tabLst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Герои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2700" b="1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Формат</a:t>
            </a:r>
            <a:r>
              <a:rPr sz="2700" b="1" spc="-16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700" b="1" spc="-1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2700" baseline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62983" y="3351403"/>
            <a:ext cx="306133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402080" algn="l"/>
                <a:tab pos="169735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повседневных практиках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688580" y="2092451"/>
            <a:ext cx="45720" cy="1941830"/>
          </a:xfrm>
          <a:custGeom>
            <a:avLst/>
            <a:gdLst/>
            <a:ahLst/>
            <a:cxnLst/>
            <a:rect l="l" t="t" r="r" b="b"/>
            <a:pathLst>
              <a:path w="45720" h="1941829">
                <a:moveTo>
                  <a:pt x="45720" y="0"/>
                </a:moveTo>
                <a:lnTo>
                  <a:pt x="0" y="0"/>
                </a:lnTo>
                <a:lnTo>
                  <a:pt x="0" y="1941576"/>
                </a:lnTo>
                <a:lnTo>
                  <a:pt x="45720" y="1941576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7786116" y="20665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34" y="0"/>
                </a:moveTo>
                <a:lnTo>
                  <a:pt x="66420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0" y="332231"/>
                </a:lnTo>
                <a:lnTo>
                  <a:pt x="343534" y="332231"/>
                </a:lnTo>
                <a:lnTo>
                  <a:pt x="369397" y="327015"/>
                </a:lnTo>
                <a:lnTo>
                  <a:pt x="390509" y="312785"/>
                </a:lnTo>
                <a:lnTo>
                  <a:pt x="404739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9" y="40558"/>
                </a:lnTo>
                <a:lnTo>
                  <a:pt x="390509" y="19446"/>
                </a:lnTo>
                <a:lnTo>
                  <a:pt x="369397" y="5216"/>
                </a:lnTo>
                <a:lnTo>
                  <a:pt x="34353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7823454" y="206692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136381" y="2827147"/>
            <a:ext cx="27813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6563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951230" algn="l"/>
                <a:tab pos="2169160" algn="l"/>
              </a:tabLst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TikTok,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Instagram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Reels,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140567" y="2827147"/>
            <a:ext cx="8623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героев.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136381" y="2013330"/>
            <a:ext cx="3867150" cy="83883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50875" marR="1024890" indent="-96520">
              <a:lnSpc>
                <a:spcPts val="1800"/>
              </a:lnSpc>
              <a:spcBef>
                <a:spcPts val="460"/>
              </a:spcBef>
            </a:pPr>
            <a:r>
              <a:rPr sz="18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основная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8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  <a:tabLst>
                <a:tab pos="2564130" algn="l"/>
                <a:tab pos="37401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Мини-документальные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36381" y="3314827"/>
            <a:ext cx="386524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Shorts</a:t>
            </a:r>
            <a:r>
              <a:rPr sz="1600" b="1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b="1" spc="2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видеофрагменты,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истории,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факты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отдельные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эпизоды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выпусков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широкого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охвата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7" name="object 2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559052" y="4123944"/>
            <a:ext cx="4315968" cy="2426208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0107" y="4165091"/>
            <a:ext cx="4143755" cy="2450592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1874500" y="643808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21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1026859" y="434003"/>
            <a:ext cx="10138282" cy="431965"/>
          </a:xfrm>
          <a:prstGeom prst="rect">
            <a:avLst/>
          </a:prstGeom>
        </p:spPr>
        <p:txBody>
          <a:bodyPr vert="horz" wrap="square" lIns="0" tIns="107747" rIns="0" bIns="0" rtlCol="0">
            <a:spAutoFit/>
          </a:bodyPr>
          <a:lstStyle/>
          <a:p>
            <a:pPr marL="92837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ЕДИНАЯ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КОММУНИКАЦИОННАЯ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СРЕДА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803249" y="1247012"/>
            <a:ext cx="35712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201914" y="1286002"/>
            <a:ext cx="25920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600" b="1" spc="-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48055" y="1956816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4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6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530758" y="197789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0844" y="1927986"/>
            <a:ext cx="21304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2004060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 экологичные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8285" y="1927986"/>
            <a:ext cx="1388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234418" y="1633727"/>
            <a:ext cx="1880235" cy="1187450"/>
            <a:chOff x="5234418" y="1633727"/>
            <a:chExt cx="1880235" cy="1187450"/>
          </a:xfrm>
        </p:grpSpPr>
        <p:pic>
          <p:nvPicPr>
            <p:cNvPr id="12" name="object 12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234418" y="1691639"/>
              <a:ext cx="1871993" cy="9144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7078980" y="1633727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2F456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" name="object 4"/>
          <p:cNvSpPr txBox="1"/>
          <p:nvPr/>
        </p:nvSpPr>
        <p:spPr>
          <a:xfrm>
            <a:off x="7382382" y="1607210"/>
            <a:ext cx="4516120" cy="970280"/>
          </a:xfrm>
          <a:prstGeom prst="rect">
            <a:avLst/>
          </a:prstGeom>
        </p:spPr>
        <p:txBody>
          <a:bodyPr vert="horz" wrap="square" lIns="0" tIns="118745" rIns="0" bIns="0" rtlCol="0">
            <a:spAutoFit/>
          </a:bodyPr>
          <a:lstStyle/>
          <a:p>
            <a:pPr marL="652145">
              <a:lnSpc>
                <a:spcPct val="100000"/>
              </a:lnSpc>
              <a:spcBef>
                <a:spcPts val="935"/>
              </a:spcBef>
            </a:pPr>
            <a:r>
              <a:rPr sz="16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Документальные фильмы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840"/>
              </a:spcBef>
              <a:tabLst>
                <a:tab pos="767080" algn="l"/>
                <a:tab pos="1410335" algn="l"/>
                <a:tab pos="1713230" algn="l"/>
                <a:tab pos="1795780" algn="l"/>
                <a:tab pos="2068195" algn="l"/>
                <a:tab pos="3134360" algn="l"/>
                <a:tab pos="4388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Серия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фильмов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значимых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 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достижениях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–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43483" y="2737104"/>
            <a:ext cx="422275" cy="332740"/>
          </a:xfrm>
          <a:custGeom>
            <a:avLst/>
            <a:gdLst/>
            <a:ahLst/>
            <a:cxnLst/>
            <a:rect l="l" t="t" r="r" b="b"/>
            <a:pathLst>
              <a:path w="422275" h="332739">
                <a:moveTo>
                  <a:pt x="368985" y="0"/>
                </a:moveTo>
                <a:lnTo>
                  <a:pt x="53162" y="0"/>
                </a:lnTo>
                <a:lnTo>
                  <a:pt x="32468" y="4171"/>
                </a:lnTo>
                <a:lnTo>
                  <a:pt x="15570" y="15557"/>
                </a:lnTo>
                <a:lnTo>
                  <a:pt x="4177" y="32468"/>
                </a:lnTo>
                <a:lnTo>
                  <a:pt x="0" y="53212"/>
                </a:lnTo>
                <a:lnTo>
                  <a:pt x="0" y="279019"/>
                </a:lnTo>
                <a:lnTo>
                  <a:pt x="4177" y="299763"/>
                </a:lnTo>
                <a:lnTo>
                  <a:pt x="15570" y="316674"/>
                </a:lnTo>
                <a:lnTo>
                  <a:pt x="32468" y="328060"/>
                </a:lnTo>
                <a:lnTo>
                  <a:pt x="53162" y="332232"/>
                </a:lnTo>
                <a:lnTo>
                  <a:pt x="368985" y="332232"/>
                </a:lnTo>
                <a:lnTo>
                  <a:pt x="389679" y="328060"/>
                </a:lnTo>
                <a:lnTo>
                  <a:pt x="406577" y="316674"/>
                </a:lnTo>
                <a:lnTo>
                  <a:pt x="417970" y="299763"/>
                </a:lnTo>
                <a:lnTo>
                  <a:pt x="422147" y="279019"/>
                </a:lnTo>
                <a:lnTo>
                  <a:pt x="422147" y="53212"/>
                </a:lnTo>
                <a:lnTo>
                  <a:pt x="417970" y="32468"/>
                </a:lnTo>
                <a:lnTo>
                  <a:pt x="406577" y="15557"/>
                </a:lnTo>
                <a:lnTo>
                  <a:pt x="389679" y="4171"/>
                </a:lnTo>
                <a:lnTo>
                  <a:pt x="368985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526186" y="2758186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10844" y="2659506"/>
            <a:ext cx="403415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510665" algn="l"/>
                <a:tab pos="1975485" algn="l"/>
                <a:tab pos="3338195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жастар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молодёжь,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школы,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конкурсы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836402" y="2551887"/>
            <a:ext cx="10636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6985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Зелёного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82382" y="2551887"/>
            <a:ext cx="3456304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907415" algn="l"/>
                <a:tab pos="1728470" algn="l"/>
                <a:tab pos="2010410" algn="l"/>
                <a:tab pos="256667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Арала,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создании пояса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Астаны,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сохранении территорий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451104" y="35143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09" y="0"/>
                </a:moveTo>
                <a:lnTo>
                  <a:pt x="66446" y="0"/>
                </a:lnTo>
                <a:lnTo>
                  <a:pt x="40580" y="5216"/>
                </a:lnTo>
                <a:lnTo>
                  <a:pt x="19459" y="19446"/>
                </a:lnTo>
                <a:lnTo>
                  <a:pt x="5220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20" y="291673"/>
                </a:lnTo>
                <a:lnTo>
                  <a:pt x="19459" y="312785"/>
                </a:lnTo>
                <a:lnTo>
                  <a:pt x="40580" y="327015"/>
                </a:lnTo>
                <a:lnTo>
                  <a:pt x="66446" y="332231"/>
                </a:lnTo>
                <a:lnTo>
                  <a:pt x="343509" y="332231"/>
                </a:lnTo>
                <a:lnTo>
                  <a:pt x="369375" y="327015"/>
                </a:lnTo>
                <a:lnTo>
                  <a:pt x="390496" y="312785"/>
                </a:lnTo>
                <a:lnTo>
                  <a:pt x="404735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5" y="40558"/>
                </a:lnTo>
                <a:lnTo>
                  <a:pt x="390496" y="19446"/>
                </a:lnTo>
                <a:lnTo>
                  <a:pt x="369375" y="5216"/>
                </a:lnTo>
                <a:lnTo>
                  <a:pt x="34350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 txBox="1"/>
          <p:nvPr/>
        </p:nvSpPr>
        <p:spPr>
          <a:xfrm>
            <a:off x="487476" y="351510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844" y="3391280"/>
            <a:ext cx="403669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«Менің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әдетім»</a:t>
            </a:r>
            <a:r>
              <a:rPr sz="1600" b="1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блогеры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показывают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«чистые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привычки»,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запускают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челлендж</a:t>
            </a:r>
            <a:r>
              <a:rPr sz="1600" spc="1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аудитории,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затем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234418" y="3328415"/>
            <a:ext cx="1889125" cy="1187450"/>
            <a:chOff x="5234418" y="3328415"/>
            <a:chExt cx="1889125" cy="118745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4418" y="3328415"/>
              <a:ext cx="1871993" cy="9159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088124" y="3328415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7507985" y="3416960"/>
            <a:ext cx="4270375" cy="92646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659130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670"/>
              </a:spcBef>
              <a:tabLst>
                <a:tab pos="1624965" algn="l"/>
                <a:tab pos="285813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продвигающие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ценности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6461" y="5470347"/>
            <a:ext cx="685545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Tazabek –</a:t>
            </a:r>
            <a:r>
              <a:rPr sz="16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</a:t>
            </a:r>
            <a:r>
              <a:rPr sz="16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Қазақстан»,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визуальную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коммуникацию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живое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формирует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ответственному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поведению.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6" name="object 2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20011" y="4712208"/>
            <a:ext cx="2133600" cy="1969008"/>
          </a:xfrm>
          <a:prstGeom prst="rect">
            <a:avLst/>
          </a:prstGeom>
        </p:spPr>
      </p:pic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897270" y="415209"/>
            <a:ext cx="10138282" cy="536351"/>
          </a:xfrm>
          <a:prstGeom prst="rect">
            <a:avLst/>
          </a:prstGeom>
        </p:spPr>
        <p:txBody>
          <a:bodyPr vert="horz" wrap="square" lIns="0" tIns="211124" rIns="0" bIns="0" rtlCol="0">
            <a:spAutoFit/>
          </a:bodyPr>
          <a:lstStyle/>
          <a:p>
            <a:pPr marL="1974215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ЦИФРОВАЯ</a:t>
            </a:r>
            <a:r>
              <a:rPr sz="21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ПЛАТФОРМА</a:t>
            </a:r>
            <a:r>
              <a:rPr sz="2100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09955" y="1580388"/>
            <a:ext cx="768350" cy="1685925"/>
            <a:chOff x="409955" y="1580388"/>
            <a:chExt cx="768350" cy="1685925"/>
          </a:xfrm>
        </p:grpSpPr>
        <p:pic>
          <p:nvPicPr>
            <p:cNvPr id="8" name="object 8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099" y="1580388"/>
              <a:ext cx="749807" cy="16763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14527" y="2499360"/>
              <a:ext cx="759460" cy="762000"/>
            </a:xfrm>
            <a:custGeom>
              <a:avLst/>
              <a:gdLst/>
              <a:ahLst/>
              <a:cxnLst/>
              <a:rect l="l" t="t" r="r" b="b"/>
              <a:pathLst>
                <a:path w="759460" h="762000">
                  <a:moveTo>
                    <a:pt x="0" y="762000"/>
                  </a:moveTo>
                  <a:lnTo>
                    <a:pt x="758952" y="762000"/>
                  </a:lnTo>
                  <a:lnTo>
                    <a:pt x="758952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4047" y="3479496"/>
            <a:ext cx="740664" cy="70235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9100" y="4427851"/>
            <a:ext cx="749807" cy="5921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99794" y="1914524"/>
            <a:ext cx="4001770" cy="3119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РЕЕСТР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проблем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АФИША</a:t>
            </a:r>
            <a:r>
              <a:rPr sz="1600" b="1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Возможность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найти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зарегистрироваться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Статус,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фактический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предложения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" name="object 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01781" y="1576604"/>
            <a:ext cx="6488097" cy="360956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1664" y="5539963"/>
            <a:ext cx="625606" cy="6025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35507" y="5659323"/>
            <a:ext cx="25869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акциях,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подача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инициатив,</a:t>
            </a:r>
            <a:r>
              <a:rPr sz="16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52812" y="5533644"/>
            <a:ext cx="726807" cy="7497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659248" y="5659323"/>
            <a:ext cx="24415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Поддержка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общественной</a:t>
            </a:r>
            <a:r>
              <a:rPr sz="16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1579" y="5503164"/>
            <a:ext cx="740607" cy="7451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368665" y="5659323"/>
            <a:ext cx="251396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ГОСОРГАНОВ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Координация,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мониторинг,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16" name="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6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456970"/>
          </a:xfrm>
          <a:prstGeom prst="rect">
            <a:avLst/>
          </a:prstGeom>
        </p:spPr>
        <p:txBody>
          <a:bodyPr vert="horz" wrap="square" lIns="0" tIns="132511" rIns="0" bIns="0" rtlCol="0">
            <a:spAutoFit/>
          </a:bodyPr>
          <a:lstStyle/>
          <a:p>
            <a:pPr marL="408305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АМБАССАДОРЫ</a:t>
            </a:r>
            <a:endParaRPr sz="2100" spc="-2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14527" y="1400555"/>
            <a:ext cx="1118616" cy="1144524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701545" y="1373145"/>
            <a:ext cx="2387600" cy="146494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67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Дастан</a:t>
            </a:r>
            <a:r>
              <a:rPr sz="16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Мұхамедрахым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1910">
              <a:lnSpc>
                <a:spcPct val="100000"/>
              </a:lnSpc>
              <a:spcBef>
                <a:spcPts val="505"/>
              </a:spcBef>
            </a:pP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319405" algn="just">
              <a:lnSpc>
                <a:spcPct val="100000"/>
              </a:lnSpc>
              <a:spcBef>
                <a:spcPts val="89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Победитель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международной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премии</a:t>
            </a:r>
            <a:r>
              <a:rPr sz="12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WIBA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Awards 2026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номинации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«Лучший</a:t>
            </a:r>
            <a:r>
              <a:rPr sz="12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тревел-блогер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мира»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5676" y="1420367"/>
            <a:ext cx="1176527" cy="114452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951989" y="2967609"/>
            <a:ext cx="19983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2,1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89523" y="1385733"/>
            <a:ext cx="2268220" cy="199072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85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Енлик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Курарбек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3335">
              <a:lnSpc>
                <a:spcPct val="100000"/>
              </a:lnSpc>
              <a:spcBef>
                <a:spcPts val="670"/>
              </a:spcBef>
            </a:pP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Певица</a:t>
            </a:r>
            <a:r>
              <a:rPr sz="14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песен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217170">
              <a:lnSpc>
                <a:spcPct val="100000"/>
              </a:lnSpc>
              <a:spcBef>
                <a:spcPts val="820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альбома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BIPL,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первая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казахстанская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участница международного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65659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музыкального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 COLORS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53365">
              <a:lnSpc>
                <a:spcPct val="100000"/>
              </a:lnSpc>
              <a:spcBef>
                <a:spcPts val="99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223</a:t>
            </a:r>
            <a:r>
              <a:rPr sz="12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31123" y="1411224"/>
            <a:ext cx="1110996" cy="114452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52561" y="2961132"/>
            <a:ext cx="236652" cy="23774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38761" y="3156383"/>
            <a:ext cx="236652" cy="23890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425178" y="1474897"/>
            <a:ext cx="2292985" cy="209359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53975">
              <a:lnSpc>
                <a:spcPct val="100000"/>
              </a:lnSpc>
              <a:spcBef>
                <a:spcPts val="3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Аскар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Уразбаев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60325">
              <a:lnSpc>
                <a:spcPct val="100000"/>
              </a:lnSpc>
              <a:spcBef>
                <a:spcPts val="23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Актер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104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соавтор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казахоязычных digital-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«Сыныптас»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5753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«Комната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209»,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ориентированных</a:t>
            </a:r>
            <a:r>
              <a:rPr sz="12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молодёжную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аудиторию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  <a:spcBef>
                <a:spcPts val="1065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572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135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373145" y="3151632"/>
            <a:ext cx="236854" cy="429895"/>
            <a:chOff x="9373145" y="3151632"/>
            <a:chExt cx="236854" cy="429895"/>
          </a:xfrm>
        </p:grpSpPr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373145" y="3151632"/>
              <a:ext cx="236652" cy="23774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390887" y="3380232"/>
              <a:ext cx="201167" cy="201167"/>
            </a:xfrm>
            <a:prstGeom prst="rect">
              <a:avLst/>
            </a:prstGeom>
          </p:spPr>
        </p:pic>
      </p:grpSp>
      <p:pic>
        <p:nvPicPr>
          <p:cNvPr id="25" name="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0331" y="4158996"/>
            <a:ext cx="1162812" cy="122834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76780" y="4047134"/>
            <a:ext cx="1813560" cy="1256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40740" indent="12700">
              <a:lnSpc>
                <a:spcPct val="13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Алпамыс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9210" marR="5080">
              <a:lnSpc>
                <a:spcPct val="100000"/>
              </a:lnSpc>
              <a:spcBef>
                <a:spcPts val="39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мотивационного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дисциплине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саморазвитии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265676" y="4073652"/>
            <a:ext cx="1176527" cy="12496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32177" y="5569102"/>
            <a:ext cx="1638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279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89523" y="4034692"/>
            <a:ext cx="2272030" cy="1673225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Алия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Ашим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Документалист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435610">
              <a:lnSpc>
                <a:spcPct val="100000"/>
              </a:lnSpc>
              <a:spcBef>
                <a:spcPts val="72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Специализируется</a:t>
            </a:r>
            <a:r>
              <a:rPr sz="12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популяризации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2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культурного</a:t>
            </a:r>
            <a:r>
              <a:rPr sz="12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наследия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современный медиаконтент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223504" y="4131564"/>
            <a:ext cx="1110996" cy="112776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436354" y="4167113"/>
            <a:ext cx="1935480" cy="1118870"/>
          </a:xfrm>
          <a:prstGeom prst="rect">
            <a:avLst/>
          </a:prstGeom>
        </p:spPr>
        <p:txBody>
          <a:bodyPr vert="horz" wrap="square" lIns="0" tIns="1092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Сабира</a:t>
            </a:r>
            <a:r>
              <a:rPr sz="16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Жарасова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2860">
              <a:lnSpc>
                <a:spcPct val="100000"/>
              </a:lnSpc>
              <a:spcBef>
                <a:spcPts val="680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  <a:spcBef>
                <a:spcPts val="68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семейного</a:t>
            </a:r>
            <a:r>
              <a:rPr sz="12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юмористического</a:t>
            </a:r>
            <a:r>
              <a:rPr sz="12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71621" y="5373623"/>
            <a:ext cx="236652" cy="23774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643618" y="5397500"/>
            <a:ext cx="1610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1,5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30859" y="5576861"/>
            <a:ext cx="238909" cy="236652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02770" y="5806440"/>
            <a:ext cx="236652" cy="23774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918072" y="5825134"/>
            <a:ext cx="20275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400</a:t>
            </a:r>
            <a:r>
              <a:rPr sz="12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ПОТРЕБНОСТЬ В ФИНАНСИРОВАНИИ ПРОЕКТНОГО ОФИСА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368000"/>
          <a:ext cx="11124000" cy="36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1404000"/>
                <a:gridCol w="1224000"/>
                <a:gridCol w="1368000"/>
                <a:gridCol w="1332000"/>
                <a:gridCol w="1332000"/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Статья, млн ₸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Октябрь–ноябрь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Декабрь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Итого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0A8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Январь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Февраль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Численность, чел.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1. Оплата труда и отчисления, аутсорс, командировки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65,7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46,4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112,1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37,0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44,6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2. Офис и оснащение: аренда, мебель и техника, хозрасходы, связь, цифровые инструменты, медиа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26,5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8,3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34,8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3. Ивенты, социологические исследования и другие проекты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38,2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31,8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70,1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29,1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4. Резерв 10%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11,6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5. НДС 16%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23,7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ВСЕГО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153,8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98,6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252,4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69,1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92,0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0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5364000"/>
            <a:ext cx="43200" cy="1152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252,4 млн ₸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октябрь–декабрь 2026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84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4000" y="5364000"/>
            <a:ext cx="43200" cy="1152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4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161,1 млн ₸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64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январь–февраль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28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000" y="5364000"/>
            <a:ext cx="43200" cy="1152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8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22 → 30 чел.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08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команда к февралю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25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ЧТО ВХОДИТ В БЮДЖЕТ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368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Октябрь–ноябрь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153,8 млн ₸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>
            <p:custDataLst>
              <p:tags r:id="rId6"/>
            </p:custDataLst>
          </p:nvPr>
        </p:nvSpPr>
        <p:spPr>
          <a:xfrm>
            <a:off x="666000" y="2340000"/>
            <a:ext cx="2448000" cy="21691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Запуск офиса: аренда с 21 октября, гарантийный депозит, оснащение рабочих мест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22 человека, страхование работников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Презентация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и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 старт TAZA TALQY, креативных проектов, информационного сопровождения, социологического исследования и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>
            <p:custDataLst>
              <p:tags r:id="rId7"/>
            </p:custDataLst>
          </p:nvPr>
        </p:nvSpPr>
        <p:spPr>
          <a:xfrm>
            <a:off x="3348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>
            <p:custDataLst>
              <p:tags r:id="rId8"/>
            </p:custDataLst>
          </p:nvPr>
        </p:nvSpPr>
        <p:spPr>
          <a:xfrm>
            <a:off x="3348000" y="1368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3474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Декабрь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>
            <p:custDataLst>
              <p:tags r:id="rId10"/>
            </p:custDataLst>
          </p:nvPr>
        </p:nvSpPr>
        <p:spPr>
          <a:xfrm>
            <a:off x="3474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98,6 млн ₸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13" name="TextBox 12"/>
          <p:cNvSpPr txBox="1"/>
          <p:nvPr>
            <p:custDataLst>
              <p:tags r:id="rId11"/>
            </p:custDataLst>
          </p:nvPr>
        </p:nvSpPr>
        <p:spPr>
          <a:xfrm>
            <a:off x="3474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Текущие расходы офиса и команды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23 человека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Вторая часть закупок: оборудование зала совещаний, вывеска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Продолжение проектов, завершение социологического исследования и первого этапа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>
            <p:custDataLst>
              <p:tags r:id="rId12"/>
            </p:custDataLst>
          </p:nvPr>
        </p:nvSpPr>
        <p:spPr>
          <a:xfrm>
            <a:off x="6156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>
            <p:custDataLst>
              <p:tags r:id="rId13"/>
            </p:custDataLst>
          </p:nvPr>
        </p:nvSpPr>
        <p:spPr>
          <a:xfrm>
            <a:off x="6156000" y="1368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4"/>
            </p:custDataLst>
          </p:nvPr>
        </p:nvSpPr>
        <p:spPr>
          <a:xfrm>
            <a:off x="6282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Январь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6282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 panose="020B0604030504040204"/>
              </a:rPr>
              <a:t>69,1 млн ₸</a:t>
            </a:r>
            <a:endParaRPr sz="22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8" name="TextBox 17"/>
          <p:cNvSpPr txBox="1"/>
          <p:nvPr>
            <p:custDataLst>
              <p:tags r:id="rId16"/>
            </p:custDataLst>
          </p:nvPr>
        </p:nvSpPr>
        <p:spPr>
          <a:xfrm>
            <a:off x="6282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Ежемесячные расходы: оплата труда, аутсорс, аренда, подписки, командировки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Январская часть TAZA TALQY, креативных проектов и информационного сопровождения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>
            <p:custDataLst>
              <p:tags r:id="rId17"/>
            </p:custDataLst>
          </p:nvPr>
        </p:nvSpPr>
        <p:spPr>
          <a:xfrm>
            <a:off x="8964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>
            <p:custDataLst>
              <p:tags r:id="rId18"/>
            </p:custDataLst>
          </p:nvPr>
        </p:nvSpPr>
        <p:spPr>
          <a:xfrm>
            <a:off x="8964000" y="1368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19"/>
            </p:custDataLst>
          </p:nvPr>
        </p:nvSpPr>
        <p:spPr>
          <a:xfrm>
            <a:off x="9090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Февраль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>
            <p:custDataLst>
              <p:tags r:id="rId20"/>
            </p:custDataLst>
          </p:nvPr>
        </p:nvSpPr>
        <p:spPr>
          <a:xfrm>
            <a:off x="9090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184C6"/>
                </a:solidFill>
                <a:latin typeface="Tahoma" panose="020B0604030504040204"/>
              </a:rPr>
              <a:t>92,0 млн ₸</a:t>
            </a:r>
            <a:endParaRPr sz="22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>
            <p:custDataLst>
              <p:tags r:id="rId21"/>
            </p:custDataLst>
          </p:nvPr>
        </p:nvSpPr>
        <p:spPr>
          <a:xfrm>
            <a:off x="9090000" y="2340000"/>
            <a:ext cx="2448000" cy="143065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Приход ещё 7 сотрудников, команда 30 человек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Докупка рабочих мест: 5 столов, 6 кресел, лицензии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Проекты –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прогноз 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 среднемесячной оценке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 (требует уточнения)</a:t>
            </a:r>
            <a:endParaRPr lang="ru-RU" altLang=""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40000" y="5364000"/>
            <a:ext cx="11124000" cy="1188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5364000"/>
            <a:ext cx="43200" cy="1188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5418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Первоочередные проекты октября 2026 – января 2027 года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87 млн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 без НДС; в 2027 году ожидаемый портфель проектов «Таза Қазақстан»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1,5 млрд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С 2027 года работа Проектного офиса будет обеспечиваться преимущественно за счёт спонсорских и иных внебюджетных средств, привлекаемых Фондом, в том числе международных грантов.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1080000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864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1080000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3096000"/>
            <a:ext cx="10764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3000" b="1">
                <a:solidFill>
                  <a:srgbClr val="0E2C58"/>
                </a:solidFill>
                <a:latin typeface="Tahoma" panose="020B0604030504040204"/>
              </a:rPr>
              <a:t>СПАСИБО ЗА ВНИМАНИЕ!</a:t>
            </a:r>
            <a:endParaRPr sz="30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465469"/>
                </a:solidFill>
                <a:latin typeface="Arial" panose="020B0604020202020204"/>
              </a:rPr>
              <a:t>Центрально-Азиатский климатический фонд</a:t>
            </a:r>
            <a:endParaRPr sz="1500" b="1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Астана, пр. Мәңгілік Ел, 11/1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office@caclimate.fund · caclimate.fund · +7 708 345 7971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8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9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0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18138</Words>
  <Application>WPS Presentation</Application>
  <PresentationFormat>Широкоэкранный</PresentationFormat>
  <Paragraphs>1003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41" baseType="lpstr">
      <vt:lpstr>Arial</vt:lpstr>
      <vt:lpstr>SimSun</vt:lpstr>
      <vt:lpstr>Wingdings</vt:lpstr>
      <vt:lpstr>Arial</vt:lpstr>
      <vt:lpstr>Calibri</vt:lpstr>
      <vt:lpstr>Tahoma</vt:lpstr>
      <vt:lpstr>Tahoma</vt:lpstr>
      <vt:lpstr>Microsoft YaHei</vt:lpstr>
      <vt:lpstr>Arial Unicode MS</vt:lpstr>
      <vt:lpstr>Segoe UI</vt:lpstr>
      <vt:lpstr>Segoe UI Symbol</vt:lpstr>
      <vt:lpstr>Calibri Light</vt:lpstr>
      <vt:lpstr>Office Theme</vt:lpstr>
      <vt:lpstr>Тема Office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«ТАЗА ҚАЗАҚСТАН» ЖАЛПЫҰЛТТЫҚ ЖОБАСЫ</vt:lpstr>
      <vt:lpstr>ТЕКУЩАЯ МОДЕЛЬ РЕАЛИЗАЦИИ ОБЩЕНАЦИОНАЛЬНОГО ПРОЕКТА «ТАЗА ҚАЗАҚСТАН»</vt:lpstr>
      <vt:lpstr>ПРОГРАММНЫЕ ВЫСТУПЛЕНИЯ ГЛАВЫ ГОСУДАРСТВА</vt:lpstr>
      <vt:lpstr>PowerPoint 演示文稿</vt:lpstr>
      <vt:lpstr>PowerPoint 演示文稿</vt:lpstr>
      <vt:lpstr>НАЦИОНАЛЬНЫЙ ПРОЕКТНЫЙ ОФИС «ТАЗА ҚАЗАҚСТАН»</vt:lpstr>
      <vt:lpstr>PowerPoint 演示文稿</vt:lpstr>
      <vt:lpstr>PowerPoint 演示文稿</vt:lpstr>
      <vt:lpstr>ТА3А ЕЛ – НАЦИОНАЛЬНЫЙ СТАНДАРТ ЧИСТОТЫ</vt:lpstr>
      <vt:lpstr>НАПРАВЛЕНИЕ «ТА3А ЕЛ»</vt:lpstr>
      <vt:lpstr>НАПРАВЛЕНИЕ «ЖАҢА МӘДЕНИЕТ»</vt:lpstr>
      <vt:lpstr>PowerPoint 演示文稿</vt:lpstr>
      <vt:lpstr>НАПРАВЛЕНИЕ «ТАЗА САНА»</vt:lpstr>
      <vt:lpstr>YOUTUBE-ПРОЕКТ «ҚҰНДЫЛЫҚ ЕЛШІСІ»</vt:lpstr>
      <vt:lpstr>ЕДИНАЯ КОММУНИКАЦИОННАЯ СРЕДА «ТАЗА ҚАЗАҚСТАН»</vt:lpstr>
      <vt:lpstr>ЦИФРОВАЯ ПЛАТФОРМА «ТАЗА ҚАЗАҚСТАН»</vt:lpstr>
      <vt:lpstr>АМБАССАДОРЫ</vt:lpstr>
      <vt:lpstr>PowerPoint 演示文稿</vt:lpstr>
      <vt:lpstr>PowerPoint 演示文稿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Проектный офис «Таза Қазақстан» на базе ЦАКФ</dc:title>
  <dc:creator>Кабдрахманов Алмаз Ернатулы</dc:creator>
  <cp:lastModifiedBy>User</cp:lastModifiedBy>
  <cp:revision>5</cp:revision>
  <dcterms:created xsi:type="dcterms:W3CDTF">2026-10-10T04:54:00Z</dcterms:created>
  <dcterms:modified xsi:type="dcterms:W3CDTF">2026-10-28T12:08:43Z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2026-10-10T05:00:00Z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2026-10-10T05:00:00Z</vt:filetime>
  </property>
  <property fmtid="{D5CDD505-2E9C-101B-9397-08002B2CF9AE}" pid="6" name="Producer">
    <vt:lpwstr>Microsoft® PowerPoint® 2016</vt:lpwstr>
  </property>
  <property fmtid="{D5CDD505-2E9C-101B-9397-08002B2CF9AE}" pid="7" name="ICV">
    <vt:lpwstr>FF686C1E95D64589B7CD6A9051A43947_12</vt:lpwstr>
  </property>
  <property fmtid="{D5CDD505-2E9C-101B-9397-08002B2CF9AE}" pid="8" name="KSOProductBuildVer">
    <vt:lpwstr>1049-12.2.0.23206</vt:lpwstr>
  </property>
</Properties>
</file>