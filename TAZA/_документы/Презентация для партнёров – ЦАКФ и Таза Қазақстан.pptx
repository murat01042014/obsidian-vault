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83" r:id="rId10"/>
    <p:sldId id="278" r:id="rId11"/>
    <p:sldId id="256" r:id="rId12"/>
    <p:sldId id="257" r:id="rId13"/>
    <p:sldId id="258" r:id="rId14"/>
    <p:sldId id="259" r:id="rId15"/>
    <p:sldId id="260" r:id="rId16"/>
    <p:sldId id="261" r:id="rId17"/>
    <p:sldId id="282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9" r:id="rId29"/>
    <p:sldId id="280" r:id="rId30"/>
    <p:sldId id="281" r:id="rId3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6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6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8.jpeg"/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image" Target="../media/image19.jpe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image" Target="../media/image26.jpe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4.jpeg"/><Relationship Id="rId1" Type="http://schemas.openxmlformats.org/officeDocument/2006/relationships/image" Target="../media/image33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4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3.png"/><Relationship Id="rId8" Type="http://schemas.openxmlformats.org/officeDocument/2006/relationships/image" Target="../media/image52.png"/><Relationship Id="rId7" Type="http://schemas.openxmlformats.org/officeDocument/2006/relationships/image" Target="../media/image51.png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2" Type="http://schemas.openxmlformats.org/officeDocument/2006/relationships/slideLayout" Target="../slideLayouts/slideLayout5.xml"/><Relationship Id="rId21" Type="http://schemas.openxmlformats.org/officeDocument/2006/relationships/tags" Target="../tags/tag33.xml"/><Relationship Id="rId20" Type="http://schemas.openxmlformats.org/officeDocument/2006/relationships/tags" Target="../tags/tag32.xml"/><Relationship Id="rId2" Type="http://schemas.openxmlformats.org/officeDocument/2006/relationships/tags" Target="../tags/tag14.xml"/><Relationship Id="rId19" Type="http://schemas.openxmlformats.org/officeDocument/2006/relationships/tags" Target="../tags/tag31.xml"/><Relationship Id="rId18" Type="http://schemas.openxmlformats.org/officeDocument/2006/relationships/tags" Target="../tags/tag30.xml"/><Relationship Id="rId17" Type="http://schemas.openxmlformats.org/officeDocument/2006/relationships/tags" Target="../tags/tag29.xml"/><Relationship Id="rId16" Type="http://schemas.openxmlformats.org/officeDocument/2006/relationships/tags" Target="../tags/tag28.xml"/><Relationship Id="rId15" Type="http://schemas.openxmlformats.org/officeDocument/2006/relationships/tags" Target="../tags/tag27.xml"/><Relationship Id="rId14" Type="http://schemas.openxmlformats.org/officeDocument/2006/relationships/tags" Target="../tags/tag26.xml"/><Relationship Id="rId13" Type="http://schemas.openxmlformats.org/officeDocument/2006/relationships/tags" Target="../tags/tag25.xml"/><Relationship Id="rId12" Type="http://schemas.openxmlformats.org/officeDocument/2006/relationships/tags" Target="../tags/tag24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Действующие направления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и инициатив РЭС-2026: 58 сессий как портфель проектов и программ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Проектный офис и оператор мероприятий инициативы; адаптация практик для стран Центральной Азии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ESG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Климатические и экологические риски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Оценка физических и переходных рисков для государственных органов, организаций и инвесторов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Аналитика и «Зелёный Think Tank»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Обучение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Учебный центр Фонда: обучение и повышение квалификации по экологии, климату, устойчивому развитию и ESG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Перспективные направления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 panose="020B0604020202020204"/>
              </a:rPr>
              <a:t>Офсеты и климатическое финансирование</a:t>
            </a:r>
            <a:endParaRPr sz="13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Отбор и сопровождение офсетных проектов, привлечение климатического и грантового финансирования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 panose="020B0604020202020204"/>
              </a:rPr>
              <a:t>Озоновый центр</a:t>
            </a:r>
            <a:endParaRPr sz="13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Мониторинг озоноразрушающих веществ, техническая поддержка, проекты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 panose="020B0604020202020204"/>
              </a:rPr>
              <a:t>«Зелёные школы» с ЮНИСЕФ</a:t>
            </a:r>
            <a:endParaRPr sz="13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Региональная координация программы в Центральной Азии, волонтёрство, экологическое просвещение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 panose="020B0604020202020204"/>
              </a:rPr>
              <a:t>Цифровые решения</a:t>
            </a:r>
            <a:endParaRPr sz="13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Платформы на основе ИИ и ГИС для мониторинга экологических и климатических данных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8356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>
            <p:custDataLst>
              <p:tags r:id="rId10"/>
            </p:custDataLst>
          </p:nvPr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11"/>
            </p:custDataLst>
          </p:nvPr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>
            <p:custDataLst>
              <p:tags r:id="rId13"/>
            </p:custDataLst>
          </p:nvPr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Обучение и просвещение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ESG-обучение совместно с ИАЦ ООС МЭПР.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Международные партнёрства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Меморандумы с ЮНИСЕФ и ЮНКТАД.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ИНФОРМАЦИОННАЯ И АНАЛИТИЧЕСКАЯ РАБОТА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  <a:p>
            <a:r>
              <a:rPr sz="2100" b="0">
                <a:solidFill>
                  <a:srgbClr val="465469"/>
                </a:solidFill>
                <a:latin typeface="Tahoma" panose="020B0604030504040204"/>
              </a:rPr>
              <a:t>июнь – октябрь 2026 года</a:t>
            </a:r>
            <a:endParaRPr sz="2100" b="0">
              <a:solidFill>
                <a:srgbClr val="465469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6000" y="1386000"/>
            <a:ext cx="1944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26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6000" y="1745999"/>
            <a:ext cx="1944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 panose="020B0604020202020204"/>
              </a:rPr>
              <a:t>пресс-релизов</a:t>
            </a:r>
            <a:endParaRPr sz="11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66000" y="1908000"/>
            <a:ext cx="1944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 panose="020B0604020202020204"/>
              </a:rPr>
              <a:t>июнь – октябрь</a:t>
            </a:r>
            <a:endParaRPr sz="10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864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6400" y="1350000"/>
            <a:ext cx="43200" cy="756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2400" y="1386000"/>
            <a:ext cx="1944000" cy="37401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1</a:t>
            </a:r>
            <a:r>
              <a:rPr lang="ru-RU" altLang="" sz="2200" b="1">
                <a:solidFill>
                  <a:srgbClr val="00A895"/>
                </a:solidFill>
                <a:latin typeface="Tahoma" panose="020B0604030504040204"/>
              </a:rPr>
              <a:t>20</a:t>
            </a:r>
            <a:endParaRPr lang="ru-RU" altLang=""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12400" y="1745999"/>
            <a:ext cx="1944000" cy="20447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 panose="020B0604020202020204"/>
              </a:rPr>
              <a:t>публикаци</a:t>
            </a:r>
            <a:r>
              <a:rPr lang="ru-RU" altLang="" sz="1100" b="1">
                <a:solidFill>
                  <a:srgbClr val="0E2C58"/>
                </a:solidFill>
                <a:latin typeface="Arial" panose="020B0604020202020204"/>
              </a:rPr>
              <a:t>й</a:t>
            </a:r>
            <a:r>
              <a:rPr sz="1100" b="1">
                <a:solidFill>
                  <a:srgbClr val="0E2C58"/>
                </a:solidFill>
                <a:latin typeface="Arial" panose="020B0604020202020204"/>
              </a:rPr>
              <a:t> в СМИ</a:t>
            </a:r>
            <a:endParaRPr sz="11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912400" y="1908000"/>
            <a:ext cx="1944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 panose="020B0604020202020204"/>
              </a:rPr>
              <a:t>июнь – сентябрь</a:t>
            </a:r>
            <a:endParaRPr sz="10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0328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2800" y="1350000"/>
            <a:ext cx="43200" cy="756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8800" y="1386000"/>
            <a:ext cx="1944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130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58800" y="1745999"/>
            <a:ext cx="1944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 panose="020B0604020202020204"/>
              </a:rPr>
              <a:t>постов в соцсетях</a:t>
            </a:r>
            <a:endParaRPr sz="11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58800" y="1908000"/>
            <a:ext cx="1944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 panose="020B0604020202020204"/>
              </a:rPr>
              <a:t>июнь – октябрь</a:t>
            </a:r>
            <a:endParaRPr sz="10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2792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79200" y="1350000"/>
            <a:ext cx="43200" cy="756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5200" y="1386000"/>
            <a:ext cx="1944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1 865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05200" y="1745999"/>
            <a:ext cx="1944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 panose="020B0604020202020204"/>
              </a:rPr>
              <a:t>подписчиков в 6 соцсетях</a:t>
            </a:r>
            <a:endParaRPr sz="11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405200" y="1908000"/>
            <a:ext cx="1944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 panose="020B0604020202020204"/>
              </a:rPr>
              <a:t>в т.ч. журналисты и СМИ</a:t>
            </a:r>
            <a:endParaRPr sz="10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5256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256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51600" y="1386000"/>
            <a:ext cx="1944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651600" y="1745999"/>
            <a:ext cx="1944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 panose="020B0604020202020204"/>
              </a:rPr>
              <a:t>материала на сайте</a:t>
            </a:r>
            <a:endParaRPr sz="11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651600" y="1908000"/>
            <a:ext cx="1944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 panose="020B0604020202020204"/>
              </a:rPr>
              <a:t>caclimate.fund, июнь – октябрь</a:t>
            </a:r>
            <a:endParaRPr sz="10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40000" y="2214000"/>
            <a:ext cx="5472000" cy="315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0" y="2214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000" y="2286000"/>
            <a:ext cx="52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Опубликованные исследования и 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6000" y="2610000"/>
            <a:ext cx="5220000" cy="27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12.10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Климатические риски Казахстана: 12 видов опасностей, оценка 20 регионов – совместно с ESGQ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21.07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Рекомендации KAZENERGY по снижению рисков устойчивого развития для энергетики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27.10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Центральная Азия потеряла 44% площади ледников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Климатические аномалии: самое жаркое лето за 80 лет, рост погодных аномалий, последствия жары для здоровья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 panose="020B0604020202020204"/>
              </a:rPr>
              <a:t>июнь–авг.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156000" y="2214000"/>
            <a:ext cx="5508000" cy="315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6000" y="2214000"/>
            <a:ext cx="5508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2000" y="2286000"/>
            <a:ext cx="5256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Научно-аналитические мероприятия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82000" y="2610000"/>
            <a:ext cx="5256000" cy="27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26.06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Лондон: Высокий консультативный совет ORF по зелёному переходу, глава Фонда вошёл в его состав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30.06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Гамбург: конференция по устойчивому развитию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август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Курс «ESG-оценка предприятий Казахстана по официальным экологическим данным» совместно с ИАЦ ООС МЭПР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28–29.08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Молодёжная климатическая конференция LCOY Kazakhstan 2026, Назарбаев Университет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28.09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Меморандум о сотрудничестве с Рейтинговым агентством ESGQ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 panose="020B0604020202020204"/>
              </a:rPr>
              <a:t>03–05.10  </a:t>
            </a:r>
            <a:r>
              <a:rPr sz="1150" b="0">
                <a:solidFill>
                  <a:srgbClr val="465469"/>
                </a:solidFill>
                <a:latin typeface="Arial" panose="020B0604020202020204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  <a:endParaRPr sz="115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0000" y="5418000"/>
            <a:ext cx="11124000" cy="89471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 panose="020B0604020202020204"/>
              </a:rPr>
              <a:t>Публикации выходят на трёх языках: казахском, русском и английском.</a:t>
            </a:r>
            <a:endParaRPr sz="1050" b="1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 panose="020B0604020202020204"/>
              </a:rPr>
              <a:t>Казахстанские СМИ (28): </a:t>
            </a:r>
            <a:r>
              <a:rPr sz="1050" b="0">
                <a:solidFill>
                  <a:srgbClr val="465469"/>
                </a:solidFill>
                <a:latin typeface="Arial" panose="020B0604020202020204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  <a:endParaRPr sz="1050" b="0">
              <a:solidFill>
                <a:srgbClr val="465469"/>
              </a:solidFill>
              <a:latin typeface="Arial" panose="020B0604020202020204"/>
            </a:endParaRP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 panose="020B0604020202020204"/>
              </a:rPr>
              <a:t>Зарубежные СМИ: </a:t>
            </a:r>
            <a:r>
              <a:rPr sz="1050" b="0">
                <a:solidFill>
                  <a:srgbClr val="465469"/>
                </a:solidFill>
                <a:latin typeface="Arial" panose="020B0604020202020204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  <a:endParaRPr sz="105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8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15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en-US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en-US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en-US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en-US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873.0708661417323}"/>
</p:tagLst>
</file>

<file path=ppt/tags/tag1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20647</Words>
  <Application>WPS Presentation</Application>
  <PresentationFormat>Широкоэкранный</PresentationFormat>
  <Paragraphs>1055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28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7</cp:revision>
  <dcterms:created xsi:type="dcterms:W3CDTF">2026-10-10T04:54:00Z</dcterms:created>
  <dcterms:modified xsi:type="dcterms:W3CDTF">2026-10-29T06:48:38Z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2026-10-10T10:00:00Z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2026-10-10T10:00:00Z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