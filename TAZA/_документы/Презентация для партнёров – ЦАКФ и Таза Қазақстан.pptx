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</p:sldMasterIdLst>
  <p:sldIdLst>
    <p:sldId id="272" r:id="rId3"/>
    <p:sldId id="273" r:id="rId4"/>
    <p:sldId id="274" r:id="rId5"/>
    <p:sldId id="275" r:id="rId6"/>
    <p:sldId id="276" r:id="rId7"/>
    <p:sldId id="277" r:id="rId8"/>
    <p:sldId id="278" r:id="rId9"/>
    <p:sldId id="256" r:id="rId10"/>
    <p:sldId id="257" r:id="rId11"/>
    <p:sldId id="258" r:id="rId12"/>
    <p:sldId id="259" r:id="rId13"/>
    <p:sldId id="260" r:id="rId14"/>
    <p:sldId id="261" r:id="rId15"/>
    <p:sldId id="282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9" r:id="rId27"/>
    <p:sldId id="280" r:id="rId28"/>
    <p:sldId id="281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2" d="100"/>
          <a:sy n="112" d="100"/>
        </p:scale>
        <p:origin x="51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488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1866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7362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2762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870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779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2414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718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7095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8535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787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7632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7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0935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/>
              </a:rPr>
              <a:t>ПРОЕКТНЫЙ ОФИС «ТАЗА ҚАЗАҚСТАН»</a:t>
            </a:r>
          </a:p>
          <a:p>
            <a:pPr algn="ctr"/>
            <a:r>
              <a:rPr sz="2400" b="1">
                <a:solidFill>
                  <a:srgbClr val="0E2C58"/>
                </a:solidFill>
                <a:latin typeface="Tahoma"/>
              </a:rPr>
              <a:t>НА БАЗЕ ЦЕНТРАЛЬНО-АЗИАТСКОГО КЛИМАТИЧЕСКОГО ФОНДА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4000" y="4284000"/>
            <a:ext cx="6156000" cy="432000"/>
          </a:xfrm>
          <a:prstGeom prst="roundRect">
            <a:avLst>
              <a:gd name="adj" fmla="val 50000"/>
            </a:avLst>
          </a:prstGeom>
          <a:solidFill>
            <a:srgbClr val="EEF3F6"/>
          </a:solidFill>
          <a:ln w="9525">
            <a:solidFill>
              <a:srgbClr val="C8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24000" y="4284000"/>
            <a:ext cx="6156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2000" b="1">
                <a:solidFill>
                  <a:srgbClr val="0E2C58"/>
                </a:solidFill>
                <a:latin typeface="Tahoma"/>
              </a:rPr>
              <a:t>Презентация для партнёров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/>
              </a:rPr>
              <a:t>Астана,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ЦЕНТРАЛЬНО-АЗИАТСКИЙ КЛИМАТИЧЕСКИЙ ФОНД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/>
              </a:rPr>
              <a:t>по инициативе Главы государства Касым-Жомарта Токаева, озвученной на 78-й сессии Генеральной Ассамблеи ООН.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/>
              </a:rPr>
              <a:t>по изменению климата и зелёной энергетике.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/>
              </a:rPr>
              <a:t>Президент Республики Казахстан К.-Ж. Токаев</a:t>
            </a:r>
          </a:p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78-я сессия Генеральной Ассамблеи ООН, Нью-Йорк, 2023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регистрация в МФЦА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/>
              </a:rPr>
              <a:t>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положительное аудиторское заключение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/>
              </a:rPr>
              <a:t>до 2029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4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мандат Проектного офиса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СТРУКТУРА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Верховный попечитель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Главный исполнительный директор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Председатель Управляющего совета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0" y="2232000"/>
            <a:ext cx="432000" cy="18000"/>
          </a:xfrm>
          <a:prstGeom prst="rect">
            <a:avLst/>
          </a:prstGeom>
          <a:solidFill>
            <a:srgbClr val="465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352000" y="2015999"/>
            <a:ext cx="3204000" cy="468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C8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2000" y="2015999"/>
            <a:ext cx="3204000" cy="46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0E2C58"/>
                </a:solidFill>
                <a:latin typeface="Arial"/>
              </a:rPr>
              <a:t>Советник по стратегии и науке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Проектный офис для Центральной Азии по изменению климата и зелёной энергетике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региональные климатические проекты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климатическая политика и сотрудничество стран ЦА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ESG, климатические финансы, «Зелёные школы»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Проектный офис «Таза Қазақстан»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социология и аналитика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проектное управление и региональная координация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цифровое развитие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коммуникация и креатив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Сеть экспертов Центральной Азии+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экспертно-аналитическое сопровождение климатической, экологической и энергетической повестки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заключения и рекомендации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Административно-финансовый блок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административные вопросы, закупки, кадры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финансы и бухгалтерия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правовое сопровождение (МФЦА)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IT-поддержка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НАПРАВЛЕНИЯ РАБОТЫ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ESG и ответственное инвестирование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2214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Аналитика рисков и оценок, стимулирование, справедливый переход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Климатические финансы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0000" y="2214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Привлечение средств, реализация проектов, региональная платформа МФО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Мониторинг, техническая поддержка, проекты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0000" y="3186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3311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Метановый хаб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3960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Отчётность, регулирование, секретариат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4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84000" y="3186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0000" y="3311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КОП РКИК ООН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0000" y="3960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Аналитика, консалтинг, сайд-ивенты, эко-PR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8000" y="3186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54000" y="3311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Офсеты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4000" y="3960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Подготовка, консультации, обучение, проекты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0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0000" y="4932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6000" y="5058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Зелёные школы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000" y="570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Стандарты, программы, сертификация (с ЮНИСЕФ)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4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84000" y="4932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10000" y="5058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Исследования и просвещение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0000" y="570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Аналитика, консалтинг, обучение, ивенты и эко-PR: «Таза Қазақстан», ESG, адаптация, декарбонизация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28000" y="4932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54000" y="5058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СУР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4000" y="570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Интеграция в проектный цикл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СТРАТЕГИЧЕСКИЕ ЦЕЛИ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Цели по уставу Фонда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Ускорение региональных климатических действий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Региональная климатическая политика и сотрудничество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Поддержка разработки политик и регулирования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Исследования и инновации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Партнёрства с МФИ, НПО, бизнесом и наукой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Климатические данные и наука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Повышение осведомлённости и развитие потенциала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Стратегия 2026–2035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/>
              </a:rPr>
              <a:t>2026–2027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Устойчивость и новая операционная модель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Новые проекты, тендеры и гранты, «Зелёные школы», ESG, «Таза Қазақстан», офсеты, сеть экспертов, PR-кампания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/>
              </a:rPr>
              <a:t>до 2028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«Зелёный Think Tank» Центральной Азии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Регулярная аналитика и доклады, сотрудничество с ООН и МФО, обучение, база проектов, «Таза Қазақстан»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/>
              </a:rPr>
              <a:t>до 2035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«Суперфонд»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Партнёрство с ООН по зелёным финансам, климатическое финансирование и зелёные инвестиции в ЦА, управление портфелем проектов, «Таза Қазақстан» в ЦА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ОПЫТ И РЕЗУЛЬТАТЫ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Региональный экологический саммит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Астана, 22–24 апреля 2026 года: более 11 300 участников, 58 сессий, в том числе 21 высокого уровня.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Декларация глав государств Центральной Азии, п. 24 – поддержка Проектного офиса.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Аналитика для отрасли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ESG-аналитика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405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0000" y="405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4176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482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Программа «Зелёные школы» Центральной Азии в рамках меморандума с ЮНИСЕФ.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4000" y="405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84000" y="405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0000" y="4176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0000" y="482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000" y="405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8000" y="4050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54000" y="4176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COP31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4000" y="482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Анталья, 9–20 ноября 2026 года: Проектный офис включён в Межведомственный план МЭПР по подготовке к COP31.</a:t>
            </a:r>
          </a:p>
        </p:txBody>
      </p:sp>
      <p:pic>
        <p:nvPicPr>
          <p:cNvPr id="28" name="Picture 27" descr="fond_s03_42e75a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000" y="3150000"/>
            <a:ext cx="720000" cy="67578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ОТ КЛИМАТИЧЕСКОЙ ПОВЕСТКИ К «ТАЗА ҚАЗАҚСТАН»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/>
              </a:rPr>
              <a:t>Эту задачу на национальном уровне решает инициатива Главы государства «Таза Қазақстан».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МЭПР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Общее руководство, определение приоритетов, координация государственных органов и акиматов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Проектный офис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Фонд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Итоги Концепции «Таза Қазақстан» 2024–2029 на сегодня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/>
              </a:rPr>
              <a:t>≈3 млн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отходов собрано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/>
              </a:rPr>
              <a:t>≈3 млн га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территорий очищено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/>
              </a:rPr>
              <a:t>≈5,8 млн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деревьев высажено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/>
              </a:rPr>
              <a:t>6+ млн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участников ежегодно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/>
                <a:cs typeface="Tahoma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/>
                <a:cs typeface="Tahoma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/>
                <a:cs typeface="Tahoma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/>
                <a:cs typeface="Tahoma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/>
                <a:cs typeface="Tahoma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/>
                <a:cs typeface="Tahoma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/>
                <a:cs typeface="Tahoma"/>
              </a:rPr>
              <a:t>САНА</a:t>
            </a:r>
            <a:endParaRPr sz="2400" dirty="0">
              <a:latin typeface="Tahoma"/>
              <a:cs typeface="Tahoma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="" xmlns:a16="http://schemas.microsoft.com/office/drawing/2014/main" id="{A9E08A17-632D-4CB4-9272-13FCE2C6D99E}"/>
              </a:ext>
            </a:extLst>
          </p:cNvPr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="" xmlns:a16="http://schemas.microsoft.com/office/drawing/2014/main" id="{B9F7E88E-6AF6-48B1-A9C9-47781740B336}"/>
              </a:ext>
            </a:extLst>
          </p:cNvPr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/>
                <a:cs typeface="Arial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/>
                <a:cs typeface="Arial"/>
              </a:rPr>
              <a:t>ГГ.</a:t>
            </a:r>
            <a:endParaRPr sz="2000" dirty="0">
              <a:latin typeface="Arial"/>
              <a:cs typeface="Arial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endParaRPr sz="1800" dirty="0">
              <a:latin typeface="Arial"/>
              <a:cs typeface="Arial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направлениям: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/>
                <a:cs typeface="Arial"/>
              </a:rPr>
              <a:t>РЯД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/>
                <a:cs typeface="Arial"/>
              </a:rPr>
              <a:t>Г.</a:t>
            </a:r>
            <a:endParaRPr sz="2000">
              <a:latin typeface="Arial"/>
              <a:cs typeface="Arial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/>
                <a:cs typeface="Arial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/>
                <a:cs typeface="Arial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/>
                <a:cs typeface="Arial"/>
              </a:rPr>
              <a:t>мероприятий,</a:t>
            </a:r>
            <a:endParaRPr sz="1800">
              <a:latin typeface="Arial"/>
              <a:cs typeface="Arial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/>
                <a:cs typeface="Arial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/>
                <a:cs typeface="Arial"/>
              </a:rPr>
              <a:t>мероприятия: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4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поведение</a:t>
            </a:r>
            <a:endParaRPr sz="1800">
              <a:latin typeface="Arial"/>
              <a:cs typeface="Arial"/>
            </a:endParaRPr>
          </a:p>
          <a:p>
            <a:pPr marL="299085" marR="1007744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Экологическое образование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/>
                <a:cs typeface="Arial"/>
              </a:rPr>
              <a:t>и</a:t>
            </a:r>
            <a:endParaRPr sz="1800">
              <a:latin typeface="Arial"/>
              <a:cs typeface="Arial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информ-сопровождение</a:t>
            </a:r>
            <a:endParaRPr sz="180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бұлақ»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қала»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аула»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бейсенбі»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Общенациональные</a:t>
            </a:r>
            <a:endParaRPr sz="1800">
              <a:latin typeface="Arial"/>
              <a:cs typeface="Arial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акции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Қазақстан»</a:t>
            </a:r>
            <a:endParaRPr sz="1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/>
                <a:cs typeface="Arial"/>
              </a:rPr>
              <a:t>РЕАЛИЗАЦИИ</a:t>
            </a:r>
            <a:endParaRPr sz="2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/>
                <a:cs typeface="Arial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Министра</a:t>
            </a:r>
            <a:endParaRPr sz="1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/>
                <a:cs typeface="Arial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/>
                <a:cs typeface="Arial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/>
                <a:cs typeface="Arial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мероприятий</a:t>
            </a:r>
            <a:endParaRPr sz="1800">
              <a:latin typeface="Arial"/>
              <a:cs typeface="Arial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9</a:t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/>
                <a:cs typeface="Arial"/>
              </a:rPr>
              <a:t>праву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проектом,</a:t>
            </a:r>
            <a:endParaRPr sz="1600">
              <a:latin typeface="Arial"/>
              <a:cs typeface="Arial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изменениям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/>
                <a:cs typeface="Arial"/>
              </a:rPr>
              <a:t>Мы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/>
                <a:cs typeface="Arial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общественном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/>
                <a:cs typeface="Arial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необходимым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/>
                <a:cs typeface="Arial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/>
                <a:cs typeface="Arial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/>
                <a:cs typeface="Arial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		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664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/>
                <a:cs typeface="Arial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/>
                <a:cs typeface="Arial"/>
              </a:rPr>
              <a:t>Қазақстан»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ts val="1664"/>
              </a:lnSpc>
            </a:pP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/>
                <a:cs typeface="Arial"/>
              </a:rPr>
              <a:t>года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идеями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Посредством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общенационального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/>
                <a:cs typeface="Arial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вопросам.»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/>
                <a:cs typeface="Arial"/>
              </a:rPr>
              <a:t>Кеңесі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/>
                <a:cs typeface="Arial"/>
              </a:rPr>
              <a:t>года</a:t>
            </a:r>
            <a:endParaRPr sz="1400">
              <a:latin typeface="Arial"/>
              <a:cs typeface="Arial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10</a:t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основой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/>
                <a:cs typeface="Arial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/>
                <a:cs typeface="Arial"/>
              </a:rPr>
              <a:t>идеологии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/>
                <a:cs typeface="Arial"/>
              </a:rPr>
              <a:t>01</a:t>
            </a:r>
            <a:endParaRPr sz="54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2000">
              <a:latin typeface="Arial"/>
              <a:cs typeface="Arial"/>
            </a:endParaRPr>
          </a:p>
          <a:p>
            <a:pPr marL="12700" marR="5080" indent="476884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/>
                <a:cs typeface="Arial"/>
              </a:rPr>
              <a:t>национального</a:t>
            </a:r>
            <a:endParaRPr sz="2000">
              <a:latin typeface="Arial"/>
              <a:cs typeface="Arial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/>
                <a:cs typeface="Arial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/>
                <a:cs typeface="Arial"/>
              </a:rPr>
              <a:t>менталитета</a:t>
            </a:r>
            <a:endParaRPr sz="2000">
              <a:latin typeface="Arial"/>
              <a:cs typeface="Arial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/>
                <a:cs typeface="Arial"/>
              </a:rPr>
              <a:t>02</a:t>
            </a:r>
            <a:endParaRPr sz="540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11</a:t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Институционализация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800">
              <a:latin typeface="Arial"/>
              <a:cs typeface="Arial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центра</a:t>
            </a:r>
            <a:endParaRPr sz="1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59"/>
              </a:spcBef>
            </a:pP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проектов</a:t>
            </a:r>
            <a:endParaRPr sz="1800" dirty="0">
              <a:latin typeface="Arial"/>
              <a:cs typeface="Arial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формирование</a:t>
            </a:r>
            <a:endParaRPr sz="1800" dirty="0">
              <a:latin typeface="Arial"/>
              <a:cs typeface="Arial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800" dirty="0">
              <a:latin typeface="Arial"/>
              <a:cs typeface="Arial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каждого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/>
                <a:cs typeface="Arial"/>
              </a:rPr>
              <a:t>01</a:t>
            </a:r>
            <a:endParaRPr sz="5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гражданина</a:t>
            </a:r>
            <a:endParaRPr sz="18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/>
                <a:cs typeface="Arial"/>
              </a:rPr>
              <a:t>02</a:t>
            </a:r>
            <a:endParaRPr sz="5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59"/>
              </a:spcBef>
            </a:pP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(KPI)</a:t>
            </a:r>
            <a:endParaRPr sz="1800">
              <a:latin typeface="Arial"/>
              <a:cs typeface="Arial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/>
                <a:cs typeface="Arial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управления.</a:t>
            </a:r>
            <a:endParaRPr sz="1800">
              <a:latin typeface="Arial"/>
              <a:cs typeface="Arial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/>
                <a:cs typeface="Arial"/>
              </a:rPr>
              <a:t>03</a:t>
            </a:r>
            <a:endParaRPr sz="5400">
              <a:latin typeface="Arial"/>
              <a:cs typeface="Arial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12</a:t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/>
                <a:cs typeface="Arial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/>
                <a:cs typeface="Arial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аналитика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/>
                <a:cs typeface="Arial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координация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latin typeface="Arial"/>
                <a:cs typeface="Arial"/>
              </a:rPr>
              <a:t>Цифровизация</a:t>
            </a:r>
            <a:r>
              <a:rPr sz="1400" b="1" spc="-5" dirty="0">
                <a:latin typeface="Arial"/>
                <a:cs typeface="Arial"/>
              </a:rPr>
              <a:t> </a:t>
            </a:r>
            <a:r>
              <a:rPr sz="1400" b="1" spc="-50" dirty="0">
                <a:latin typeface="Arial"/>
                <a:cs typeface="Arial"/>
              </a:rPr>
              <a:t>и </a:t>
            </a:r>
            <a:r>
              <a:rPr sz="1400" b="1" dirty="0">
                <a:latin typeface="Arial"/>
                <a:cs typeface="Arial"/>
              </a:rPr>
              <a:t>цифровые</a:t>
            </a:r>
            <a:r>
              <a:rPr sz="1400" b="1" spc="-55" dirty="0">
                <a:latin typeface="Arial"/>
                <a:cs typeface="Arial"/>
              </a:rPr>
              <a:t> </a:t>
            </a:r>
            <a:r>
              <a:rPr sz="1400" b="1" spc="-10" dirty="0">
                <a:latin typeface="Arial"/>
                <a:cs typeface="Arial"/>
              </a:rPr>
              <a:t>решения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 креатив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889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889" algn="l"/>
                <a:tab pos="2065655" algn="l"/>
              </a:tabLst>
            </a:pPr>
            <a:endParaRPr sz="1400" dirty="0">
              <a:latin typeface="Arial"/>
              <a:cs typeface="Arial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Экспертно-методологическое 	сопровождение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портфелем координация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Формирование управление</a:t>
            </a:r>
            <a:endParaRPr sz="1400" dirty="0">
              <a:latin typeface="Arial"/>
              <a:cs typeface="Arial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платформы</a:t>
            </a:r>
            <a:endParaRPr sz="14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автоматизация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endParaRPr sz="14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/>
              <a:cs typeface="Arial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медиапроектов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масштабирование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взаимодействия участниками</a:t>
            </a:r>
            <a:endParaRPr sz="1400" dirty="0">
              <a:latin typeface="Arial"/>
              <a:cs typeface="Arial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Интеграция</a:t>
            </a:r>
            <a:r>
              <a:rPr lang="ru-RU" sz="1400" dirty="0">
                <a:latin typeface="Arial"/>
                <a:cs typeface="Arial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/>
                <a:cs typeface="Arial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/>
                <a:cs typeface="Arial"/>
              </a:rPr>
              <a:t>х систем, AI, GIS и цифрового мониторинга</a:t>
            </a: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практик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регионов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фиксация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органы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endParaRPr sz="1200">
              <a:latin typeface="Arial"/>
              <a:cs typeface="Arial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13</a:t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kern="1200" dirty="0" err="1">
                <a:latin typeface="Segoe UI" panose="020B0502040204020203" pitchFamily="34" charset="0"/>
              </a:rPr>
              <a:t>Өміртай</a:t>
            </a:r>
            <a:r>
              <a:rPr lang="ru-RU" sz="1000" b="1" kern="1200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 С.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 err="1">
                <a:latin typeface="Segoe UI" panose="020B0502040204020203" pitchFamily="34" charset="0"/>
              </a:rPr>
              <a:t>Нурканат</a:t>
            </a:r>
            <a:r>
              <a:rPr lang="ru-RU" sz="1000" b="1" kern="1200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latin typeface="Segoe UI" panose="020B0502040204020203" pitchFamily="34" charset="0"/>
              </a:rPr>
              <a:t>Мирам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 err="1">
                <a:latin typeface="Segoe UI" panose="020B0502040204020203" pitchFamily="34" charset="0"/>
              </a:rPr>
              <a:t>Нуржау</a:t>
            </a:r>
            <a:r>
              <a:rPr lang="ru-RU" sz="1000" b="1" kern="1200" dirty="0">
                <a:latin typeface="Segoe UI" panose="020B0502040204020203" pitchFamily="34" charset="0"/>
              </a:rPr>
              <a:t> М.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/>
                <a:cs typeface="Tahoma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/>
                <a:cs typeface="Tahoma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/>
                <a:cs typeface="Tahoma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/>
                <a:cs typeface="Tahoma"/>
              </a:rPr>
              <a:t>ҚАЗАҚСТАН»</a:t>
            </a:r>
            <a:endParaRPr sz="1950" dirty="0">
              <a:latin typeface="Tahoma"/>
              <a:cs typeface="Tahom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/>
                <a:cs typeface="Arial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/>
                <a:cs typeface="Arial"/>
              </a:rPr>
              <a:t>МӘДЕНИЕТ</a:t>
            </a:r>
            <a:endParaRPr sz="16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барьеров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мекен»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кампании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поведения</a:t>
            </a:r>
            <a:endParaRPr sz="1400">
              <a:latin typeface="Arial"/>
              <a:cs typeface="Arial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использования</a:t>
            </a:r>
            <a:endParaRPr sz="1400">
              <a:latin typeface="Arial"/>
              <a:cs typeface="Arial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креаторами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/>
                <a:cs typeface="Arial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/>
                <a:cs typeface="Arial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/>
                <a:cs typeface="Arial"/>
              </a:rPr>
              <a:t>ЕЛ</a:t>
            </a:r>
            <a:endParaRPr sz="16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endParaRPr sz="1400">
              <a:latin typeface="Arial"/>
              <a:cs typeface="Arial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«Тазалық 	индексі»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Интеллектуальный</a:t>
            </a:r>
            <a:endParaRPr sz="1400">
              <a:latin typeface="Arial"/>
              <a:cs typeface="Arial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мониторинг</a:t>
            </a:r>
            <a:endParaRPr sz="1400">
              <a:latin typeface="Arial"/>
              <a:cs typeface="Arial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общественных 	пространств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/>
                <a:cs typeface="Arial"/>
              </a:rPr>
              <a:t>ТАЗА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/>
                <a:cs typeface="Arial"/>
              </a:rPr>
              <a:t>ҚАЗАҚСТАН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/>
                <a:cs typeface="Arial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/>
                <a:cs typeface="Arial"/>
              </a:rPr>
              <a:t>САНА</a:t>
            </a:r>
            <a:endParaRPr sz="1600">
              <a:latin typeface="Arial"/>
              <a:cs typeface="Arial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Mektep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talqy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/>
                <a:cs typeface="Arial"/>
              </a:rPr>
              <a:t>oi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лагерь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елшісі»</a:t>
            </a:r>
            <a:endParaRPr sz="14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15</a:t>
            </a:fld>
            <a:endParaRPr spc="-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aa-ET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600">
              <a:latin typeface="Arial"/>
              <a:cs typeface="Arial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территорий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общественных</a:t>
            </a:r>
            <a:endParaRPr sz="1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пространств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инструментов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100</a:t>
            </a:r>
            <a:endParaRPr sz="1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Чистота</a:t>
            </a:r>
            <a:endParaRPr sz="1400">
              <a:latin typeface="Arial"/>
              <a:cs typeface="Arial"/>
            </a:endParaRPr>
          </a:p>
          <a:p>
            <a:pPr marL="195580" indent="-182880">
              <a:lnSpc>
                <a:spcPct val="100000"/>
              </a:lnSpc>
              <a:buFont typeface="Segoe UI Symbol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Содержание</a:t>
            </a:r>
            <a:endParaRPr sz="1400">
              <a:latin typeface="Arial"/>
              <a:cs typeface="Arial"/>
            </a:endParaRPr>
          </a:p>
          <a:p>
            <a:pPr marL="195580" indent="-182880">
              <a:lnSpc>
                <a:spcPct val="100000"/>
              </a:lnSpc>
              <a:buFont typeface="Segoe UI Symbol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Озеленение</a:t>
            </a:r>
            <a:endParaRPr sz="1400">
              <a:latin typeface="Arial"/>
              <a:cs typeface="Arial"/>
            </a:endParaRPr>
          </a:p>
          <a:p>
            <a:pPr marL="196215" indent="-183515">
              <a:lnSpc>
                <a:spcPct val="100000"/>
              </a:lnSpc>
              <a:buFont typeface="Segoe UI Symbol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Инфраструктура</a:t>
            </a:r>
            <a:endParaRPr sz="1400">
              <a:latin typeface="Arial"/>
              <a:cs typeface="Arial"/>
            </a:endParaRPr>
          </a:p>
          <a:p>
            <a:pPr marL="195580" indent="-182880">
              <a:lnSpc>
                <a:spcPct val="100000"/>
              </a:lnSpc>
              <a:buFont typeface="Segoe UI Symbol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поведения</a:t>
            </a:r>
            <a:endParaRPr sz="140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04</a:t>
            </a:r>
            <a:endParaRPr sz="1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16</a:t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белгісі»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чистой.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количество территория Формирует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посетителей.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организациям, установленным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чистоты.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самого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8014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или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бизнес-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культуры чистоты.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/>
                <a:cs typeface="Calibri"/>
              </a:rPr>
              <a:t>9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4" name="object 2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17</a:t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мекен»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исследования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1" name="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совместное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общественных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пространств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TAZA.KZ.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территориями.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общественному пространству.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/>
              <a:cs typeface="Arial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поведение.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практик.</a:t>
            </a:r>
            <a:endParaRPr sz="1600">
              <a:latin typeface="Arial"/>
              <a:cs typeface="Arial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/>
                <a:cs typeface="Calibri"/>
              </a:rPr>
              <a:t>18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/>
                <a:cs typeface="Arial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Қазақстан»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/>
                <a:cs typeface="Arial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креаторами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материалов.</a:t>
            </a:r>
            <a:endParaRPr sz="1600">
              <a:latin typeface="Arial"/>
              <a:cs typeface="Arial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площадок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формирование использования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обмена,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использования.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креаторами,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использование.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/>
                <a:cs typeface="Arial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/>
                <a:cs typeface="Arial"/>
              </a:rPr>
              <a:t>алаң»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культуры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культурных,</a:t>
            </a:r>
            <a:endParaRPr sz="16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порядка.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32" name="object 19" descr="$PPTXTitle">
            <a:extLst>
              <a:ext uri="{FF2B5EF4-FFF2-40B4-BE49-F238E27FC236}">
                <a16:creationId xmlns="" xmlns:a16="http://schemas.microsoft.com/office/drawing/2014/main" id="{8D0EAE72-2D75-49B3-B9EC-725B47A5AB80}"/>
              </a:ext>
            </a:extLst>
          </p:cNvPr>
          <p:cNvSpPr txBox="1">
            <a:spLocks/>
          </p:cNvSpPr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Taza</a:t>
            </a:r>
            <a:r>
              <a:rPr sz="1600" b="1" spc="-8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mektep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Внедрение бережного окружающей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стандартов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endParaRPr sz="1600">
              <a:latin typeface="Arial"/>
              <a:cs typeface="Arial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среде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/>
                <a:cs typeface="Arial"/>
              </a:rPr>
              <a:t>Taza</a:t>
            </a:r>
            <a:r>
              <a:rPr sz="1600" b="1" spc="-80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oi</a:t>
            </a:r>
            <a:endParaRPr sz="1600">
              <a:latin typeface="Arial"/>
              <a:cs typeface="Arial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/>
                <a:cs typeface="Arial"/>
              </a:rPr>
              <a:t>Taza</a:t>
            </a:r>
            <a:r>
              <a:rPr sz="1600" b="1" spc="-8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talqy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обмена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/>
                <a:cs typeface="Arial"/>
              </a:rPr>
              <a:t>Молодежный</a:t>
            </a:r>
            <a:r>
              <a:rPr sz="1600" b="1" spc="-6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лагерь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классов.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идеями вопросов культуры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обсуждения экологической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культуре,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решений.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регионах.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среде.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людей,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среды.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заповедников,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лесники, местные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другие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вкладе,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личном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конкретных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пространстве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	</a:t>
            </a:r>
            <a:r>
              <a:rPr sz="2700" b="1" baseline="1543" dirty="0">
                <a:solidFill>
                  <a:srgbClr val="0E2C58"/>
                </a:solidFill>
                <a:latin typeface="Arial"/>
                <a:cs typeface="Arial"/>
              </a:rPr>
              <a:t>Формат</a:t>
            </a:r>
            <a:r>
              <a:rPr sz="2700" b="1" spc="-165" baseline="1543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700" b="1" spc="-15" baseline="1543" dirty="0">
                <a:solidFill>
                  <a:srgbClr val="0E2C58"/>
                </a:solidFill>
                <a:latin typeface="Arial"/>
                <a:cs typeface="Arial"/>
              </a:rPr>
              <a:t>проекта</a:t>
            </a:r>
            <a:endParaRPr sz="2700" baseline="1543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989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повседневных практиках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8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истории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Reels,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героев.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YouTube</a:t>
            </a:r>
            <a:endParaRPr sz="16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59"/>
              </a:spcBef>
            </a:pPr>
            <a:r>
              <a:rPr sz="1800" b="1" spc="-40" dirty="0">
                <a:solidFill>
                  <a:srgbClr val="0E2B58"/>
                </a:solidFill>
                <a:latin typeface="Arial"/>
                <a:cs typeface="Arial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проекта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охвата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7" name="object 2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/>
                <a:cs typeface="Calibri"/>
              </a:rPr>
              <a:t>21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69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/>
                <a:cs typeface="Arial"/>
              </a:rPr>
              <a:t>ФОРМАТЫ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практики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повседневные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/>
                <a:cs typeface="Arial"/>
              </a:rPr>
              <a:t>Документальные фильмы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–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школы,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инициативы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Зелёного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природных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сохранении территорий</a:t>
            </a:r>
            <a:endParaRPr sz="160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видео,</a:t>
            </a:r>
            <a:endParaRPr sz="16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студентов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поведению.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4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РЕЕСТР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проблем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зарегистрироваться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МОНИТОРИНГ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результат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предложения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" name="object 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связь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БИЗНЕСА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инициатив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ГОСОРГАНОВ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аналитика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Мұхамедрахым</a:t>
            </a:r>
            <a:endParaRPr sz="1600">
              <a:latin typeface="Arial"/>
              <a:cs typeface="Arial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блогер</a:t>
            </a:r>
            <a:endParaRPr sz="1400">
              <a:latin typeface="Arial"/>
              <a:cs typeface="Arial"/>
            </a:endParaRPr>
          </a:p>
          <a:p>
            <a:pPr marL="12700" marR="319405" algn="just">
              <a:lnSpc>
                <a:spcPct val="100000"/>
              </a:lnSpc>
              <a:spcBef>
                <a:spcPts val="894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мира»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(каз)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Курарбек</a:t>
            </a:r>
            <a:endParaRPr sz="160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 песен</a:t>
            </a:r>
            <a:endParaRPr sz="1400">
              <a:latin typeface="Arial"/>
              <a:cs typeface="Arial"/>
            </a:endParaRPr>
          </a:p>
          <a:p>
            <a:pPr marL="12700" marR="217170">
              <a:lnSpc>
                <a:spcPct val="100000"/>
              </a:lnSpc>
              <a:spcBef>
                <a:spcPts val="819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участница международного</a:t>
            </a:r>
            <a:endParaRPr sz="1200">
              <a:latin typeface="Arial"/>
              <a:cs typeface="Arial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проекта COLORS</a:t>
            </a:r>
            <a:endParaRPr sz="1200">
              <a:latin typeface="Arial"/>
              <a:cs typeface="Arial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(каз)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Уразбаев</a:t>
            </a:r>
            <a:endParaRPr sz="1600">
              <a:latin typeface="Arial"/>
              <a:cs typeface="Arial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Актер</a:t>
            </a:r>
            <a:endParaRPr sz="14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200">
              <a:latin typeface="Arial"/>
              <a:cs typeface="Arial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аудиторию</a:t>
            </a:r>
            <a:endParaRPr sz="1200">
              <a:latin typeface="Arial"/>
              <a:cs typeface="Arial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endParaRPr sz="1200">
              <a:latin typeface="Arial"/>
              <a:cs typeface="Arial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295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/>
                <a:cs typeface="Arial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Блогер</a:t>
            </a:r>
            <a:endParaRPr sz="1600">
              <a:latin typeface="Arial"/>
              <a:cs typeface="Arial"/>
            </a:endParaRPr>
          </a:p>
          <a:p>
            <a:pPr marL="29209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саморазвитии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/>
                <a:cs typeface="Arial"/>
              </a:rPr>
              <a:t>Ашим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Документалист</a:t>
            </a:r>
            <a:endParaRPr sz="1400">
              <a:latin typeface="Arial"/>
              <a:cs typeface="Arial"/>
            </a:endParaRPr>
          </a:p>
          <a:p>
            <a:pPr marL="12700" marR="435609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наследия</a:t>
            </a:r>
            <a:endParaRPr sz="12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современный медиаконтент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Жарасова</a:t>
            </a:r>
            <a:endParaRPr sz="1600">
              <a:latin typeface="Arial"/>
              <a:cs typeface="Arial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Блогер</a:t>
            </a:r>
            <a:endParaRPr sz="1400">
              <a:latin typeface="Arial"/>
              <a:cs typeface="Arial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200">
              <a:latin typeface="Arial"/>
              <a:cs typeface="Arial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контента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8" name="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 подписчиков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(каз)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ПОТРЕБНОСТЬ В ФИНАНСИРОВАНИИ ПРОЕКТНОГО ОФИСА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Статья, млн ₸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Октябрь–ноябрь 2026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Декабрь 2026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Итого 2026</a:t>
                      </a: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Январь 2027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Февраль 2027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Численность, чел.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1. Оплата труда и отчисления, аутсорс, командировки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65,7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46,4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112,1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44,6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26,5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34,8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3. Ивенты, социологические исследования и другие проекты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70,1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29,1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4. Резерв 10%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5. НДС 16%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17,1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ВСЕГО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153,8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98,6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252,4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92,0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/>
              </a:rPr>
              <a:t>252,4 млн 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октябрь–декабрь 2026 года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/>
              </a:rPr>
              <a:t>161,1 млн 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январь–февраль 2027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/>
              </a:rPr>
              <a:t>22 → 30 чел.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команда к февралю 2027 года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ЧТО ВХОДИТ В БЮДЖЕТ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Октябрь–ноябрь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/>
              </a:rPr>
              <a:t>153,8 млн 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Запуск офиса: аренда с 21 октября, гарантийный депозит, оснащение рабочих мест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Команда 22 человека, страхование работников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Презентация Проектного офиса, старт TAZA TALQY, креативных проектов, информационного сопровождения, социологического исследования и цифровой платформы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Декабрь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/>
              </a:rPr>
              <a:t>98,6 млн 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Текущие расходы офиса и команды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Команда 23 человека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Вторая часть закупок: оборудование зала совещаний, вывеска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Продолжение проектов, завершение социологического исследования и первого этапа цифровой платформы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Январь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/>
              </a:rPr>
              <a:t>69,1 млн 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Ежемесячные расходы: оплата труда, аутсорс, аренда, подписки, командировки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Январская часть TAZA TALQY, креативных проектов и информационного сопровождения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Февраль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/>
              </a:rPr>
              <a:t>92,0 млн 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0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Приход ещё 7 сотрудников, команда 30 человек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Докупка рабочих мест: 5 столов, 6 кресел, лицензии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Проекты – по среднемесячной оценке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/>
              </a:rPr>
              <a:t>СПАСИБО 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/>
              </a:rPr>
              <a:t>Центрально-Азиатский климатический фонд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/>
              </a:rPr>
              <a:t>Астана, пр. Мәңгілік Ел, 11/1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/>
              </a:rPr>
              <a:t>office@caclimate.fund · caclimate.fund · +7 708 345 7971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Words>2684</Words>
  <Application>Microsoft Office PowerPoint</Application>
  <PresentationFormat>Широкоэкранный</PresentationFormat>
  <Paragraphs>601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Segoe UI</vt:lpstr>
      <vt:lpstr>Segoe UI Symbol</vt:lpstr>
      <vt:lpstr>Tahoma</vt:lpstr>
      <vt:lpstr>Office Theme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Презентация PowerPoint</vt:lpstr>
      <vt:lpstr>Презентация PowerPoint</vt:lpstr>
      <vt:lpstr>НАЦИОНАЛЬНЫЙ ПРОЕКТНЫЙ ОФИС «ТАЗА ҚАЗАҚСТАН»</vt:lpstr>
      <vt:lpstr>Презентация PowerPoint</vt:lpstr>
      <vt:lpstr>Презентация PowerPoint</vt:lpstr>
      <vt:lpstr>ТА3А ЕЛ – НАЦИОНАЛЬНЫЙ СТАНДАРТ ЧИСТОТЫ</vt:lpstr>
      <vt:lpstr>НАПРАВЛЕНИЕ «ТА3А ЕЛ»</vt:lpstr>
      <vt:lpstr>НАПРАВЛЕНИЕ «ЖАҢА МӘДЕНИЕТ»</vt:lpstr>
      <vt:lpstr>Презентация PowerPoint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  <Company>CACF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Учетная запись Майкрософт</cp:lastModifiedBy>
  <cp:revision>4</cp:revision>
  <dcterms:created xsi:type="dcterms:W3CDTF">2026-10-10T04:54:36Z</dcterms:created>
  <dcterms:modified xsi:type="dcterms:W3CDTF">2026-10-28T11:29:12Z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2026-10-10T00:00:00Z</vt:filetime>
  </property>
  <property fmtid="{D5CDD505-2E9C-101B-9397-08002B2CF9AE}" pid="6" name="Producer">
    <vt:lpwstr>Microsoft® PowerPoint® 2016</vt:lpwstr>
  </property>
</Properties>
</file>