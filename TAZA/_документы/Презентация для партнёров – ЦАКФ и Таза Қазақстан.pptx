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sldIdLst>
    <p:sldId id="272" r:id="rId4"/>
    <p:sldId id="273" r:id="rId5"/>
    <p:sldId id="274" r:id="rId6"/>
    <p:sldId id="275" r:id="rId7"/>
    <p:sldId id="276" r:id="rId8"/>
    <p:sldId id="277" r:id="rId9"/>
    <p:sldId id="283" r:id="rId34"/>
    <p:sldId id="278" r:id="rId10"/>
    <p:sldId id="256" r:id="rId11"/>
    <p:sldId id="257" r:id="rId12"/>
    <p:sldId id="258" r:id="rId13"/>
    <p:sldId id="259" r:id="rId14"/>
    <p:sldId id="260" r:id="rId15"/>
    <p:sldId id="261" r:id="rId16"/>
    <p:sldId id="282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9" r:id="rId28"/>
    <p:sldId id="280" r:id="rId29"/>
    <p:sldId id="281" r:id="rId3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91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C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12" d="100"/>
          <a:sy n="112" d="100"/>
        </p:scale>
        <p:origin x="516" y="-84"/>
      </p:cViewPr>
      <p:guideLst>
        <p:guide orient="horz" pos="2891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ableStyles" Target="tableStyles.xml"/><Relationship Id="rId34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2856" y="0"/>
                </a:lnTo>
                <a:lnTo>
                  <a:pt x="9144" y="0"/>
                </a:lnTo>
                <a:lnTo>
                  <a:pt x="0" y="0"/>
                </a:lnTo>
                <a:lnTo>
                  <a:pt x="0" y="9144"/>
                </a:lnTo>
                <a:lnTo>
                  <a:pt x="0" y="6858000"/>
                </a:lnTo>
                <a:lnTo>
                  <a:pt x="9144" y="6858000"/>
                </a:lnTo>
                <a:lnTo>
                  <a:pt x="9144" y="9144"/>
                </a:lnTo>
                <a:lnTo>
                  <a:pt x="12182856" y="9144"/>
                </a:lnTo>
                <a:lnTo>
                  <a:pt x="12182856" y="6858000"/>
                </a:lnTo>
                <a:lnTo>
                  <a:pt x="12191987" y="6858000"/>
                </a:lnTo>
                <a:lnTo>
                  <a:pt x="12191987" y="91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1E8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505455" y="3901440"/>
            <a:ext cx="6981825" cy="722630"/>
          </a:xfrm>
          <a:custGeom>
            <a:avLst/>
            <a:gdLst/>
            <a:ahLst/>
            <a:cxnLst/>
            <a:rect l="l" t="t" r="r" b="b"/>
            <a:pathLst>
              <a:path w="6981825" h="722629">
                <a:moveTo>
                  <a:pt x="6620256" y="0"/>
                </a:moveTo>
                <a:lnTo>
                  <a:pt x="361188" y="0"/>
                </a:lnTo>
                <a:lnTo>
                  <a:pt x="312168" y="3296"/>
                </a:lnTo>
                <a:lnTo>
                  <a:pt x="265156" y="12899"/>
                </a:lnTo>
                <a:lnTo>
                  <a:pt x="220581" y="28378"/>
                </a:lnTo>
                <a:lnTo>
                  <a:pt x="178872" y="49304"/>
                </a:lnTo>
                <a:lnTo>
                  <a:pt x="140460" y="75246"/>
                </a:lnTo>
                <a:lnTo>
                  <a:pt x="105775" y="105775"/>
                </a:lnTo>
                <a:lnTo>
                  <a:pt x="75246" y="140460"/>
                </a:lnTo>
                <a:lnTo>
                  <a:pt x="49304" y="178872"/>
                </a:lnTo>
                <a:lnTo>
                  <a:pt x="28378" y="220581"/>
                </a:lnTo>
                <a:lnTo>
                  <a:pt x="12899" y="265156"/>
                </a:lnTo>
                <a:lnTo>
                  <a:pt x="3296" y="312168"/>
                </a:lnTo>
                <a:lnTo>
                  <a:pt x="0" y="361188"/>
                </a:lnTo>
                <a:lnTo>
                  <a:pt x="3296" y="410207"/>
                </a:lnTo>
                <a:lnTo>
                  <a:pt x="12899" y="457219"/>
                </a:lnTo>
                <a:lnTo>
                  <a:pt x="28378" y="501794"/>
                </a:lnTo>
                <a:lnTo>
                  <a:pt x="49304" y="543503"/>
                </a:lnTo>
                <a:lnTo>
                  <a:pt x="75246" y="581915"/>
                </a:lnTo>
                <a:lnTo>
                  <a:pt x="105775" y="616600"/>
                </a:lnTo>
                <a:lnTo>
                  <a:pt x="140460" y="647129"/>
                </a:lnTo>
                <a:lnTo>
                  <a:pt x="178872" y="673071"/>
                </a:lnTo>
                <a:lnTo>
                  <a:pt x="220581" y="693997"/>
                </a:lnTo>
                <a:lnTo>
                  <a:pt x="265156" y="709476"/>
                </a:lnTo>
                <a:lnTo>
                  <a:pt x="312168" y="719079"/>
                </a:lnTo>
                <a:lnTo>
                  <a:pt x="361188" y="722376"/>
                </a:lnTo>
                <a:lnTo>
                  <a:pt x="6620256" y="722376"/>
                </a:lnTo>
                <a:lnTo>
                  <a:pt x="6669275" y="719079"/>
                </a:lnTo>
                <a:lnTo>
                  <a:pt x="6716287" y="709476"/>
                </a:lnTo>
                <a:lnTo>
                  <a:pt x="6760862" y="693997"/>
                </a:lnTo>
                <a:lnTo>
                  <a:pt x="6802571" y="673071"/>
                </a:lnTo>
                <a:lnTo>
                  <a:pt x="6840983" y="647129"/>
                </a:lnTo>
                <a:lnTo>
                  <a:pt x="6875668" y="616600"/>
                </a:lnTo>
                <a:lnTo>
                  <a:pt x="6906197" y="581915"/>
                </a:lnTo>
                <a:lnTo>
                  <a:pt x="6932139" y="543503"/>
                </a:lnTo>
                <a:lnTo>
                  <a:pt x="6953065" y="501794"/>
                </a:lnTo>
                <a:lnTo>
                  <a:pt x="6968544" y="457219"/>
                </a:lnTo>
                <a:lnTo>
                  <a:pt x="6978147" y="410207"/>
                </a:lnTo>
                <a:lnTo>
                  <a:pt x="6981444" y="361188"/>
                </a:lnTo>
                <a:lnTo>
                  <a:pt x="6978147" y="312168"/>
                </a:lnTo>
                <a:lnTo>
                  <a:pt x="6968544" y="265156"/>
                </a:lnTo>
                <a:lnTo>
                  <a:pt x="6953065" y="220581"/>
                </a:lnTo>
                <a:lnTo>
                  <a:pt x="6932139" y="178872"/>
                </a:lnTo>
                <a:lnTo>
                  <a:pt x="6906197" y="140460"/>
                </a:lnTo>
                <a:lnTo>
                  <a:pt x="6875668" y="105775"/>
                </a:lnTo>
                <a:lnTo>
                  <a:pt x="6840983" y="75246"/>
                </a:lnTo>
                <a:lnTo>
                  <a:pt x="6802571" y="49304"/>
                </a:lnTo>
                <a:lnTo>
                  <a:pt x="6760862" y="28378"/>
                </a:lnTo>
                <a:lnTo>
                  <a:pt x="6716287" y="12899"/>
                </a:lnTo>
                <a:lnTo>
                  <a:pt x="6669275" y="3296"/>
                </a:lnTo>
                <a:lnTo>
                  <a:pt x="6620256" y="0"/>
                </a:lnTo>
                <a:close/>
              </a:path>
            </a:pathLst>
          </a:custGeom>
          <a:solidFill>
            <a:srgbClr val="F0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505455" y="3901440"/>
            <a:ext cx="6981825" cy="722630"/>
          </a:xfrm>
          <a:custGeom>
            <a:avLst/>
            <a:gdLst/>
            <a:ahLst/>
            <a:cxnLst/>
            <a:rect l="l" t="t" r="r" b="b"/>
            <a:pathLst>
              <a:path w="6981825" h="722629">
                <a:moveTo>
                  <a:pt x="0" y="361188"/>
                </a:moveTo>
                <a:lnTo>
                  <a:pt x="3296" y="312168"/>
                </a:lnTo>
                <a:lnTo>
                  <a:pt x="12899" y="265156"/>
                </a:lnTo>
                <a:lnTo>
                  <a:pt x="28378" y="220581"/>
                </a:lnTo>
                <a:lnTo>
                  <a:pt x="49304" y="178872"/>
                </a:lnTo>
                <a:lnTo>
                  <a:pt x="75246" y="140460"/>
                </a:lnTo>
                <a:lnTo>
                  <a:pt x="105775" y="105775"/>
                </a:lnTo>
                <a:lnTo>
                  <a:pt x="140460" y="75246"/>
                </a:lnTo>
                <a:lnTo>
                  <a:pt x="178872" y="49304"/>
                </a:lnTo>
                <a:lnTo>
                  <a:pt x="220581" y="28378"/>
                </a:lnTo>
                <a:lnTo>
                  <a:pt x="265156" y="12899"/>
                </a:lnTo>
                <a:lnTo>
                  <a:pt x="312168" y="3296"/>
                </a:lnTo>
                <a:lnTo>
                  <a:pt x="361188" y="0"/>
                </a:lnTo>
                <a:lnTo>
                  <a:pt x="6620256" y="0"/>
                </a:lnTo>
                <a:lnTo>
                  <a:pt x="6669275" y="3296"/>
                </a:lnTo>
                <a:lnTo>
                  <a:pt x="6716287" y="12899"/>
                </a:lnTo>
                <a:lnTo>
                  <a:pt x="6760862" y="28378"/>
                </a:lnTo>
                <a:lnTo>
                  <a:pt x="6802571" y="49304"/>
                </a:lnTo>
                <a:lnTo>
                  <a:pt x="6840983" y="75246"/>
                </a:lnTo>
                <a:lnTo>
                  <a:pt x="6875668" y="105775"/>
                </a:lnTo>
                <a:lnTo>
                  <a:pt x="6906197" y="140460"/>
                </a:lnTo>
                <a:lnTo>
                  <a:pt x="6932139" y="178872"/>
                </a:lnTo>
                <a:lnTo>
                  <a:pt x="6953065" y="220581"/>
                </a:lnTo>
                <a:lnTo>
                  <a:pt x="6968544" y="265156"/>
                </a:lnTo>
                <a:lnTo>
                  <a:pt x="6978147" y="312168"/>
                </a:lnTo>
                <a:lnTo>
                  <a:pt x="6981444" y="361188"/>
                </a:lnTo>
                <a:lnTo>
                  <a:pt x="6978147" y="410207"/>
                </a:lnTo>
                <a:lnTo>
                  <a:pt x="6968544" y="457219"/>
                </a:lnTo>
                <a:lnTo>
                  <a:pt x="6953065" y="501794"/>
                </a:lnTo>
                <a:lnTo>
                  <a:pt x="6932139" y="543503"/>
                </a:lnTo>
                <a:lnTo>
                  <a:pt x="6906197" y="581915"/>
                </a:lnTo>
                <a:lnTo>
                  <a:pt x="6875668" y="616600"/>
                </a:lnTo>
                <a:lnTo>
                  <a:pt x="6840983" y="647129"/>
                </a:lnTo>
                <a:lnTo>
                  <a:pt x="6802571" y="673071"/>
                </a:lnTo>
                <a:lnTo>
                  <a:pt x="6760862" y="693997"/>
                </a:lnTo>
                <a:lnTo>
                  <a:pt x="6716287" y="709476"/>
                </a:lnTo>
                <a:lnTo>
                  <a:pt x="6669275" y="719079"/>
                </a:lnTo>
                <a:lnTo>
                  <a:pt x="6620256" y="722376"/>
                </a:lnTo>
                <a:lnTo>
                  <a:pt x="361188" y="722376"/>
                </a:lnTo>
                <a:lnTo>
                  <a:pt x="312168" y="719079"/>
                </a:lnTo>
                <a:lnTo>
                  <a:pt x="265156" y="709476"/>
                </a:lnTo>
                <a:lnTo>
                  <a:pt x="220581" y="693997"/>
                </a:lnTo>
                <a:lnTo>
                  <a:pt x="178872" y="673071"/>
                </a:lnTo>
                <a:lnTo>
                  <a:pt x="140460" y="647129"/>
                </a:lnTo>
                <a:lnTo>
                  <a:pt x="105775" y="616600"/>
                </a:lnTo>
                <a:lnTo>
                  <a:pt x="75246" y="581915"/>
                </a:lnTo>
                <a:lnTo>
                  <a:pt x="49304" y="543503"/>
                </a:lnTo>
                <a:lnTo>
                  <a:pt x="28378" y="501794"/>
                </a:lnTo>
                <a:lnTo>
                  <a:pt x="12899" y="457219"/>
                </a:lnTo>
                <a:lnTo>
                  <a:pt x="3296" y="410207"/>
                </a:lnTo>
                <a:lnTo>
                  <a:pt x="0" y="361188"/>
                </a:lnTo>
                <a:close/>
              </a:path>
            </a:pathLst>
          </a:custGeom>
          <a:ln w="9144">
            <a:solidFill>
              <a:srgbClr val="CAD4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98575" y="2865882"/>
            <a:ext cx="9535160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900" y="434162"/>
            <a:ext cx="10138282" cy="778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12396" y="6593535"/>
            <a:ext cx="415290" cy="186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Relationship Id="rId12" Type="http://schemas.openxmlformats.org/officeDocument/2006/relationships/tags" Target="../tags/tag11.xml"/><Relationship Id="rId13" Type="http://schemas.openxmlformats.org/officeDocument/2006/relationships/tags" Target="../tags/tag12.xml"/><Relationship Id="rId14" Type="http://schemas.openxmlformats.org/officeDocument/2006/relationships/tags" Target="../tags/tag13.xml"/><Relationship Id="rId15" Type="http://schemas.openxmlformats.org/officeDocument/2006/relationships/tags" Target="../tags/tag14.xml"/><Relationship Id="rId16" Type="http://schemas.openxmlformats.org/officeDocument/2006/relationships/tags" Target="../tags/tag15.xml"/><Relationship Id="rId17" Type="http://schemas.openxmlformats.org/officeDocument/2006/relationships/tags" Target="../tags/tag16.xml"/><Relationship Id="rId18" Type="http://schemas.openxmlformats.org/officeDocument/2006/relationships/tags" Target="../tags/tag17.xml"/><Relationship Id="rId19" Type="http://schemas.openxmlformats.org/officeDocument/2006/relationships/image" Target="../media/image3.png"/><Relationship Id="rId20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jpeg"/><Relationship Id="rId5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jpeg"/><Relationship Id="rId3" Type="http://schemas.openxmlformats.org/officeDocument/2006/relationships/image" Target="../media/image21.jpeg"/><Relationship Id="rId4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image" Target="../media/image27.jpe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jpeg"/><Relationship Id="rId2" Type="http://schemas.openxmlformats.org/officeDocument/2006/relationships/image" Target="../media/image34.jpeg"/><Relationship Id="rId3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tags" Target="../tags/tag28.xml"/><Relationship Id="rId13" Type="http://schemas.openxmlformats.org/officeDocument/2006/relationships/tags" Target="../tags/tag29.xml"/><Relationship Id="rId14" Type="http://schemas.openxmlformats.org/officeDocument/2006/relationships/tags" Target="../tags/tag30.xml"/><Relationship Id="rId15" Type="http://schemas.openxmlformats.org/officeDocument/2006/relationships/tags" Target="../tags/tag31.xml"/><Relationship Id="rId16" Type="http://schemas.openxmlformats.org/officeDocument/2006/relationships/tags" Target="../tags/tag32.xml"/><Relationship Id="rId17" Type="http://schemas.openxmlformats.org/officeDocument/2006/relationships/tags" Target="../tags/tag33.xml"/><Relationship Id="rId18" Type="http://schemas.openxmlformats.org/officeDocument/2006/relationships/tags" Target="../tags/tag34.xml"/><Relationship Id="rId19" Type="http://schemas.openxmlformats.org/officeDocument/2006/relationships/tags" Target="../tags/tag35.xml"/><Relationship Id="rId20" Type="http://schemas.openxmlformats.org/officeDocument/2006/relationships/tags" Target="../tags/tag36.xml"/><Relationship Id="rId21" Type="http://schemas.openxmlformats.org/officeDocument/2006/relationships/tags" Target="../tags/tag37.xml"/><Relationship Id="rId22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_s01_a1a615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1999" y="827999"/>
            <a:ext cx="2664000" cy="89751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612000"/>
            <a:ext cx="1404000" cy="126439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72000" y="827999"/>
            <a:ext cx="14400" cy="900000"/>
          </a:xfrm>
          <a:prstGeom prst="rect">
            <a:avLst/>
          </a:prstGeom>
          <a:solidFill>
            <a:srgbClr val="C8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2736000"/>
            <a:ext cx="11124000" cy="93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400" b="1">
                <a:solidFill>
                  <a:srgbClr val="0E2C58"/>
                </a:solidFill>
                <a:latin typeface="Tahoma" panose="020B0604030504040204"/>
              </a:rPr>
              <a:t>ПРОЕКТНЫЙ ОФИС «ТАЗА ҚАЗАҚСТАН»</a:t>
            </a:r>
            <a:endParaRPr sz="2400" b="1">
              <a:solidFill>
                <a:srgbClr val="0E2C58"/>
              </a:solidFill>
              <a:latin typeface="Tahoma" panose="020B0604030504040204"/>
            </a:endParaRPr>
          </a:p>
          <a:p>
            <a:pPr algn="ctr"/>
            <a:r>
              <a:rPr sz="2400" b="1">
                <a:solidFill>
                  <a:srgbClr val="0E2C58"/>
                </a:solidFill>
                <a:latin typeface="Tahoma" panose="020B0604030504040204"/>
              </a:rPr>
              <a:t>НА БАЗЕ ЦЕНТРАЛЬНО-АЗИАТСКОГО КЛИМАТИЧЕСКОГО ФОНДА</a:t>
            </a:r>
            <a:endParaRPr sz="2400" b="1">
              <a:solidFill>
                <a:srgbClr val="0E2C58"/>
              </a:solidFill>
              <a:latin typeface="Tahoma" panose="020B060403050404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0000" y="5616000"/>
            <a:ext cx="107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Астана, 2026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503999"/>
            <a:ext cx="9540000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100" b="1">
                <a:solidFill>
                  <a:srgbClr val="0E2C58"/>
                </a:solidFill>
                <a:latin typeface="Tahoma" panose="020B0604030504040204"/>
              </a:rPr>
              <a:t>ЦЕНТРАЛЬНО-АЗИАТСКИЙ КЛИМАТИЧЕСКИЙ ФОНД</a:t>
            </a:r>
            <a:endParaRPr sz="2100" b="1">
              <a:solidFill>
                <a:srgbClr val="0E2C58"/>
              </a:solidFill>
              <a:latin typeface="Tahoma" panose="020B0604030504040204"/>
            </a:endParaRPr>
          </a:p>
        </p:txBody>
      </p:sp>
      <p:pic>
        <p:nvPicPr>
          <p:cNvPr id="3" name="Picture 2" descr="fond_s01_a1a615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6000" y="432000"/>
            <a:ext cx="1800000" cy="6064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6000" y="1655999"/>
            <a:ext cx="413999" cy="324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655999"/>
            <a:ext cx="413999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01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2000" y="1620000"/>
            <a:ext cx="5616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Создан 22 февраля 2024 года </a:t>
            </a:r>
            <a:r>
              <a:rPr sz="1500" b="0">
                <a:solidFill>
                  <a:srgbClr val="465469"/>
                </a:solidFill>
                <a:latin typeface="Arial" panose="020B0604020202020204"/>
              </a:rPr>
              <a:t>по инициативе Главы государства Касым-Жомарта Токаева, озвученной на 78-й сессии Генеральной Ассамблеи ООН.</a:t>
            </a:r>
            <a:endParaRPr sz="15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6000" y="2646000"/>
            <a:ext cx="413999" cy="324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2646000"/>
            <a:ext cx="413999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02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2000" y="2610000"/>
            <a:ext cx="5616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Юридическая форма Проектного офиса для Центральной Азии </a:t>
            </a:r>
            <a:r>
              <a:rPr sz="1500" b="0">
                <a:solidFill>
                  <a:srgbClr val="465469"/>
                </a:solidFill>
                <a:latin typeface="Arial" panose="020B0604020202020204"/>
              </a:rPr>
              <a:t>по изменению климата и зелёной энергетике.</a:t>
            </a:r>
            <a:endParaRPr sz="15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6000" y="3636000"/>
            <a:ext cx="413999" cy="3240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3636000"/>
            <a:ext cx="413999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03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52000" y="3600000"/>
            <a:ext cx="5616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Самостоятельная международная организация </a:t>
            </a:r>
            <a:r>
              <a:rPr sz="1500" b="0">
                <a:solidFill>
                  <a:srgbClr val="465469"/>
                </a:solidFill>
                <a:latin typeface="Arial" panose="020B0604020202020204"/>
              </a:rPr>
              <a:t>в юрисдикции Международного финансового центра «Астана»: английское право и международные стандарты управления.</a:t>
            </a:r>
            <a:endParaRPr sz="15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6000" y="4626000"/>
            <a:ext cx="413999" cy="324000"/>
          </a:xfrm>
          <a:prstGeom prst="rect">
            <a:avLst/>
          </a:prstGeom>
          <a:solidFill>
            <a:srgbClr val="01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4626000"/>
            <a:ext cx="413999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04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52000" y="4590000"/>
            <a:ext cx="5616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Региональные проекты </a:t>
            </a:r>
            <a:r>
              <a:rPr sz="1500" b="0">
                <a:solidFill>
                  <a:srgbClr val="465469"/>
                </a:solidFill>
                <a:latin typeface="Arial" panose="020B0604020202020204"/>
              </a:rPr>
              <a:t>в области изменения климата, устойчивого развития, зелёной энергетики и охраны окружающей среды совместно с государственными органами, международными организациями, бизнесом и научным сообществом.</a:t>
            </a:r>
            <a:endParaRPr sz="15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128000" y="1655999"/>
            <a:ext cx="4536000" cy="2664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28000" y="1655999"/>
            <a:ext cx="43200" cy="2664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3999" y="1764000"/>
            <a:ext cx="4176000" cy="187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>
                <a:solidFill>
                  <a:srgbClr val="0E2C58"/>
                </a:solidFill>
                <a:latin typeface="Arial" panose="020B0604020202020204"/>
              </a:rPr>
              <a:t>«Инициатива Казахстана по открытию Проектного офиса для Центральной Азии по изменению климата и зелёной энергетики может способствовать решению этих вопросов…»</a:t>
            </a:r>
            <a:endParaRPr sz="1500" b="0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3999" y="3671999"/>
            <a:ext cx="4176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465469"/>
                </a:solidFill>
                <a:latin typeface="Arial" panose="020B0604020202020204"/>
              </a:rPr>
              <a:t>Президент Республики Казахстан К.-Ж. Токаев</a:t>
            </a:r>
            <a:endParaRPr sz="1200" b="1">
              <a:solidFill>
                <a:srgbClr val="465469"/>
              </a:solidFill>
              <a:latin typeface="Arial" panose="020B0604020202020204"/>
            </a:endParaRPr>
          </a:p>
          <a:p>
            <a:pPr algn="l"/>
            <a:r>
              <a:rPr sz="1200" b="0">
                <a:solidFill>
                  <a:srgbClr val="465469"/>
                </a:solidFill>
                <a:latin typeface="Arial" panose="020B0604020202020204"/>
              </a:rPr>
              <a:t>78-я сессия Генеральной Ассамблеи ООН, Нью-Йорк, 2023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28000" y="4536000"/>
            <a:ext cx="144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E2C58"/>
                </a:solidFill>
                <a:latin typeface="Tahoma" panose="020B0604030504040204"/>
              </a:rPr>
              <a:t>2024</a:t>
            </a:r>
            <a:endParaRPr sz="2200" b="1">
              <a:solidFill>
                <a:srgbClr val="0E2C58"/>
              </a:solidFill>
              <a:latin typeface="Tahoma" panose="020B060403050404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28000" y="4932000"/>
            <a:ext cx="144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65469"/>
                </a:solidFill>
                <a:latin typeface="Arial" panose="020B0604020202020204"/>
              </a:rPr>
              <a:t>регистрация в МФЦА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76000" y="4536000"/>
            <a:ext cx="144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A895"/>
                </a:solidFill>
                <a:latin typeface="Tahoma" panose="020B0604030504040204"/>
              </a:rPr>
              <a:t>2025</a:t>
            </a:r>
            <a:endParaRPr sz="2200" b="1">
              <a:solidFill>
                <a:srgbClr val="00A895"/>
              </a:solidFill>
              <a:latin typeface="Tahoma" panose="020B060403050404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76000" y="4932000"/>
            <a:ext cx="144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65469"/>
                </a:solidFill>
                <a:latin typeface="Arial" panose="020B0604020202020204"/>
              </a:rPr>
              <a:t>положительное аудиторское заключение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 panose="020B0604020202020204"/>
              </a:rPr>
              <a:t>2</a:t>
            </a:r>
            <a:endParaRPr sz="900">
              <a:solidFill>
                <a:srgbClr val="80808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503999"/>
            <a:ext cx="9540000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100" b="1">
                <a:solidFill>
                  <a:srgbClr val="0E2C58"/>
                </a:solidFill>
                <a:latin typeface="Tahoma" panose="020B0604030504040204"/>
              </a:rPr>
              <a:t>СТРУКТУРА ФОНДА</a:t>
            </a:r>
            <a:endParaRPr sz="2100" b="1">
              <a:solidFill>
                <a:srgbClr val="0E2C58"/>
              </a:solidFill>
              <a:latin typeface="Tahoma" panose="020B0604030504040204"/>
            </a:endParaRPr>
          </a:p>
        </p:txBody>
      </p:sp>
      <p:pic>
        <p:nvPicPr>
          <p:cNvPr id="3" name="Picture 2" descr="fond_s01_a1a615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6000" y="432000"/>
            <a:ext cx="1800000" cy="60643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84000" y="1404000"/>
            <a:ext cx="3636000" cy="360000"/>
          </a:xfrm>
          <a:prstGeom prst="roundRect">
            <a:avLst>
              <a:gd name="adj" fmla="val 6000"/>
            </a:avLst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4000" y="1404000"/>
            <a:ext cx="3636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Верховный попечитель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83999" y="1764000"/>
            <a:ext cx="18000" cy="216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84000" y="1980000"/>
            <a:ext cx="3636000" cy="540000"/>
          </a:xfrm>
          <a:prstGeom prst="roundRect">
            <a:avLst>
              <a:gd name="adj" fmla="val 6000"/>
            </a:avLst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4000" y="1980000"/>
            <a:ext cx="3636000" cy="54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Главный исполнительный директор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1400" b="0">
                <a:solidFill>
                  <a:srgbClr val="FFFFFF"/>
                </a:solidFill>
                <a:latin typeface="Arial" panose="020B0604020202020204"/>
              </a:rPr>
              <a:t>Председатель Управляющего совета</a:t>
            </a:r>
            <a:endParaRPr sz="14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83999" y="2520000"/>
            <a:ext cx="18000" cy="216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0000" y="2736000"/>
            <a:ext cx="8604000" cy="18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00000" y="2736000"/>
            <a:ext cx="18000" cy="216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0000" y="2951999"/>
            <a:ext cx="2646000" cy="2880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2951999"/>
            <a:ext cx="2646000" cy="432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000" y="3077999"/>
            <a:ext cx="2394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E2C58"/>
                </a:solidFill>
                <a:latin typeface="Arial" panose="020B0604020202020204"/>
              </a:rPr>
              <a:t>Проектный офис для Центральной Азии по изменению климата и зелёной энергетике</a:t>
            </a:r>
            <a:endParaRPr sz="14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6000" y="4014000"/>
            <a:ext cx="2394000" cy="17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региональные климатические проекты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климатическая политика и сотрудничество стран ЦА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ESG, аналитика и оценка рисков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626000" y="2736000"/>
            <a:ext cx="18000" cy="216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66000" y="2951999"/>
            <a:ext cx="2646000" cy="2880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6000" y="2951999"/>
            <a:ext cx="2646000" cy="432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1999" y="3077999"/>
            <a:ext cx="2394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E2C58"/>
                </a:solidFill>
                <a:latin typeface="Arial" panose="020B0604020202020204"/>
              </a:rPr>
              <a:t>Проектный офис «Таза Қазақстан»</a:t>
            </a:r>
            <a:endParaRPr sz="14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91999" y="4014000"/>
            <a:ext cx="2394000" cy="17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социология и аналитика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проектное управление и региональная координация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цифровое развитие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коммуникация и креатив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366000" y="2951999"/>
            <a:ext cx="2646000" cy="2880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00A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000" y="2736000"/>
            <a:ext cx="18000" cy="216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2000" y="2951999"/>
            <a:ext cx="2646000" cy="2880000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2000" y="2951999"/>
            <a:ext cx="2646000" cy="432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000" y="3077999"/>
            <a:ext cx="2394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E2C58"/>
                </a:solidFill>
                <a:latin typeface="Arial" panose="020B0604020202020204"/>
              </a:rPr>
              <a:t>Сеть экспертов Центральной Азии+</a:t>
            </a:r>
            <a:endParaRPr sz="14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18000" y="4014000"/>
            <a:ext cx="2394000" cy="17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экспертно-аналитическое сопровождение климатической, экологической и энергетической повестки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заключения и рекомендации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0277999" y="2736000"/>
            <a:ext cx="18000" cy="216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17999" y="2951999"/>
            <a:ext cx="2646000" cy="2880000"/>
          </a:xfrm>
          <a:prstGeom prst="roundRect">
            <a:avLst>
              <a:gd name="adj" fmla="val 6000"/>
            </a:avLst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17999" y="2951999"/>
            <a:ext cx="2646000" cy="43200"/>
          </a:xfrm>
          <a:prstGeom prst="rect">
            <a:avLst/>
          </a:prstGeom>
          <a:solidFill>
            <a:srgbClr val="01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3077999"/>
            <a:ext cx="2394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E2C58"/>
                </a:solidFill>
                <a:latin typeface="Arial" panose="020B0604020202020204"/>
              </a:rPr>
              <a:t>Административно-финансовый блок</a:t>
            </a:r>
            <a:endParaRPr sz="14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0" y="4014000"/>
            <a:ext cx="2394000" cy="17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административные вопросы, закупки, кадры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финансы и бухгалтерия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правовое сопровождение (МФЦА)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• IT-поддержка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 panose="020B0604020202020204"/>
              </a:rPr>
              <a:t>3</a:t>
            </a:r>
            <a:endParaRPr sz="900">
              <a:solidFill>
                <a:srgbClr val="80808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503999"/>
            <a:ext cx="9540000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100" b="1">
                <a:solidFill>
                  <a:srgbClr val="0E2C58"/>
                </a:solidFill>
                <a:latin typeface="Tahoma" panose="020B0604030504040204"/>
              </a:rPr>
              <a:t>НАПРАВЛЕНИЯ РАБОТЫ ФОНДА</a:t>
            </a:r>
            <a:endParaRPr sz="2100" b="1">
              <a:solidFill>
                <a:srgbClr val="0E2C58"/>
              </a:solidFill>
              <a:latin typeface="Tahoma" panose="020B0604030504040204"/>
            </a:endParaRPr>
          </a:p>
        </p:txBody>
      </p:sp>
      <p:pic>
        <p:nvPicPr>
          <p:cNvPr id="3" name="Picture 2" descr="fond_s01_a1a615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6000" y="432000"/>
            <a:ext cx="1800000" cy="60643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 panose="020B0604020202020204"/>
              </a:rPr>
              <a:t>4</a:t>
            </a:r>
            <a:endParaRPr sz="900">
              <a:solidFill>
                <a:srgbClr val="808080"/>
              </a:solidFill>
              <a:latin typeface="Arial" panose="020B06040202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0000" y="1278000"/>
            <a:ext cx="720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500" b="1">
                <a:solidFill>
                  <a:srgbClr val="0E2C58"/>
                </a:solidFill>
                <a:latin typeface="Arial"/>
              </a:rPr>
              <a:t>Действующие направления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0000" y="1584000"/>
            <a:ext cx="3600000" cy="1386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0000" y="1584000"/>
            <a:ext cx="3600000" cy="432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6000" y="1710000"/>
            <a:ext cx="334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400" b="1">
                <a:solidFill>
                  <a:srgbClr val="0E2C58"/>
                </a:solidFill>
                <a:latin typeface="Arial"/>
              </a:rPr>
              <a:t>Региональный экологический саммит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000" y="2142000"/>
            <a:ext cx="3348000" cy="77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/>
              </a:rPr>
              <a:t>Сопровождение решений и инициатив РЭС-2026: 58 сессий как портфель проектов и программ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84000" y="1584000"/>
            <a:ext cx="3600000" cy="1386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84000" y="1584000"/>
            <a:ext cx="3600000" cy="432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10000" y="1710000"/>
            <a:ext cx="334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400" b="1">
                <a:solidFill>
                  <a:srgbClr val="0E2C58"/>
                </a:solidFill>
                <a:latin typeface="Arial"/>
              </a:rPr>
              <a:t>«Таза Қазақстан»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0000" y="2142000"/>
            <a:ext cx="3348000" cy="77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/>
              </a:rPr>
              <a:t>Проектный офис и оператор мероприятий инициативы; адаптация практик для стран Центральной Азии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28000" y="1584000"/>
            <a:ext cx="3600000" cy="1386000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28000" y="1584000"/>
            <a:ext cx="3600000" cy="432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54000" y="1710000"/>
            <a:ext cx="334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400" b="1">
                <a:solidFill>
                  <a:srgbClr val="0E2C58"/>
                </a:solidFill>
                <a:latin typeface="Arial"/>
              </a:rPr>
              <a:t>ESG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4000" y="2142000"/>
            <a:ext cx="3348000" cy="77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/>
              </a:rPr>
              <a:t>Методическая поддержка, оценка, консультирование и обучение по устойчивому развитию и раскрытию нефинансовой информации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0000" y="3078000"/>
            <a:ext cx="3600000" cy="1386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0000" y="3078000"/>
            <a:ext cx="3600000" cy="432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6000" y="3204000"/>
            <a:ext cx="334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400" b="1">
                <a:solidFill>
                  <a:srgbClr val="0E2C58"/>
                </a:solidFill>
                <a:latin typeface="Arial"/>
              </a:rPr>
              <a:t>Климатические и экологические риски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6000" y="3636000"/>
            <a:ext cx="3348000" cy="77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/>
              </a:rPr>
              <a:t>Оценка физических и переходных рисков для государственных органов, организаций и инвесторов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4000" y="3078000"/>
            <a:ext cx="3600000" cy="1386000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84000" y="3078000"/>
            <a:ext cx="3600000" cy="432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10000" y="3204000"/>
            <a:ext cx="334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400" b="1">
                <a:solidFill>
                  <a:srgbClr val="0E2C58"/>
                </a:solidFill>
                <a:latin typeface="Arial"/>
              </a:rPr>
              <a:t>Аналитика и «Зелёный Think Tank»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10000" y="3636000"/>
            <a:ext cx="3348000" cy="77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/>
              </a:rPr>
              <a:t>Обзоры по Центральной Азии, аналитика по «Таза Қазақстан», климатические риски, ежегодные доклады; сеть экспертов ЦА+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28000" y="3078000"/>
            <a:ext cx="3600000" cy="1386000"/>
          </a:xfrm>
          <a:prstGeom prst="roundRect">
            <a:avLst>
              <a:gd name="adj" fmla="val 6000"/>
            </a:avLst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28000" y="3078000"/>
            <a:ext cx="3600000" cy="43200"/>
          </a:xfrm>
          <a:prstGeom prst="rect">
            <a:avLst/>
          </a:prstGeom>
          <a:solidFill>
            <a:srgbClr val="01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54000" y="3204000"/>
            <a:ext cx="3348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400" b="1">
                <a:solidFill>
                  <a:srgbClr val="0E2C58"/>
                </a:solidFill>
                <a:latin typeface="Arial"/>
              </a:rPr>
              <a:t>Обучение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54000" y="3636000"/>
            <a:ext cx="3348000" cy="77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/>
              </a:rPr>
              <a:t>Учебный центр Фонда: обучение и повышение квалификации по экологии, климату, устойчивому развитию и ESG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0000" y="4626000"/>
            <a:ext cx="720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500" b="1">
                <a:solidFill>
                  <a:srgbClr val="0E2C58"/>
                </a:solidFill>
                <a:latin typeface="Arial"/>
              </a:rPr>
              <a:t>Перспективные направления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0000" y="4932000"/>
            <a:ext cx="2664000" cy="1620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40000" y="4932000"/>
            <a:ext cx="2664000" cy="432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6000" y="5058000"/>
            <a:ext cx="241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300" b="1">
                <a:solidFill>
                  <a:srgbClr val="0E2C58"/>
                </a:solidFill>
                <a:latin typeface="Arial"/>
              </a:rPr>
              <a:t>Офсеты и климатическое финансирование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6000" y="5562000"/>
            <a:ext cx="2412000" cy="935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/>
              </a:rPr>
              <a:t>Отбор и сопровождение офсетных проектов, привлечение климатического и грантового финансирования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348000" y="4932000"/>
            <a:ext cx="2664000" cy="1620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48000" y="4932000"/>
            <a:ext cx="2664000" cy="432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74000" y="5058000"/>
            <a:ext cx="241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300" b="1">
                <a:solidFill>
                  <a:srgbClr val="0E2C58"/>
                </a:solidFill>
                <a:latin typeface="Arial"/>
              </a:rPr>
              <a:t>Озоновый центр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74000" y="5562000"/>
            <a:ext cx="2412000" cy="935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/>
              </a:rPr>
              <a:t>Мониторинг озоноразрушающих веществ, техническая поддержка, проекты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56000" y="4932000"/>
            <a:ext cx="2664000" cy="1620000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56000" y="4932000"/>
            <a:ext cx="2664000" cy="432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82000" y="5058000"/>
            <a:ext cx="241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300" b="1">
                <a:solidFill>
                  <a:srgbClr val="0E2C58"/>
                </a:solidFill>
                <a:latin typeface="Arial"/>
              </a:rPr>
              <a:t>«Зелёные школы» с ЮНИСЕФ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82000" y="5562000"/>
            <a:ext cx="2412000" cy="935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/>
              </a:rPr>
              <a:t>Региональная координация программы в Центральной Азии, волонтёрство, экологическое просвещение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64000" y="4932000"/>
            <a:ext cx="2664000" cy="1620000"/>
          </a:xfrm>
          <a:prstGeom prst="roundRect">
            <a:avLst>
              <a:gd name="adj" fmla="val 6000"/>
            </a:avLst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964000" y="4932000"/>
            <a:ext cx="2664000" cy="43200"/>
          </a:xfrm>
          <a:prstGeom prst="rect">
            <a:avLst/>
          </a:prstGeom>
          <a:solidFill>
            <a:srgbClr val="01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90000" y="5058000"/>
            <a:ext cx="241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300" b="1">
                <a:solidFill>
                  <a:srgbClr val="0E2C58"/>
                </a:solidFill>
                <a:latin typeface="Arial"/>
              </a:rPr>
              <a:t>Цифровые решения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90000" y="5562000"/>
            <a:ext cx="2412000" cy="935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/>
              </a:rPr>
              <a:t>Платформы на основе ИИ и ГИС для мониторинга экологических и климатических данных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503999"/>
            <a:ext cx="9540000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100" b="1">
                <a:solidFill>
                  <a:srgbClr val="0E2C58"/>
                </a:solidFill>
                <a:latin typeface="Tahoma" panose="020B0604030504040204"/>
              </a:rPr>
              <a:t>СТРАТЕГИЧЕСКИЕ ЦЕЛИ ФОНДА</a:t>
            </a:r>
            <a:endParaRPr sz="2100" b="1">
              <a:solidFill>
                <a:srgbClr val="0E2C58"/>
              </a:solidFill>
              <a:latin typeface="Tahoma" panose="020B0604030504040204"/>
            </a:endParaRPr>
          </a:p>
        </p:txBody>
      </p:sp>
      <p:pic>
        <p:nvPicPr>
          <p:cNvPr id="3" name="Picture 2" descr="fond_s01_a1a615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6000" y="432000"/>
            <a:ext cx="1800000" cy="606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1368000"/>
            <a:ext cx="450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E2C58"/>
                </a:solidFill>
                <a:latin typeface="Arial" panose="020B0604020202020204"/>
              </a:rPr>
              <a:t>Цели по уставу Фонда</a:t>
            </a:r>
            <a:endParaRPr sz="16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00" y="1764000"/>
            <a:ext cx="413999" cy="324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764000"/>
            <a:ext cx="413999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01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6000" y="1746000"/>
            <a:ext cx="3960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Ускорение региональных климатических действий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6000" y="2430000"/>
            <a:ext cx="413999" cy="324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" y="2430000"/>
            <a:ext cx="413999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02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6000" y="2412000"/>
            <a:ext cx="3960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Региональная климатическая политика и сотрудничество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6000" y="3096000"/>
            <a:ext cx="413999" cy="3240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3096000"/>
            <a:ext cx="413999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03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6000" y="3077999"/>
            <a:ext cx="3960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Поддержка разработки политик и регулирования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6000" y="3761999"/>
            <a:ext cx="413999" cy="324000"/>
          </a:xfrm>
          <a:prstGeom prst="rect">
            <a:avLst/>
          </a:prstGeom>
          <a:solidFill>
            <a:srgbClr val="01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0" y="3761999"/>
            <a:ext cx="413999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04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16000" y="3743999"/>
            <a:ext cx="3960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Исследования и инновации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000" y="4428000"/>
            <a:ext cx="413999" cy="324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4428000"/>
            <a:ext cx="413999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05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6000" y="4409999"/>
            <a:ext cx="3960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Партнёрства с МФИ, НПО, бизнесом и наукой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6000" y="5093999"/>
            <a:ext cx="413999" cy="324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5093999"/>
            <a:ext cx="413999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06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6000" y="5075999"/>
            <a:ext cx="3960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Климатические данные и наука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76000" y="5759999"/>
            <a:ext cx="413999" cy="3240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00" y="5759999"/>
            <a:ext cx="413999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07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16000" y="5741999"/>
            <a:ext cx="3960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Повышение осведомлённости и развитие потенциала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08000" y="1368000"/>
            <a:ext cx="612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E2C58"/>
                </a:solidFill>
                <a:latin typeface="Arial" panose="020B0604020202020204"/>
              </a:rPr>
              <a:t>Стратегия 2026–2035</a:t>
            </a:r>
            <a:endParaRPr sz="16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508000" y="1764000"/>
            <a:ext cx="6120000" cy="1404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08000" y="1764000"/>
            <a:ext cx="43200" cy="1404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88000" y="1872000"/>
            <a:ext cx="1296000" cy="65087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0A895"/>
                </a:solidFill>
                <a:latin typeface="Tahoma" panose="020B0604030504040204"/>
              </a:rPr>
              <a:t>2026–</a:t>
            </a:r>
            <a:endParaRPr sz="2000" b="1">
              <a:solidFill>
                <a:srgbClr val="00A895"/>
              </a:solidFill>
              <a:latin typeface="Tahoma" panose="020B0604030504040204"/>
            </a:endParaRPr>
          </a:p>
          <a:p>
            <a:pPr algn="l"/>
            <a:r>
              <a:rPr sz="2000" b="1">
                <a:solidFill>
                  <a:srgbClr val="00A895"/>
                </a:solidFill>
                <a:latin typeface="Tahoma" panose="020B0604030504040204"/>
              </a:rPr>
              <a:t>2027</a:t>
            </a:r>
            <a:endParaRPr sz="2000" b="1">
              <a:solidFill>
                <a:srgbClr val="00A895"/>
              </a:solidFill>
              <a:latin typeface="Tahoma" panose="020B060403050404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56000" y="1872000"/>
            <a:ext cx="44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Устойчивость и новая операционная модель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56000" y="2232000"/>
            <a:ext cx="4464000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65469"/>
                </a:solidFill>
                <a:latin typeface="Arial" panose="020B0604020202020204"/>
              </a:rPr>
              <a:t>Сопровождение решений РЭС, проектный портфель, ESG, «Таза Қазақстан», сеть экспертов, международное сотрудничество, тендеры и гранты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508000" y="3348000"/>
            <a:ext cx="6120000" cy="1404000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08000" y="3348000"/>
            <a:ext cx="43200" cy="14040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88000" y="3456000"/>
            <a:ext cx="1296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D3AE37"/>
                </a:solidFill>
                <a:latin typeface="Tahoma" panose="020B0604030504040204"/>
              </a:rPr>
              <a:t>до 2028</a:t>
            </a:r>
            <a:endParaRPr sz="2000" b="1">
              <a:solidFill>
                <a:srgbClr val="D3AE37"/>
              </a:solidFill>
              <a:latin typeface="Tahoma" panose="020B060403050404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56000" y="3456000"/>
            <a:ext cx="44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«Зелёный Think Tank» Центральной Азии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56000" y="3816000"/>
            <a:ext cx="4464000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65469"/>
                </a:solidFill>
                <a:latin typeface="Arial" panose="020B0604020202020204"/>
              </a:rPr>
              <a:t>Собственная аналитическая платформа, регулярная аналитика, признанный центр компетенций региона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508000" y="4932000"/>
            <a:ext cx="6120000" cy="1404000"/>
          </a:xfrm>
          <a:prstGeom prst="roundRect">
            <a:avLst>
              <a:gd name="adj" fmla="val 6000"/>
            </a:avLst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08000" y="4932000"/>
            <a:ext cx="43200" cy="1404000"/>
          </a:xfrm>
          <a:prstGeom prst="rect">
            <a:avLst/>
          </a:prstGeom>
          <a:solidFill>
            <a:srgbClr val="01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88000" y="5040000"/>
            <a:ext cx="1296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0184C6"/>
                </a:solidFill>
                <a:latin typeface="Tahoma" panose="020B0604030504040204"/>
              </a:rPr>
              <a:t>до 2035</a:t>
            </a:r>
            <a:endParaRPr sz="2000" b="1">
              <a:solidFill>
                <a:srgbClr val="0184C6"/>
              </a:solidFill>
              <a:latin typeface="Tahoma" panose="020B060403050404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56000" y="5040000"/>
            <a:ext cx="44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«Суперфонд»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56000" y="5400000"/>
            <a:ext cx="4464000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65469"/>
                </a:solidFill>
                <a:latin typeface="Arial" panose="020B0604020202020204"/>
              </a:rPr>
              <a:t>Ведущая региональная платформа: ключевой партнёр международных организаций, оператор климатического финансирования, центр координации экологической повестки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 panose="020B0604020202020204"/>
              </a:rPr>
              <a:t>5</a:t>
            </a:r>
            <a:endParaRPr sz="900">
              <a:solidFill>
                <a:srgbClr val="80808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503999"/>
            <a:ext cx="9540000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100" b="1">
                <a:solidFill>
                  <a:srgbClr val="0E2C58"/>
                </a:solidFill>
                <a:latin typeface="Tahoma" panose="020B0604030504040204"/>
              </a:rPr>
              <a:t>ОПЫТ И РЕЗУЛЬТАТЫ ФОНДА</a:t>
            </a:r>
            <a:endParaRPr sz="2100" b="1">
              <a:solidFill>
                <a:srgbClr val="0E2C58"/>
              </a:solidFill>
              <a:latin typeface="Tahoma" panose="020B0604030504040204"/>
            </a:endParaRPr>
          </a:p>
        </p:txBody>
      </p:sp>
      <p:pic>
        <p:nvPicPr>
          <p:cNvPr id="3" name="Picture 2" descr="fond_s01_a1a615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6000" y="432000"/>
            <a:ext cx="1800000" cy="606432"/>
          </a:xfrm>
          <a:prstGeom prst="rect">
            <a:avLst/>
          </a:prstGeom>
        </p:spPr>
      </p:pic>
      <p:sp>
        <p:nvSpPr>
          <p:cNvPr id="4" name="Rounded Rectangle 3"/>
          <p:cNvSpPr/>
          <p:nvPr>
            <p:custDataLst>
              <p:tags r:id="rId2"/>
            </p:custDataLst>
          </p:nvPr>
        </p:nvSpPr>
        <p:spPr>
          <a:xfrm>
            <a:off x="540000" y="1440000"/>
            <a:ext cx="3600000" cy="2466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>
            <p:custDataLst>
              <p:tags r:id="rId3"/>
            </p:custDataLst>
          </p:nvPr>
        </p:nvSpPr>
        <p:spPr>
          <a:xfrm>
            <a:off x="540000" y="1440000"/>
            <a:ext cx="3600000" cy="432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666000" y="1565999"/>
            <a:ext cx="334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Региональный экологический саммит 2026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666000" y="2214000"/>
            <a:ext cx="3348000" cy="163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Астана, 22–24 апреля 2026 года: более 11 300 участников, 58 сессий, в том числе 21 высокого уровня.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Декларация глав государств Центральной Азии, п. 24 – поддержка Проектного офиса.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>
            <p:custDataLst>
              <p:tags r:id="rId6"/>
            </p:custDataLst>
          </p:nvPr>
        </p:nvSpPr>
        <p:spPr>
          <a:xfrm>
            <a:off x="4284000" y="1440000"/>
            <a:ext cx="3600000" cy="2466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7"/>
            </p:custDataLst>
          </p:nvPr>
        </p:nvSpPr>
        <p:spPr>
          <a:xfrm>
            <a:off x="4284000" y="1440000"/>
            <a:ext cx="3600000" cy="432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8"/>
            </p:custDataLst>
          </p:nvPr>
        </p:nvSpPr>
        <p:spPr>
          <a:xfrm>
            <a:off x="4410000" y="1565999"/>
            <a:ext cx="334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Аналитика для отрасли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4410000" y="2214000"/>
            <a:ext cx="3348000" cy="163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Комплексный анализ рисков и возможностей устойчивого развития Центральной Азии для энергетического сектора Казахстана – отчёт для KAZENERGY (2026).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28000" y="1440000"/>
            <a:ext cx="3600000" cy="2466000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8000" y="1440000"/>
            <a:ext cx="3600000" cy="432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4000" y="1565999"/>
            <a:ext cx="334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ESG-аналитика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54000" y="2214000"/>
            <a:ext cx="3348000" cy="163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Методология оценки ESG-зрелости компаний на основе IFRS S1/S2, SASB, GRI, принципа двойной существенности и около 800 НПА Республики Казахстан.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pic>
        <p:nvPicPr>
          <p:cNvPr id="28" name="Picture 27" descr="fond_s03_42e75af4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3455999" y="3275369"/>
            <a:ext cx="576000" cy="540631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 panose="020B0604020202020204"/>
              </a:rPr>
              <a:t>6</a:t>
            </a:r>
            <a:endParaRPr sz="900">
              <a:solidFill>
                <a:srgbClr val="808080"/>
              </a:solidFill>
              <a:latin typeface="Arial" panose="020B060402020202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0000" y="4050000"/>
            <a:ext cx="5472000" cy="1385999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000" y="4050000"/>
            <a:ext cx="5472000" cy="432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6000" y="4176000"/>
            <a:ext cx="522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500" b="1">
                <a:solidFill>
                  <a:srgbClr val="0E2C58"/>
                </a:solidFill>
                <a:latin typeface="Arial"/>
              </a:rPr>
              <a:t>Обучение и просвещение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000" y="4644000"/>
            <a:ext cx="5220000" cy="737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/>
              </a:rPr>
              <a:t>ESG-обучение совместно с ИАЦ ООС МЭПР.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6000" y="4050000"/>
            <a:ext cx="5472000" cy="1385999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6000" y="4050000"/>
            <a:ext cx="5472000" cy="432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2000" y="4176000"/>
            <a:ext cx="522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500" b="1">
                <a:solidFill>
                  <a:srgbClr val="0E2C58"/>
                </a:solidFill>
                <a:latin typeface="Arial"/>
              </a:rPr>
              <a:t>Международные партнёрства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2000" y="4644000"/>
            <a:ext cx="5220000" cy="737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/>
              </a:rPr>
              <a:t>Меморандумы с ЮНИСЕФ и ЮНКТАД.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/>
              </a:rPr>
              <a:t>Главный исполнительный директор Фонда – представитель Центральной Азии в Высоком совете ORF по зелёному переходу.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503999"/>
            <a:ext cx="9000000" cy="68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2100" b="1">
                <a:solidFill>
                  <a:srgbClr val="0E2C58"/>
                </a:solidFill>
                <a:latin typeface="Tahoma"/>
              </a:rPr>
              <a:t>ИНФОРМАЦИОННАЯ И АНАЛИТИЧЕСКАЯ РАБОТА ФОНДА</a:t>
            </a:r>
          </a:p>
          <a:p>
            <a:r>
              <a:rPr sz="2100" b="0">
                <a:solidFill>
                  <a:srgbClr val="465469"/>
                </a:solidFill>
                <a:latin typeface="Tahoma"/>
              </a:rPr>
              <a:t>июнь – октябрь 2026 года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6000" y="432000"/>
            <a:ext cx="1800000" cy="60643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0000" y="1350000"/>
            <a:ext cx="2138400" cy="756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350000"/>
            <a:ext cx="43200" cy="756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000" y="1386000"/>
            <a:ext cx="1944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2200" b="1">
                <a:solidFill>
                  <a:srgbClr val="0E2C58"/>
                </a:solidFill>
                <a:latin typeface="Tahoma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000" y="1745999"/>
            <a:ext cx="1944000" cy="19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0E2C58"/>
                </a:solidFill>
                <a:latin typeface="Arial"/>
              </a:rPr>
              <a:t>пресс-релизов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000" y="1908000"/>
            <a:ext cx="1944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000" b="0">
                <a:solidFill>
                  <a:srgbClr val="465469"/>
                </a:solidFill>
                <a:latin typeface="Arial"/>
              </a:rPr>
              <a:t>июнь – октябрь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6400" y="1350000"/>
            <a:ext cx="2138400" cy="756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6400" y="1350000"/>
            <a:ext cx="43200" cy="756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2400" y="1386000"/>
            <a:ext cx="1944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2200" b="1">
                <a:solidFill>
                  <a:srgbClr val="00A895"/>
                </a:solidFill>
                <a:latin typeface="Tahoma"/>
              </a:rP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2400" y="1745999"/>
            <a:ext cx="1944000" cy="19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0E2C58"/>
                </a:solidFill>
                <a:latin typeface="Arial"/>
              </a:rPr>
              <a:t>публикация в СМИ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2400" y="1908000"/>
            <a:ext cx="1944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000" b="0">
                <a:solidFill>
                  <a:srgbClr val="465469"/>
                </a:solidFill>
                <a:latin typeface="Arial"/>
              </a:rPr>
              <a:t>июнь – сентябрь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2800" y="1350000"/>
            <a:ext cx="2138400" cy="756000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2800" y="1350000"/>
            <a:ext cx="43200" cy="7560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8800" y="1386000"/>
            <a:ext cx="1944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2200" b="1">
                <a:solidFill>
                  <a:srgbClr val="D3AE37"/>
                </a:solidFill>
                <a:latin typeface="Tahoma"/>
              </a:rPr>
              <a:t>130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8800" y="1745999"/>
            <a:ext cx="1944000" cy="19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0E2C58"/>
                </a:solidFill>
                <a:latin typeface="Arial"/>
              </a:rPr>
              <a:t>постов в соцсетях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8800" y="1908000"/>
            <a:ext cx="1944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000" b="0">
                <a:solidFill>
                  <a:srgbClr val="465469"/>
                </a:solidFill>
                <a:latin typeface="Arial"/>
              </a:rPr>
              <a:t>июнь – октябрь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9200" y="1350000"/>
            <a:ext cx="2138400" cy="756000"/>
          </a:xfrm>
          <a:prstGeom prst="roundRect">
            <a:avLst>
              <a:gd name="adj" fmla="val 6000"/>
            </a:avLst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79200" y="1350000"/>
            <a:ext cx="43200" cy="756000"/>
          </a:xfrm>
          <a:prstGeom prst="rect">
            <a:avLst/>
          </a:prstGeom>
          <a:solidFill>
            <a:srgbClr val="01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5200" y="1386000"/>
            <a:ext cx="1944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2200" b="1">
                <a:solidFill>
                  <a:srgbClr val="0184C6"/>
                </a:solidFill>
                <a:latin typeface="Tahoma"/>
              </a:rPr>
              <a:t>1 865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5200" y="1745999"/>
            <a:ext cx="1944000" cy="19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0E2C58"/>
                </a:solidFill>
                <a:latin typeface="Arial"/>
              </a:rPr>
              <a:t>подписчиков в 6 соцсетях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5200" y="1908000"/>
            <a:ext cx="1944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000" b="0">
                <a:solidFill>
                  <a:srgbClr val="465469"/>
                </a:solidFill>
                <a:latin typeface="Arial"/>
              </a:rPr>
              <a:t>в т.ч. журналисты и СМИ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5600" y="1350000"/>
            <a:ext cx="2138400" cy="756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25600" y="1350000"/>
            <a:ext cx="43200" cy="756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1600" y="1386000"/>
            <a:ext cx="1944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2200" b="1">
                <a:solidFill>
                  <a:srgbClr val="0E2C58"/>
                </a:solidFill>
                <a:latin typeface="Tahoma"/>
              </a:rPr>
              <a:t>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1600" y="1745999"/>
            <a:ext cx="1944000" cy="19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0E2C58"/>
                </a:solidFill>
                <a:latin typeface="Arial"/>
              </a:rPr>
              <a:t>материала на сайте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1600" y="1908000"/>
            <a:ext cx="1944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000" b="0">
                <a:solidFill>
                  <a:srgbClr val="465469"/>
                </a:solidFill>
                <a:latin typeface="Arial"/>
              </a:rPr>
              <a:t>caclimate.fund, июнь – октябрь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000" y="2214000"/>
            <a:ext cx="5472000" cy="3150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0000" y="2214000"/>
            <a:ext cx="5472000" cy="432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000" y="2286000"/>
            <a:ext cx="52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500" b="1">
                <a:solidFill>
                  <a:srgbClr val="0E2C58"/>
                </a:solidFill>
                <a:latin typeface="Arial"/>
              </a:rPr>
              <a:t>Опубликованные исследования и аналитика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000" y="2610000"/>
            <a:ext cx="5220000" cy="27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A895"/>
                </a:solidFill>
                <a:latin typeface="Arial"/>
              </a:rPr>
              <a:t>12.10  </a:t>
            </a:r>
            <a:r>
              <a:rPr sz="1150" b="0">
                <a:solidFill>
                  <a:srgbClr val="465469"/>
                </a:solidFill>
                <a:latin typeface="Arial"/>
              </a:rPr>
              <a:t>Климатические риски Казахстана: 12 видов опасностей, оценка 20 регионов – совместно с ESGQ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A895"/>
                </a:solidFill>
                <a:latin typeface="Arial"/>
              </a:rPr>
              <a:t>21.07  </a:t>
            </a:r>
            <a:r>
              <a:rPr sz="1150" b="0">
                <a:solidFill>
                  <a:srgbClr val="465469"/>
                </a:solidFill>
                <a:latin typeface="Arial"/>
              </a:rPr>
              <a:t>Рекомендации KAZENERGY по снижению рисков устойчивого развития для энергетики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A895"/>
                </a:solidFill>
                <a:latin typeface="Arial"/>
              </a:rPr>
              <a:t>июль–окт.  </a:t>
            </a:r>
            <a:r>
              <a:rPr sz="1150" b="0">
                <a:solidFill>
                  <a:srgbClr val="465469"/>
                </a:solidFill>
                <a:latin typeface="Arial"/>
              </a:rPr>
              <a:t>Серия «Как обеспечить Центральную Азию едой, водой, электроэнергией в условиях меняющегося климата», «Чем грозит изменение климата Центральной Азии»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A895"/>
                </a:solidFill>
                <a:latin typeface="Arial"/>
              </a:rPr>
              <a:t>27.10  </a:t>
            </a:r>
            <a:r>
              <a:rPr sz="1150" b="0">
                <a:solidFill>
                  <a:srgbClr val="465469"/>
                </a:solidFill>
                <a:latin typeface="Arial"/>
              </a:rPr>
              <a:t>Центральная Азия потеряла 44% площади ледников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A895"/>
                </a:solidFill>
                <a:latin typeface="Arial"/>
              </a:rPr>
              <a:t>июль–окт.  </a:t>
            </a:r>
            <a:r>
              <a:rPr sz="1150" b="0">
                <a:solidFill>
                  <a:srgbClr val="465469"/>
                </a:solidFill>
                <a:latin typeface="Arial"/>
              </a:rPr>
              <a:t>Климатические аномалии: самое жаркое лето за 80 лет, рост погодных аномалий, последствия жары для здоровья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A895"/>
                </a:solidFill>
                <a:latin typeface="Arial"/>
              </a:rPr>
              <a:t>июнь–авг.  </a:t>
            </a:r>
            <a:r>
              <a:rPr sz="1150" b="0">
                <a:solidFill>
                  <a:srgbClr val="465469"/>
                </a:solidFill>
                <a:latin typeface="Arial"/>
              </a:rPr>
              <a:t>Экологические данные: эмиссии (3,4 млн т), нарушения экологического законодательства, лесной фонд, редкие животные, нацпарки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6000" y="2214000"/>
            <a:ext cx="5508000" cy="3150000"/>
          </a:xfrm>
          <a:prstGeom prst="roundRect">
            <a:avLst>
              <a:gd name="adj" fmla="val 6000"/>
            </a:avLst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6000" y="2214000"/>
            <a:ext cx="5508000" cy="43200"/>
          </a:xfrm>
          <a:prstGeom prst="rect">
            <a:avLst/>
          </a:prstGeom>
          <a:solidFill>
            <a:srgbClr val="01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2000" y="2286000"/>
            <a:ext cx="525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500" b="1">
                <a:solidFill>
                  <a:srgbClr val="0E2C58"/>
                </a:solidFill>
                <a:latin typeface="Arial"/>
              </a:rPr>
              <a:t>Научно-аналитические мероприятия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2000" y="2610000"/>
            <a:ext cx="5256000" cy="27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184C6"/>
                </a:solidFill>
                <a:latin typeface="Arial"/>
              </a:rPr>
              <a:t>26.06  </a:t>
            </a:r>
            <a:r>
              <a:rPr sz="1150" b="0">
                <a:solidFill>
                  <a:srgbClr val="465469"/>
                </a:solidFill>
                <a:latin typeface="Arial"/>
              </a:rPr>
              <a:t>Лондон: Высокий консультативный совет ORF по зелёному переходу, глава Фонда вошёл в его состав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184C6"/>
                </a:solidFill>
                <a:latin typeface="Arial"/>
              </a:rPr>
              <a:t>30.06  </a:t>
            </a:r>
            <a:r>
              <a:rPr sz="1150" b="0">
                <a:solidFill>
                  <a:srgbClr val="465469"/>
                </a:solidFill>
                <a:latin typeface="Arial"/>
              </a:rPr>
              <a:t>Гамбург: конференция по устойчивому развитию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184C6"/>
                </a:solidFill>
                <a:latin typeface="Arial"/>
              </a:rPr>
              <a:t>август  </a:t>
            </a:r>
            <a:r>
              <a:rPr sz="1150" b="0">
                <a:solidFill>
                  <a:srgbClr val="465469"/>
                </a:solidFill>
                <a:latin typeface="Arial"/>
              </a:rPr>
              <a:t>Курс «ESG-оценка предприятий Казахстана по официальным экологическим данным» совместно с ИАЦ ООС МЭПР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184C6"/>
                </a:solidFill>
                <a:latin typeface="Arial"/>
              </a:rPr>
              <a:t>28–29.08  </a:t>
            </a:r>
            <a:r>
              <a:rPr sz="1150" b="0">
                <a:solidFill>
                  <a:srgbClr val="465469"/>
                </a:solidFill>
                <a:latin typeface="Arial"/>
              </a:rPr>
              <a:t>Молодёжная климатическая конференция LCOY Kazakhstan 2026, Назарбаев Университет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184C6"/>
                </a:solidFill>
                <a:latin typeface="Arial"/>
              </a:rPr>
              <a:t>28.09  </a:t>
            </a:r>
            <a:r>
              <a:rPr sz="1150" b="0">
                <a:solidFill>
                  <a:srgbClr val="465469"/>
                </a:solidFill>
                <a:latin typeface="Arial"/>
              </a:rPr>
              <a:t>Меморандум о сотрудничестве с Рейтинговым агентством ESGQ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184C6"/>
                </a:solidFill>
                <a:latin typeface="Arial"/>
              </a:rPr>
              <a:t>03–05.10  </a:t>
            </a:r>
            <a:r>
              <a:rPr sz="1150" b="0">
                <a:solidFill>
                  <a:srgbClr val="465469"/>
                </a:solidFill>
                <a:latin typeface="Arial"/>
              </a:rPr>
              <a:t>Нью-Дели: 5-й Экономический конклав Каутильи, выступление главы Фонда; аналитическая записка с рекомендациями для Казахстана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5418000"/>
            <a:ext cx="11124000" cy="12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465469"/>
                </a:solidFill>
                <a:latin typeface="Arial"/>
              </a:rPr>
              <a:t>Публикации выходят на трёх языках: казахском, русском и английском.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465469"/>
                </a:solidFill>
                <a:latin typeface="Arial"/>
              </a:rPr>
              <a:t>Казахстанские СМИ (28): </a:t>
            </a:r>
            <a:r>
              <a:rPr sz="1050" b="0">
                <a:solidFill>
                  <a:srgbClr val="465469"/>
                </a:solidFill>
                <a:latin typeface="Arial"/>
              </a:rPr>
              <a:t>Казинформ, KazTag, Kazakhstan Today, Егемен Қазақстан, Egemen Times, Kursiv, Vlast, Orda, BAQ.kz, 24.kz, Улысмедиа, Lifenews, Qumash, Bes.Media, Kapital.kz, Informburo.kz, Exclusive, Inbusiness, DKnews, E-Karaganda, Newsline, Vesti.kz, Spik.kz, AIT Media, Astana Times, Ser-Per.kz, FBRK.kz, CZHR.kz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465469"/>
                </a:solidFill>
                <a:latin typeface="Arial"/>
              </a:rPr>
              <a:t>Зарубежные СМИ (13): </a:t>
            </a:r>
            <a:r>
              <a:rPr sz="1050" b="0">
                <a:solidFill>
                  <a:srgbClr val="465469"/>
                </a:solidFill>
                <a:latin typeface="Arial"/>
              </a:rPr>
              <a:t>Euronews, Interfax (Россия), Central Asia News, Toshkent.Today (Узбекистан), Open.kg (Кыргызстан), ORIENT.tm (Туркменистан), Imruz и Pamir Inside (Таджикистан), Ekois.net, Getaway (ЮАР), Malaysia News, Travel Tomorrow (Бельгия), Ultima Bozza (Италия)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503999"/>
            <a:ext cx="9000000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100" b="1">
                <a:solidFill>
                  <a:srgbClr val="0E2C58"/>
                </a:solidFill>
                <a:latin typeface="Tahoma" panose="020B0604030504040204"/>
              </a:rPr>
              <a:t>ОТ КЛИМАТИЧЕСКОЙ ПОВЕСТКИ К «ТАЗА ҚАЗАҚСТАН»</a:t>
            </a:r>
            <a:endParaRPr sz="2100" b="1">
              <a:solidFill>
                <a:srgbClr val="0E2C58"/>
              </a:solidFill>
              <a:latin typeface="Tahoma" panose="020B0604030504040204"/>
            </a:endParaRPr>
          </a:p>
        </p:txBody>
      </p:sp>
      <p:pic>
        <p:nvPicPr>
          <p:cNvPr id="3" name="Picture 2" descr="fond_s01_a1a615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8000"/>
            <a:ext cx="1512000" cy="5094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000" y="324000"/>
            <a:ext cx="827999" cy="7456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0000" y="1332000"/>
            <a:ext cx="11124000" cy="1116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332000"/>
            <a:ext cx="43200" cy="1116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386000"/>
            <a:ext cx="10764000" cy="100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500" b="0">
                <a:solidFill>
                  <a:srgbClr val="0E2C58"/>
                </a:solidFill>
                <a:latin typeface="Arial" panose="020B0604020202020204"/>
              </a:rPr>
              <a:t>Экологические решения – от сокращения выбросов до обращения с отходами – дают результат только тогда, когда их поддерживает общество и они становятся частью повседневного поведения людей и бизнеса. </a:t>
            </a:r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Эту задачу на национальном уровне решает инициатива Главы государства «Таза Қазақстан».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0000" y="2628000"/>
            <a:ext cx="3600000" cy="2015999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2628000"/>
            <a:ext cx="3600000" cy="432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000" y="2754000"/>
            <a:ext cx="3348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E2C58"/>
                </a:solidFill>
                <a:latin typeface="Arial" panose="020B0604020202020204"/>
              </a:rPr>
              <a:t>МЭПР</a:t>
            </a:r>
            <a:endParaRPr sz="16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6000" y="3221999"/>
            <a:ext cx="3348000" cy="136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Общее руководство, определение приоритетов, координация государственных органов и акиматов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84000" y="2628000"/>
            <a:ext cx="3600000" cy="2015999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4000" y="2628000"/>
            <a:ext cx="3600000" cy="432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0000" y="2754000"/>
            <a:ext cx="3348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E2C58"/>
                </a:solidFill>
                <a:latin typeface="Arial" panose="020B0604020202020204"/>
              </a:rPr>
              <a:t>Проектный офис</a:t>
            </a:r>
            <a:endParaRPr sz="16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10000" y="3221999"/>
            <a:ext cx="3348000" cy="136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Реализация задач инициативы по четырём направлениям: социология, проектное управление и регионы, цифровизация, коммуникация и креатив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28000" y="2628000"/>
            <a:ext cx="3600000" cy="2015999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000" y="2628000"/>
            <a:ext cx="3600000" cy="432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4000" y="2754000"/>
            <a:ext cx="3348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E2C58"/>
                </a:solidFill>
                <a:latin typeface="Arial" panose="020B0604020202020204"/>
              </a:rPr>
              <a:t>Фонд</a:t>
            </a:r>
            <a:endParaRPr sz="16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54000" y="3221999"/>
            <a:ext cx="3348000" cy="136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Организационная, правовая и финансовая платформа, методология и проверка данных, аналитика, международные методики и партнёрства, привлечение внебюджетных средств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0000" y="4788000"/>
            <a:ext cx="1112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Итоги Концепции «Таза Қазақстан» 2024–2029 на сегодня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0000" y="5148000"/>
            <a:ext cx="2664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E2C58"/>
                </a:solidFill>
                <a:latin typeface="Tahoma" panose="020B0604030504040204"/>
              </a:rPr>
              <a:t>≈3 млн т</a:t>
            </a:r>
            <a:endParaRPr sz="2600" b="1">
              <a:solidFill>
                <a:srgbClr val="0E2C58"/>
              </a:solidFill>
              <a:latin typeface="Tahoma" panose="020B060403050404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0000" y="5652000"/>
            <a:ext cx="26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465469"/>
                </a:solidFill>
                <a:latin typeface="Arial" panose="020B0604020202020204"/>
              </a:rPr>
              <a:t>отходов собрано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48000" y="5148000"/>
            <a:ext cx="2664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0A895"/>
                </a:solidFill>
                <a:latin typeface="Tahoma" panose="020B0604030504040204"/>
              </a:rPr>
              <a:t>≈3 млн га</a:t>
            </a:r>
            <a:endParaRPr sz="2600" b="1">
              <a:solidFill>
                <a:srgbClr val="00A895"/>
              </a:solidFill>
              <a:latin typeface="Tahoma" panose="020B060403050404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48000" y="5652000"/>
            <a:ext cx="26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465469"/>
                </a:solidFill>
                <a:latin typeface="Arial" panose="020B0604020202020204"/>
              </a:rPr>
              <a:t>территорий очищено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56000" y="5148000"/>
            <a:ext cx="2664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D3AE37"/>
                </a:solidFill>
                <a:latin typeface="Tahoma" panose="020B0604030504040204"/>
              </a:rPr>
              <a:t>≈5,8 млн</a:t>
            </a:r>
            <a:endParaRPr sz="2600" b="1">
              <a:solidFill>
                <a:srgbClr val="D3AE37"/>
              </a:solidFill>
              <a:latin typeface="Tahoma" panose="020B060403050404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56000" y="5652000"/>
            <a:ext cx="26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465469"/>
                </a:solidFill>
                <a:latin typeface="Arial" panose="020B0604020202020204"/>
              </a:rPr>
              <a:t>деревьев высажено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64000" y="5148000"/>
            <a:ext cx="2664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184C6"/>
                </a:solidFill>
                <a:latin typeface="Tahoma" panose="020B0604030504040204"/>
              </a:rPr>
              <a:t>6+ млн</a:t>
            </a:r>
            <a:endParaRPr sz="2600" b="1">
              <a:solidFill>
                <a:srgbClr val="0184C6"/>
              </a:solidFill>
              <a:latin typeface="Tahoma" panose="020B060403050404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4000" y="5652000"/>
            <a:ext cx="26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465469"/>
                </a:solidFill>
                <a:latin typeface="Arial" panose="020B0604020202020204"/>
              </a:rPr>
              <a:t>участников ежегодно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0000" y="6048000"/>
            <a:ext cx="11124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465469"/>
                </a:solidFill>
                <a:latin typeface="Arial" panose="020B0604020202020204"/>
              </a:rPr>
              <a:t>Размещение Проектного офиса на базе Фонда не требует создания новой государственной структуры и позволяет сразу использовать инфраструктуру, опыт и международные партнёрства Фонда.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 panose="020B0604020202020204"/>
              </a:rPr>
              <a:t>8</a:t>
            </a:r>
            <a:endParaRPr sz="900">
              <a:solidFill>
                <a:srgbClr val="80808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105400" y="609600"/>
            <a:ext cx="1402080" cy="126187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1600200" y="3124200"/>
            <a:ext cx="1043622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800" spc="-1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r>
              <a:rPr sz="28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ЖАЛПЫҰЛТТЫҚ</a:t>
            </a:r>
            <a:r>
              <a:rPr sz="2800" spc="-11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ЖОБАСЫ</a:t>
            </a:r>
            <a:endParaRPr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819400" y="4038600"/>
            <a:ext cx="6553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5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ТАЗА</a:t>
            </a:r>
            <a:r>
              <a:rPr sz="2400" b="1" spc="-4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15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ОРТА</a:t>
            </a:r>
            <a:r>
              <a:rPr sz="2400" b="1" spc="-1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2400" b="1" spc="-1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b="1" spc="-1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15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ТАЗА</a:t>
            </a:r>
            <a:r>
              <a:rPr sz="2400" b="1" spc="-3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114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ӘДЕТ</a:t>
            </a:r>
            <a:r>
              <a:rPr sz="2400" b="1" spc="-1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2400" b="1" spc="-1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2400" b="1" spc="15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ТАЗА</a:t>
            </a:r>
            <a:r>
              <a:rPr sz="2400" b="1" spc="-3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18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САНА</a:t>
            </a:r>
            <a:endParaRPr sz="2400" dirty="0">
              <a:latin typeface="Tahoma" panose="020B0604030504040204"/>
              <a:cs typeface="Tahoma" panose="020B0604030504040204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4800600" y="4114800"/>
            <a:ext cx="0" cy="252000"/>
          </a:xfrm>
          <a:prstGeom prst="line">
            <a:avLst/>
          </a:prstGeom>
          <a:ln w="38100">
            <a:solidFill>
              <a:srgbClr val="0E2C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934200" y="4114800"/>
            <a:ext cx="0" cy="252000"/>
          </a:xfrm>
          <a:prstGeom prst="line">
            <a:avLst/>
          </a:prstGeom>
          <a:ln w="38100">
            <a:solidFill>
              <a:srgbClr val="0E2C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96900" y="546861"/>
            <a:ext cx="81838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100" spc="9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ТЕКУЩАЯ</a:t>
            </a:r>
            <a:r>
              <a:rPr sz="2100" spc="-2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1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МОДЕЛЬ</a:t>
            </a:r>
            <a:r>
              <a:rPr sz="2100" spc="-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10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РЕАЛИЗАЦИИ </a:t>
            </a:r>
            <a:r>
              <a:rPr sz="2100" spc="12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ОБЩЕНАЦИОНАЛЬНОГО</a:t>
            </a:r>
            <a:r>
              <a:rPr sz="2100" spc="2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114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ПРОЕКТА</a:t>
            </a:r>
            <a:r>
              <a:rPr sz="2100" spc="6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100" spc="6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8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endParaRPr sz="2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9955" y="1828800"/>
            <a:ext cx="45720" cy="3601720"/>
          </a:xfrm>
          <a:custGeom>
            <a:avLst/>
            <a:gdLst/>
            <a:ahLst/>
            <a:cxnLst/>
            <a:rect l="l" t="t" r="r" b="b"/>
            <a:pathLst>
              <a:path w="45720" h="3601720">
                <a:moveTo>
                  <a:pt x="45720" y="0"/>
                </a:moveTo>
                <a:lnTo>
                  <a:pt x="0" y="0"/>
                </a:lnTo>
                <a:lnTo>
                  <a:pt x="0" y="3601212"/>
                </a:lnTo>
                <a:lnTo>
                  <a:pt x="45720" y="3601212"/>
                </a:lnTo>
                <a:lnTo>
                  <a:pt x="4572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544068" y="1851660"/>
            <a:ext cx="424180" cy="315595"/>
          </a:xfrm>
          <a:custGeom>
            <a:avLst/>
            <a:gdLst/>
            <a:ahLst/>
            <a:cxnLst/>
            <a:rect l="l" t="t" r="r" b="b"/>
            <a:pathLst>
              <a:path w="424180" h="315594">
                <a:moveTo>
                  <a:pt x="360578" y="0"/>
                </a:moveTo>
                <a:lnTo>
                  <a:pt x="63093" y="0"/>
                </a:lnTo>
                <a:lnTo>
                  <a:pt x="38533" y="4951"/>
                </a:lnTo>
                <a:lnTo>
                  <a:pt x="18478" y="18462"/>
                </a:lnTo>
                <a:lnTo>
                  <a:pt x="4957" y="38522"/>
                </a:lnTo>
                <a:lnTo>
                  <a:pt x="0" y="63118"/>
                </a:lnTo>
                <a:lnTo>
                  <a:pt x="0" y="252349"/>
                </a:lnTo>
                <a:lnTo>
                  <a:pt x="4957" y="276945"/>
                </a:lnTo>
                <a:lnTo>
                  <a:pt x="18478" y="297005"/>
                </a:lnTo>
                <a:lnTo>
                  <a:pt x="38533" y="310516"/>
                </a:lnTo>
                <a:lnTo>
                  <a:pt x="63093" y="315467"/>
                </a:lnTo>
                <a:lnTo>
                  <a:pt x="360578" y="315467"/>
                </a:lnTo>
                <a:lnTo>
                  <a:pt x="385138" y="310516"/>
                </a:lnTo>
                <a:lnTo>
                  <a:pt x="405193" y="297005"/>
                </a:lnTo>
                <a:lnTo>
                  <a:pt x="418714" y="276945"/>
                </a:lnTo>
                <a:lnTo>
                  <a:pt x="423672" y="252349"/>
                </a:lnTo>
                <a:lnTo>
                  <a:pt x="423672" y="63118"/>
                </a:lnTo>
                <a:lnTo>
                  <a:pt x="418714" y="38522"/>
                </a:lnTo>
                <a:lnTo>
                  <a:pt x="405193" y="18462"/>
                </a:lnTo>
                <a:lnTo>
                  <a:pt x="385138" y="4951"/>
                </a:lnTo>
                <a:lnTo>
                  <a:pt x="360578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6712" y="1851786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1486" y="1809750"/>
            <a:ext cx="3100705" cy="1328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КОНЦЕПЦИЯ</a:t>
            </a:r>
            <a:r>
              <a:rPr sz="2000" b="1" spc="-4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3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РАЗВИТИЯ </a:t>
            </a: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2024–2029</a:t>
            </a:r>
            <a:r>
              <a:rPr sz="2000" b="1" spc="-5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ГГ.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R="611505" algn="ctr">
              <a:lnSpc>
                <a:spcPct val="100000"/>
              </a:lnSpc>
              <a:spcBef>
                <a:spcPts val="1135"/>
              </a:spcBef>
            </a:pP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60</a:t>
            </a:r>
            <a:r>
              <a:rPr sz="1800" b="1" spc="-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r>
              <a:rPr sz="18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611505" algn="ctr">
              <a:lnSpc>
                <a:spcPct val="100000"/>
              </a:lnSpc>
            </a:pP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3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направлениям: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79976" y="1833372"/>
            <a:ext cx="384175" cy="334010"/>
          </a:xfrm>
          <a:custGeom>
            <a:avLst/>
            <a:gdLst/>
            <a:ahLst/>
            <a:cxnLst/>
            <a:rect l="l" t="t" r="r" b="b"/>
            <a:pathLst>
              <a:path w="384175" h="334010">
                <a:moveTo>
                  <a:pt x="317246" y="0"/>
                </a:moveTo>
                <a:lnTo>
                  <a:pt x="66801" y="0"/>
                </a:lnTo>
                <a:lnTo>
                  <a:pt x="40772" y="5240"/>
                </a:lnTo>
                <a:lnTo>
                  <a:pt x="19542" y="19542"/>
                </a:lnTo>
                <a:lnTo>
                  <a:pt x="5240" y="40772"/>
                </a:lnTo>
                <a:lnTo>
                  <a:pt x="0" y="66801"/>
                </a:lnTo>
                <a:lnTo>
                  <a:pt x="0" y="266953"/>
                </a:lnTo>
                <a:lnTo>
                  <a:pt x="5240" y="292983"/>
                </a:lnTo>
                <a:lnTo>
                  <a:pt x="19542" y="314213"/>
                </a:lnTo>
                <a:lnTo>
                  <a:pt x="40772" y="328515"/>
                </a:lnTo>
                <a:lnTo>
                  <a:pt x="66801" y="333755"/>
                </a:lnTo>
                <a:lnTo>
                  <a:pt x="317246" y="333755"/>
                </a:lnTo>
                <a:lnTo>
                  <a:pt x="343275" y="328515"/>
                </a:lnTo>
                <a:lnTo>
                  <a:pt x="364505" y="314213"/>
                </a:lnTo>
                <a:lnTo>
                  <a:pt x="378807" y="292983"/>
                </a:lnTo>
                <a:lnTo>
                  <a:pt x="384048" y="266953"/>
                </a:lnTo>
                <a:lnTo>
                  <a:pt x="384048" y="66801"/>
                </a:lnTo>
                <a:lnTo>
                  <a:pt x="378807" y="40772"/>
                </a:lnTo>
                <a:lnTo>
                  <a:pt x="364505" y="19542"/>
                </a:lnTo>
                <a:lnTo>
                  <a:pt x="343275" y="5240"/>
                </a:lnTo>
                <a:lnTo>
                  <a:pt x="317246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35221" y="1843785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9509" y="1795348"/>
            <a:ext cx="25666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СОБЫТИЙНЫЙ</a:t>
            </a:r>
            <a:r>
              <a:rPr sz="2000" b="1" spc="-1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РЯД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41207" y="1833372"/>
            <a:ext cx="408940" cy="334010"/>
          </a:xfrm>
          <a:custGeom>
            <a:avLst/>
            <a:gdLst/>
            <a:ahLst/>
            <a:cxnLst/>
            <a:rect l="l" t="t" r="r" b="b"/>
            <a:pathLst>
              <a:path w="408940" h="334010">
                <a:moveTo>
                  <a:pt x="341630" y="0"/>
                </a:moveTo>
                <a:lnTo>
                  <a:pt x="66801" y="0"/>
                </a:lnTo>
                <a:lnTo>
                  <a:pt x="40772" y="5240"/>
                </a:lnTo>
                <a:lnTo>
                  <a:pt x="19542" y="19542"/>
                </a:lnTo>
                <a:lnTo>
                  <a:pt x="5240" y="40772"/>
                </a:lnTo>
                <a:lnTo>
                  <a:pt x="0" y="66801"/>
                </a:lnTo>
                <a:lnTo>
                  <a:pt x="0" y="266953"/>
                </a:lnTo>
                <a:lnTo>
                  <a:pt x="5240" y="292983"/>
                </a:lnTo>
                <a:lnTo>
                  <a:pt x="19542" y="314213"/>
                </a:lnTo>
                <a:lnTo>
                  <a:pt x="40772" y="328515"/>
                </a:lnTo>
                <a:lnTo>
                  <a:pt x="66801" y="333755"/>
                </a:lnTo>
                <a:lnTo>
                  <a:pt x="341630" y="333755"/>
                </a:lnTo>
                <a:lnTo>
                  <a:pt x="367659" y="328515"/>
                </a:lnTo>
                <a:lnTo>
                  <a:pt x="388889" y="314213"/>
                </a:lnTo>
                <a:lnTo>
                  <a:pt x="403191" y="292983"/>
                </a:lnTo>
                <a:lnTo>
                  <a:pt x="408432" y="266953"/>
                </a:lnTo>
                <a:lnTo>
                  <a:pt x="408432" y="66801"/>
                </a:lnTo>
                <a:lnTo>
                  <a:pt x="403191" y="40772"/>
                </a:lnTo>
                <a:lnTo>
                  <a:pt x="388889" y="19542"/>
                </a:lnTo>
                <a:lnTo>
                  <a:pt x="367659" y="5240"/>
                </a:lnTo>
                <a:lnTo>
                  <a:pt x="341630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78165" y="1834337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85461" y="2100833"/>
            <a:ext cx="3334385" cy="1049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r>
              <a:rPr sz="2000" b="1" spc="-5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2000" b="1" spc="-4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2026</a:t>
            </a:r>
            <a:r>
              <a:rPr sz="2000" b="1" spc="-4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Г.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50495">
              <a:lnSpc>
                <a:spcPct val="100000"/>
              </a:lnSpc>
              <a:spcBef>
                <a:spcPts val="1335"/>
              </a:spcBef>
            </a:pP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Более</a:t>
            </a:r>
            <a:r>
              <a:rPr sz="1800" b="1" spc="-7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360</a:t>
            </a:r>
            <a:r>
              <a:rPr sz="1800" b="1" spc="-5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мероприятий,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19380">
              <a:lnSpc>
                <a:spcPct val="100000"/>
              </a:lnSpc>
            </a:pPr>
            <a:r>
              <a:rPr sz="1800" b="1" spc="-1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Ключевые</a:t>
            </a:r>
            <a:r>
              <a:rPr sz="1800" b="1" spc="-8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мероприятия: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9650" y="3355340"/>
            <a:ext cx="289687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524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Экологическое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мышление</a:t>
            </a:r>
            <a:r>
              <a:rPr sz="1800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800" spc="-7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поведение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marR="1007745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Экологическое образование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Эко-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просвещение</a:t>
            </a:r>
            <a:r>
              <a:rPr sz="1800" spc="-9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информ-сопровождение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19955" y="1851660"/>
            <a:ext cx="45720" cy="3599815"/>
          </a:xfrm>
          <a:custGeom>
            <a:avLst/>
            <a:gdLst/>
            <a:ahLst/>
            <a:cxnLst/>
            <a:rect l="l" t="t" r="r" b="b"/>
            <a:pathLst>
              <a:path w="45720" h="3599815">
                <a:moveTo>
                  <a:pt x="45720" y="0"/>
                </a:moveTo>
                <a:lnTo>
                  <a:pt x="0" y="0"/>
                </a:lnTo>
                <a:lnTo>
                  <a:pt x="0" y="3599688"/>
                </a:lnTo>
                <a:lnTo>
                  <a:pt x="45720" y="3599688"/>
                </a:lnTo>
                <a:lnTo>
                  <a:pt x="45720" y="0"/>
                </a:lnTo>
                <a:close/>
              </a:path>
            </a:pathLst>
          </a:custGeom>
          <a:solidFill>
            <a:srgbClr val="04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81498" y="3308730"/>
            <a:ext cx="269494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Акция</a:t>
            </a:r>
            <a:r>
              <a:rPr sz="1800" spc="-4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«Мөлдір</a:t>
            </a:r>
            <a:r>
              <a:rPr sz="1800" spc="-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бұлақ»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Акция</a:t>
            </a:r>
            <a:r>
              <a:rPr sz="1800" spc="-8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800" spc="-6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қала»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Акция</a:t>
            </a:r>
            <a:r>
              <a:rPr sz="1800" spc="-8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800" spc="-6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аула»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800" spc="-8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бейсенбі»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Общенациональные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экологические</a:t>
            </a:r>
            <a:r>
              <a:rPr sz="1800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акции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800" spc="-1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042147" y="1860804"/>
            <a:ext cx="45720" cy="3599815"/>
          </a:xfrm>
          <a:custGeom>
            <a:avLst/>
            <a:gdLst/>
            <a:ahLst/>
            <a:cxnLst/>
            <a:rect l="l" t="t" r="r" b="b"/>
            <a:pathLst>
              <a:path w="45720" h="3599815">
                <a:moveTo>
                  <a:pt x="45720" y="0"/>
                </a:moveTo>
                <a:lnTo>
                  <a:pt x="0" y="0"/>
                </a:lnTo>
                <a:lnTo>
                  <a:pt x="0" y="3599688"/>
                </a:lnTo>
                <a:lnTo>
                  <a:pt x="45720" y="3599688"/>
                </a:lnTo>
                <a:lnTo>
                  <a:pt x="45720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700896" y="1832813"/>
            <a:ext cx="32893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КОНТРОЛЬ</a:t>
            </a:r>
            <a:r>
              <a:rPr sz="2000" b="1" spc="-12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РЕАЛИЗАЦИИ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19286" y="2554985"/>
            <a:ext cx="27628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Ежемесячные</a:t>
            </a:r>
            <a:r>
              <a:rPr sz="18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совещания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председательством </a:t>
            </a:r>
            <a:r>
              <a:rPr sz="18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Премьер-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Министра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56193" y="3741801"/>
            <a:ext cx="354520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Ответственные</a:t>
            </a:r>
            <a:r>
              <a:rPr sz="1800" spc="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государственные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органы</a:t>
            </a:r>
            <a:r>
              <a:rPr sz="1800" spc="-7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докладывают</a:t>
            </a:r>
            <a:r>
              <a:rPr sz="1800" b="1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о</a:t>
            </a:r>
            <a:r>
              <a:rPr sz="1800" spc="-8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ходе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реализации</a:t>
            </a:r>
            <a:r>
              <a:rPr sz="1800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552445" y="627634"/>
            <a:ext cx="7445375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ПРОГРАММНЫЕ</a:t>
            </a:r>
            <a:r>
              <a:rPr sz="2100" spc="-8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ВЫСТУПЛЕНИЯ</a:t>
            </a:r>
            <a:r>
              <a:rPr sz="2100" spc="-6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ГЛАВЫ</a:t>
            </a:r>
            <a:r>
              <a:rPr sz="2100" spc="-6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ГОСУДАРСТВА</a:t>
            </a:r>
            <a:endParaRPr sz="2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88363" y="1250314"/>
            <a:ext cx="3701796" cy="25734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9523" y="1251203"/>
            <a:ext cx="3701796" cy="2561844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611123" y="4192523"/>
            <a:ext cx="45720" cy="2208530"/>
          </a:xfrm>
          <a:custGeom>
            <a:avLst/>
            <a:gdLst/>
            <a:ahLst/>
            <a:cxnLst/>
            <a:rect l="l" t="t" r="r" b="b"/>
            <a:pathLst>
              <a:path w="45720" h="2208529">
                <a:moveTo>
                  <a:pt x="45720" y="0"/>
                </a:moveTo>
                <a:lnTo>
                  <a:pt x="0" y="0"/>
                </a:lnTo>
                <a:lnTo>
                  <a:pt x="0" y="2208276"/>
                </a:lnTo>
                <a:lnTo>
                  <a:pt x="45720" y="2208276"/>
                </a:lnTo>
                <a:lnTo>
                  <a:pt x="4572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35253" y="4175886"/>
            <a:ext cx="3173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2480" algn="l"/>
                <a:tab pos="2162810" algn="l"/>
                <a:tab pos="2621915" algn="l"/>
              </a:tabLst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праву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6626" y="4419727"/>
            <a:ext cx="12934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проектом,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0">
              <a:lnSpc>
                <a:spcPct val="100000"/>
              </a:lnSpc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изменениям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5253" y="4419727"/>
            <a:ext cx="16414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306195" algn="l"/>
              </a:tabLst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уникальным прогрессивным сознании...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1736" y="4175886"/>
            <a:ext cx="190753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8600" algn="just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можно</a:t>
            </a:r>
            <a:r>
              <a:rPr sz="1600" i="1" spc="4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i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назвать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способствовавшим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i="1" spc="2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общественном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5226" y="4907660"/>
            <a:ext cx="3192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03300" algn="l"/>
                <a:tab pos="2109470" algn="l"/>
                <a:tab pos="2955925" algn="l"/>
              </a:tabLst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должны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вывести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акцию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253" y="5151501"/>
            <a:ext cx="5063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качественно</a:t>
            </a:r>
            <a:r>
              <a:rPr sz="1600" i="1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новый</a:t>
            </a:r>
            <a:r>
              <a:rPr sz="1600" i="1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уровень.</a:t>
            </a:r>
            <a:r>
              <a:rPr sz="1600" i="1" spc="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Считаю</a:t>
            </a:r>
            <a:r>
              <a:rPr sz="1600" i="1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необходимым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5253" y="5395366"/>
            <a:ext cx="5061585" cy="1071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946275" algn="l"/>
                <a:tab pos="3978275" algn="l"/>
                <a:tab pos="4955540" algn="l"/>
              </a:tabLst>
            </a:pPr>
            <a:r>
              <a:rPr sz="1600" b="1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разработать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национальный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 </a:t>
            </a:r>
            <a:r>
              <a:rPr sz="1600" b="1" i="1" u="sng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чистоты</a:t>
            </a:r>
            <a:r>
              <a:rPr sz="1600" i="1" u="sng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.</a:t>
            </a:r>
            <a:r>
              <a:rPr sz="1600" i="1" u="sng" spc="-40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1600" i="1" u="sng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Это</a:t>
            </a:r>
            <a:r>
              <a:rPr sz="1600" i="1" u="sng" spc="-55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1600" i="1" u="sng" spc="-10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требование</a:t>
            </a:r>
            <a:r>
              <a:rPr sz="1600" i="1" u="sng" spc="-50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1600" i="1" u="sng" spc="-10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времени.»</a:t>
            </a:r>
            <a:r>
              <a:rPr sz="1600" i="1" u="sng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		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665"/>
              </a:lnSpc>
              <a:spcBef>
                <a:spcPts val="1070"/>
              </a:spcBef>
            </a:pP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Выступление</a:t>
            </a:r>
            <a:r>
              <a:rPr sz="1400" b="1" spc="-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400" b="1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экологической</a:t>
            </a:r>
            <a:r>
              <a:rPr sz="1400" b="1" spc="-6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акции</a:t>
            </a:r>
            <a:r>
              <a:rPr sz="1400" b="1" spc="-6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400" b="1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665"/>
              </a:lnSpc>
            </a:pP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19</a:t>
            </a:r>
            <a:r>
              <a:rPr sz="1400" spc="-4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сентября</a:t>
            </a:r>
            <a:r>
              <a:rPr sz="1400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2026</a:t>
            </a:r>
            <a:r>
              <a:rPr sz="1400" spc="-4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года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10300" y="4192523"/>
            <a:ext cx="47625" cy="2208530"/>
          </a:xfrm>
          <a:custGeom>
            <a:avLst/>
            <a:gdLst/>
            <a:ahLst/>
            <a:cxnLst/>
            <a:rect l="l" t="t" r="r" b="b"/>
            <a:pathLst>
              <a:path w="47625" h="2208529">
                <a:moveTo>
                  <a:pt x="47244" y="0"/>
                </a:moveTo>
                <a:lnTo>
                  <a:pt x="0" y="0"/>
                </a:lnTo>
                <a:lnTo>
                  <a:pt x="0" y="2208276"/>
                </a:lnTo>
                <a:lnTo>
                  <a:pt x="47244" y="2208276"/>
                </a:lnTo>
                <a:lnTo>
                  <a:pt x="47244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436614" y="4175886"/>
            <a:ext cx="50647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«Важно</a:t>
            </a:r>
            <a:r>
              <a:rPr sz="1600" i="1" spc="2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наполнить</a:t>
            </a:r>
            <a:r>
              <a:rPr sz="1600" i="1" spc="3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инициативу</a:t>
            </a:r>
            <a:r>
              <a:rPr sz="1600" i="1" spc="2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i="1" spc="2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качественно</a:t>
            </a:r>
            <a:r>
              <a:rPr sz="1600" i="1" spc="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новым</a:t>
            </a:r>
            <a:r>
              <a:rPr sz="1600" i="1" spc="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содержанием,</a:t>
            </a:r>
            <a:r>
              <a:rPr sz="1600" i="1" spc="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свежими</a:t>
            </a:r>
            <a:r>
              <a:rPr sz="1600" i="1" spc="1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идеями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36614" y="4663262"/>
            <a:ext cx="5064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1650" algn="l"/>
                <a:tab pos="2211705" algn="l"/>
                <a:tab pos="3728085" algn="l"/>
              </a:tabLst>
            </a:pPr>
            <a:r>
              <a:rPr sz="1600" i="1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креативными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проектами.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Посредством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общенационального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53704" y="4907660"/>
            <a:ext cx="29457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89660" algn="l"/>
                <a:tab pos="1798320" algn="l"/>
              </a:tabLst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движения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36614" y="5151501"/>
            <a:ext cx="50628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мы</a:t>
            </a:r>
            <a:r>
              <a:rPr sz="1600" i="1" spc="3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меняем</a:t>
            </a:r>
            <a:r>
              <a:rPr sz="1600" b="1" i="1" spc="3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отношение</a:t>
            </a:r>
            <a:r>
              <a:rPr sz="1600" b="1" i="1" spc="3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всего</a:t>
            </a:r>
            <a:r>
              <a:rPr sz="1600" b="1" i="1" spc="3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нашего</a:t>
            </a:r>
            <a:r>
              <a:rPr sz="1600" b="1" i="1" spc="3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народа</a:t>
            </a:r>
            <a:r>
              <a:rPr sz="1600" b="1" i="1" spc="3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этим</a:t>
            </a:r>
            <a:r>
              <a:rPr sz="1600" i="1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вопросам.»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48044" y="5858255"/>
            <a:ext cx="4944110" cy="9525"/>
          </a:xfrm>
          <a:custGeom>
            <a:avLst/>
            <a:gdLst/>
            <a:ahLst/>
            <a:cxnLst/>
            <a:rect l="l" t="t" r="r" b="b"/>
            <a:pathLst>
              <a:path w="4944109" h="9525">
                <a:moveTo>
                  <a:pt x="4943856" y="0"/>
                </a:moveTo>
                <a:lnTo>
                  <a:pt x="0" y="0"/>
                </a:lnTo>
                <a:lnTo>
                  <a:pt x="0" y="9144"/>
                </a:lnTo>
                <a:lnTo>
                  <a:pt x="4943856" y="9144"/>
                </a:lnTo>
                <a:lnTo>
                  <a:pt x="4943856" y="0"/>
                </a:lnTo>
                <a:close/>
              </a:path>
            </a:pathLst>
          </a:custGeom>
          <a:solidFill>
            <a:srgbClr val="F0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436614" y="6029959"/>
            <a:ext cx="5036820" cy="455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Выступление</a:t>
            </a:r>
            <a:r>
              <a:rPr sz="1400" b="1" spc="-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400" b="1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Первой</a:t>
            </a:r>
            <a:r>
              <a:rPr sz="1400" b="1" spc="-4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Сессии</a:t>
            </a:r>
            <a:r>
              <a:rPr sz="1400" b="1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Қазақстан</a:t>
            </a:r>
            <a:r>
              <a:rPr sz="1400" b="1" spc="-4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Халық</a:t>
            </a:r>
            <a:r>
              <a:rPr sz="1400" b="1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Кеңесі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24</a:t>
            </a:r>
            <a:r>
              <a:rPr sz="1400" spc="-4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сентября</a:t>
            </a:r>
            <a:r>
              <a:rPr sz="1400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2026</a:t>
            </a:r>
            <a:r>
              <a:rPr sz="1400" spc="-4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года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20" name="object 20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490340" y="807211"/>
            <a:ext cx="595846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ГЛАВНАЯ</a:t>
            </a:r>
            <a:r>
              <a:rPr sz="2100" b="1" spc="-90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b="1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</a:t>
            </a:r>
            <a:r>
              <a:rPr sz="2100" b="1" spc="-95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b="1" spc="-10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100" b="1" spc="-80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b="1" spc="-10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endParaRPr sz="2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609600" y="2046732"/>
            <a:ext cx="5334000" cy="3253740"/>
          </a:xfrm>
          <a:custGeom>
            <a:avLst/>
            <a:gdLst/>
            <a:ahLst/>
            <a:cxnLst/>
            <a:rect l="l" t="t" r="r" b="b"/>
            <a:pathLst>
              <a:path w="5334000" h="3253740">
                <a:moveTo>
                  <a:pt x="5185791" y="0"/>
                </a:moveTo>
                <a:lnTo>
                  <a:pt x="148247" y="0"/>
                </a:lnTo>
                <a:lnTo>
                  <a:pt x="101388" y="7562"/>
                </a:lnTo>
                <a:lnTo>
                  <a:pt x="60693" y="28614"/>
                </a:lnTo>
                <a:lnTo>
                  <a:pt x="28602" y="60707"/>
                </a:lnTo>
                <a:lnTo>
                  <a:pt x="7557" y="101388"/>
                </a:lnTo>
                <a:lnTo>
                  <a:pt x="0" y="148208"/>
                </a:lnTo>
                <a:lnTo>
                  <a:pt x="0" y="3105530"/>
                </a:lnTo>
                <a:lnTo>
                  <a:pt x="7557" y="3152351"/>
                </a:lnTo>
                <a:lnTo>
                  <a:pt x="28602" y="3193032"/>
                </a:lnTo>
                <a:lnTo>
                  <a:pt x="60693" y="3225125"/>
                </a:lnTo>
                <a:lnTo>
                  <a:pt x="101388" y="3246177"/>
                </a:lnTo>
                <a:lnTo>
                  <a:pt x="148247" y="3253740"/>
                </a:lnTo>
                <a:lnTo>
                  <a:pt x="5185791" y="3253740"/>
                </a:lnTo>
                <a:lnTo>
                  <a:pt x="5232611" y="3246177"/>
                </a:lnTo>
                <a:lnTo>
                  <a:pt x="5273292" y="3225125"/>
                </a:lnTo>
                <a:lnTo>
                  <a:pt x="5305385" y="3193032"/>
                </a:lnTo>
                <a:lnTo>
                  <a:pt x="5326437" y="3152351"/>
                </a:lnTo>
                <a:lnTo>
                  <a:pt x="5334000" y="3105530"/>
                </a:lnTo>
                <a:lnTo>
                  <a:pt x="5334000" y="148208"/>
                </a:lnTo>
                <a:lnTo>
                  <a:pt x="5326437" y="101388"/>
                </a:lnTo>
                <a:lnTo>
                  <a:pt x="5305385" y="60707"/>
                </a:lnTo>
                <a:lnTo>
                  <a:pt x="5273292" y="28614"/>
                </a:lnTo>
                <a:lnTo>
                  <a:pt x="5232611" y="7562"/>
                </a:lnTo>
                <a:lnTo>
                  <a:pt x="5185791" y="0"/>
                </a:lnTo>
                <a:close/>
              </a:path>
            </a:pathLst>
          </a:custGeom>
          <a:solidFill>
            <a:srgbClr val="F3FB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7413" y="2947797"/>
            <a:ext cx="374078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20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r>
              <a:rPr sz="2000" spc="-1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должен</a:t>
            </a:r>
            <a:r>
              <a:rPr sz="20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стать фундаментальной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основой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национальной</a:t>
            </a:r>
            <a:r>
              <a:rPr sz="2000" b="1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идеологии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49114" y="4249928"/>
            <a:ext cx="7880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25" dirty="0">
                <a:solidFill>
                  <a:srgbClr val="D2EDE8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5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48400" y="2129027"/>
            <a:ext cx="5334000" cy="3253740"/>
          </a:xfrm>
          <a:custGeom>
            <a:avLst/>
            <a:gdLst/>
            <a:ahLst/>
            <a:cxnLst/>
            <a:rect l="l" t="t" r="r" b="b"/>
            <a:pathLst>
              <a:path w="5334000" h="3253740">
                <a:moveTo>
                  <a:pt x="5185791" y="0"/>
                </a:moveTo>
                <a:lnTo>
                  <a:pt x="148209" y="0"/>
                </a:lnTo>
                <a:lnTo>
                  <a:pt x="101388" y="7562"/>
                </a:lnTo>
                <a:lnTo>
                  <a:pt x="60707" y="28614"/>
                </a:lnTo>
                <a:lnTo>
                  <a:pt x="28614" y="60707"/>
                </a:lnTo>
                <a:lnTo>
                  <a:pt x="7562" y="101388"/>
                </a:lnTo>
                <a:lnTo>
                  <a:pt x="0" y="148209"/>
                </a:lnTo>
                <a:lnTo>
                  <a:pt x="0" y="3105531"/>
                </a:lnTo>
                <a:lnTo>
                  <a:pt x="7562" y="3152351"/>
                </a:lnTo>
                <a:lnTo>
                  <a:pt x="28614" y="3193032"/>
                </a:lnTo>
                <a:lnTo>
                  <a:pt x="60707" y="3225125"/>
                </a:lnTo>
                <a:lnTo>
                  <a:pt x="101388" y="3246177"/>
                </a:lnTo>
                <a:lnTo>
                  <a:pt x="148209" y="3253740"/>
                </a:lnTo>
                <a:lnTo>
                  <a:pt x="5185791" y="3253740"/>
                </a:lnTo>
                <a:lnTo>
                  <a:pt x="5232611" y="3246177"/>
                </a:lnTo>
                <a:lnTo>
                  <a:pt x="5273292" y="3225125"/>
                </a:lnTo>
                <a:lnTo>
                  <a:pt x="5305385" y="3193032"/>
                </a:lnTo>
                <a:lnTo>
                  <a:pt x="5326437" y="3152351"/>
                </a:lnTo>
                <a:lnTo>
                  <a:pt x="5334000" y="3105531"/>
                </a:lnTo>
                <a:lnTo>
                  <a:pt x="5334000" y="148209"/>
                </a:lnTo>
                <a:lnTo>
                  <a:pt x="5326437" y="101388"/>
                </a:lnTo>
                <a:lnTo>
                  <a:pt x="5305385" y="60707"/>
                </a:lnTo>
                <a:lnTo>
                  <a:pt x="5273292" y="28614"/>
                </a:lnTo>
                <a:lnTo>
                  <a:pt x="5232611" y="7562"/>
                </a:lnTo>
                <a:lnTo>
                  <a:pt x="5185791" y="0"/>
                </a:lnTo>
                <a:close/>
              </a:path>
            </a:pathLst>
          </a:custGeom>
          <a:solidFill>
            <a:srgbClr val="FCF8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68516" y="2891739"/>
            <a:ext cx="4704080" cy="2219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Сделать</a:t>
            </a:r>
            <a:r>
              <a:rPr sz="20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идею</a:t>
            </a:r>
            <a:r>
              <a:rPr sz="2000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чистоты,</a:t>
            </a:r>
            <a:r>
              <a:rPr sz="2000" spc="-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порядка</a:t>
            </a:r>
            <a:r>
              <a:rPr sz="20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5080" indent="476885">
              <a:lnSpc>
                <a:spcPct val="100000"/>
              </a:lnSpc>
            </a:pP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экологической</a:t>
            </a:r>
            <a:r>
              <a:rPr sz="2000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ответственности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неотъемлемой</a:t>
            </a:r>
            <a:r>
              <a:rPr sz="2000" spc="-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частью</a:t>
            </a:r>
            <a:r>
              <a:rPr sz="20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национального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777875">
              <a:lnSpc>
                <a:spcPct val="100000"/>
              </a:lnSpc>
            </a:pPr>
            <a:r>
              <a:rPr sz="20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характера</a:t>
            </a:r>
            <a:r>
              <a:rPr sz="2000" b="1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2000" b="1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менталитета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R="64135" algn="r">
              <a:lnSpc>
                <a:spcPct val="100000"/>
              </a:lnSpc>
              <a:spcBef>
                <a:spcPts val="1190"/>
              </a:spcBef>
            </a:pPr>
            <a:r>
              <a:rPr sz="5400" b="1" spc="-25" dirty="0">
                <a:solidFill>
                  <a:srgbClr val="FAEBCC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5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8" name="object 8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1033373" y="614562"/>
            <a:ext cx="10048011" cy="671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ПЕРЕХОД</a:t>
            </a:r>
            <a:r>
              <a:rPr sz="2100" spc="-7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</a:t>
            </a:r>
            <a:r>
              <a:rPr sz="2100" spc="-6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СИСТЕМНОЙ</a:t>
            </a:r>
            <a:r>
              <a:rPr sz="2100" spc="-6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ОБЩЕНАЦИОНАЛЬНОЙ</a:t>
            </a:r>
            <a:r>
              <a:rPr sz="2100" spc="-4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МОДЕЛИ</a:t>
            </a:r>
            <a:endParaRPr lang="en-US" sz="2100" spc="-1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2100" b="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РЕАЛИЗАЦИИ</a:t>
            </a:r>
            <a:r>
              <a:rPr lang="ru-RU" sz="2100" b="0" spc="-2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b="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</a:t>
            </a:r>
            <a:r>
              <a:rPr lang="ru-RU" sz="2100" b="0" spc="-1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b="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ОСНОВЕ</a:t>
            </a:r>
            <a:r>
              <a:rPr lang="ru-RU" sz="2100" b="0" spc="-3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ТРЕХ</a:t>
            </a:r>
            <a:r>
              <a:rPr lang="ru-RU" sz="2100" b="1" spc="-3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b="1" spc="-1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ВЗАИМОСВЯЗАННЫХ</a:t>
            </a:r>
            <a:r>
              <a:rPr lang="ru-RU" sz="2100" b="1" spc="1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b="1" spc="-1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ПРИНЦИПОВ</a:t>
            </a:r>
            <a:endParaRPr sz="21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8744" y="2269235"/>
            <a:ext cx="3499485" cy="48895"/>
          </a:xfrm>
          <a:custGeom>
            <a:avLst/>
            <a:gdLst/>
            <a:ahLst/>
            <a:cxnLst/>
            <a:rect l="l" t="t" r="r" b="b"/>
            <a:pathLst>
              <a:path w="3499485" h="48894">
                <a:moveTo>
                  <a:pt x="3499104" y="0"/>
                </a:moveTo>
                <a:lnTo>
                  <a:pt x="0" y="0"/>
                </a:lnTo>
                <a:lnTo>
                  <a:pt x="0" y="48767"/>
                </a:lnTo>
                <a:lnTo>
                  <a:pt x="3499104" y="48767"/>
                </a:lnTo>
                <a:lnTo>
                  <a:pt x="3499104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75131" y="2551176"/>
            <a:ext cx="3497579" cy="3813175"/>
          </a:xfrm>
          <a:custGeom>
            <a:avLst/>
            <a:gdLst/>
            <a:ahLst/>
            <a:cxnLst/>
            <a:rect l="l" t="t" r="r" b="b"/>
            <a:pathLst>
              <a:path w="3497579" h="3813175">
                <a:moveTo>
                  <a:pt x="3402838" y="0"/>
                </a:moveTo>
                <a:lnTo>
                  <a:pt x="94716" y="0"/>
                </a:lnTo>
                <a:lnTo>
                  <a:pt x="57848" y="7445"/>
                </a:lnTo>
                <a:lnTo>
                  <a:pt x="27741" y="27749"/>
                </a:lnTo>
                <a:lnTo>
                  <a:pt x="7443" y="57864"/>
                </a:lnTo>
                <a:lnTo>
                  <a:pt x="0" y="94741"/>
                </a:lnTo>
                <a:lnTo>
                  <a:pt x="0" y="3718331"/>
                </a:lnTo>
                <a:lnTo>
                  <a:pt x="7443" y="3755199"/>
                </a:lnTo>
                <a:lnTo>
                  <a:pt x="27741" y="3785306"/>
                </a:lnTo>
                <a:lnTo>
                  <a:pt x="57848" y="3805604"/>
                </a:lnTo>
                <a:lnTo>
                  <a:pt x="94716" y="3813048"/>
                </a:lnTo>
                <a:lnTo>
                  <a:pt x="3402838" y="3813048"/>
                </a:lnTo>
                <a:lnTo>
                  <a:pt x="3439715" y="3805604"/>
                </a:lnTo>
                <a:lnTo>
                  <a:pt x="3469830" y="3785306"/>
                </a:lnTo>
                <a:lnTo>
                  <a:pt x="3490134" y="3755199"/>
                </a:lnTo>
                <a:lnTo>
                  <a:pt x="3497579" y="3718331"/>
                </a:lnTo>
                <a:lnTo>
                  <a:pt x="3497579" y="94741"/>
                </a:lnTo>
                <a:lnTo>
                  <a:pt x="3490134" y="57864"/>
                </a:lnTo>
                <a:lnTo>
                  <a:pt x="3469830" y="27749"/>
                </a:lnTo>
                <a:lnTo>
                  <a:pt x="3439715" y="7445"/>
                </a:lnTo>
                <a:lnTo>
                  <a:pt x="3402838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46447" y="2293620"/>
            <a:ext cx="3499485" cy="4070985"/>
          </a:xfrm>
          <a:custGeom>
            <a:avLst/>
            <a:gdLst/>
            <a:ahLst/>
            <a:cxnLst/>
            <a:rect l="l" t="t" r="r" b="b"/>
            <a:pathLst>
              <a:path w="3499484" h="4070985">
                <a:moveTo>
                  <a:pt x="3404361" y="0"/>
                </a:moveTo>
                <a:lnTo>
                  <a:pt x="94741" y="0"/>
                </a:lnTo>
                <a:lnTo>
                  <a:pt x="57864" y="7445"/>
                </a:lnTo>
                <a:lnTo>
                  <a:pt x="27749" y="27749"/>
                </a:lnTo>
                <a:lnTo>
                  <a:pt x="7445" y="57864"/>
                </a:lnTo>
                <a:lnTo>
                  <a:pt x="0" y="94741"/>
                </a:lnTo>
                <a:lnTo>
                  <a:pt x="0" y="3975849"/>
                </a:lnTo>
                <a:lnTo>
                  <a:pt x="7445" y="4012734"/>
                </a:lnTo>
                <a:lnTo>
                  <a:pt x="27749" y="4042852"/>
                </a:lnTo>
                <a:lnTo>
                  <a:pt x="57864" y="4063158"/>
                </a:lnTo>
                <a:lnTo>
                  <a:pt x="94741" y="4070604"/>
                </a:lnTo>
                <a:lnTo>
                  <a:pt x="3404361" y="4070604"/>
                </a:lnTo>
                <a:lnTo>
                  <a:pt x="3441239" y="4063158"/>
                </a:lnTo>
                <a:lnTo>
                  <a:pt x="3471354" y="4042852"/>
                </a:lnTo>
                <a:lnTo>
                  <a:pt x="3491658" y="4012734"/>
                </a:lnTo>
                <a:lnTo>
                  <a:pt x="3499104" y="3975849"/>
                </a:lnTo>
                <a:lnTo>
                  <a:pt x="3499104" y="94741"/>
                </a:lnTo>
                <a:lnTo>
                  <a:pt x="3491658" y="57864"/>
                </a:lnTo>
                <a:lnTo>
                  <a:pt x="3471354" y="27749"/>
                </a:lnTo>
                <a:lnTo>
                  <a:pt x="3441239" y="7445"/>
                </a:lnTo>
                <a:lnTo>
                  <a:pt x="3404361" y="0"/>
                </a:lnTo>
                <a:close/>
              </a:path>
            </a:pathLst>
          </a:custGeom>
          <a:solidFill>
            <a:srgbClr val="F3FB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46447" y="2269235"/>
            <a:ext cx="3499485" cy="48895"/>
          </a:xfrm>
          <a:custGeom>
            <a:avLst/>
            <a:gdLst/>
            <a:ahLst/>
            <a:cxnLst/>
            <a:rect l="l" t="t" r="r" b="b"/>
            <a:pathLst>
              <a:path w="3499484" h="48894">
                <a:moveTo>
                  <a:pt x="3499104" y="0"/>
                </a:moveTo>
                <a:lnTo>
                  <a:pt x="0" y="0"/>
                </a:lnTo>
                <a:lnTo>
                  <a:pt x="0" y="48767"/>
                </a:lnTo>
                <a:lnTo>
                  <a:pt x="3499104" y="48767"/>
                </a:lnTo>
                <a:lnTo>
                  <a:pt x="3499104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8074152" y="2293620"/>
            <a:ext cx="3499485" cy="4070985"/>
          </a:xfrm>
          <a:custGeom>
            <a:avLst/>
            <a:gdLst/>
            <a:ahLst/>
            <a:cxnLst/>
            <a:rect l="l" t="t" r="r" b="b"/>
            <a:pathLst>
              <a:path w="3499484" h="4070985">
                <a:moveTo>
                  <a:pt x="3404362" y="0"/>
                </a:moveTo>
                <a:lnTo>
                  <a:pt x="94742" y="0"/>
                </a:lnTo>
                <a:lnTo>
                  <a:pt x="57864" y="7445"/>
                </a:lnTo>
                <a:lnTo>
                  <a:pt x="27749" y="27749"/>
                </a:lnTo>
                <a:lnTo>
                  <a:pt x="7445" y="57864"/>
                </a:lnTo>
                <a:lnTo>
                  <a:pt x="0" y="94741"/>
                </a:lnTo>
                <a:lnTo>
                  <a:pt x="0" y="3975849"/>
                </a:lnTo>
                <a:lnTo>
                  <a:pt x="7445" y="4012734"/>
                </a:lnTo>
                <a:lnTo>
                  <a:pt x="27749" y="4042852"/>
                </a:lnTo>
                <a:lnTo>
                  <a:pt x="57864" y="4063158"/>
                </a:lnTo>
                <a:lnTo>
                  <a:pt x="94742" y="4070604"/>
                </a:lnTo>
                <a:lnTo>
                  <a:pt x="3404362" y="4070604"/>
                </a:lnTo>
                <a:lnTo>
                  <a:pt x="3441239" y="4063158"/>
                </a:lnTo>
                <a:lnTo>
                  <a:pt x="3471354" y="4042852"/>
                </a:lnTo>
                <a:lnTo>
                  <a:pt x="3491658" y="4012734"/>
                </a:lnTo>
                <a:lnTo>
                  <a:pt x="3499104" y="3975849"/>
                </a:lnTo>
                <a:lnTo>
                  <a:pt x="3499104" y="94741"/>
                </a:lnTo>
                <a:lnTo>
                  <a:pt x="3491658" y="57864"/>
                </a:lnTo>
                <a:lnTo>
                  <a:pt x="3471354" y="27749"/>
                </a:lnTo>
                <a:lnTo>
                  <a:pt x="3441239" y="7445"/>
                </a:lnTo>
                <a:lnTo>
                  <a:pt x="3404362" y="0"/>
                </a:lnTo>
                <a:close/>
              </a:path>
            </a:pathLst>
          </a:custGeom>
          <a:solidFill>
            <a:srgbClr val="FCF8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074152" y="2269235"/>
            <a:ext cx="3499485" cy="48895"/>
          </a:xfrm>
          <a:custGeom>
            <a:avLst/>
            <a:gdLst/>
            <a:ahLst/>
            <a:cxnLst/>
            <a:rect l="l" t="t" r="r" b="b"/>
            <a:pathLst>
              <a:path w="3499484" h="48894">
                <a:moveTo>
                  <a:pt x="3499104" y="0"/>
                </a:moveTo>
                <a:lnTo>
                  <a:pt x="0" y="0"/>
                </a:lnTo>
                <a:lnTo>
                  <a:pt x="0" y="48767"/>
                </a:lnTo>
                <a:lnTo>
                  <a:pt x="3499104" y="48767"/>
                </a:lnTo>
                <a:lnTo>
                  <a:pt x="3499104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image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46347" y="2465832"/>
            <a:ext cx="333755" cy="332232"/>
          </a:xfrm>
          <a:prstGeom prst="rect">
            <a:avLst/>
          </a:prstGeom>
        </p:spPr>
      </p:pic>
      <p:pic>
        <p:nvPicPr>
          <p:cNvPr id="9" name="object 9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84135" y="2459735"/>
            <a:ext cx="423672" cy="338327"/>
          </a:xfrm>
          <a:prstGeom prst="rect">
            <a:avLst/>
          </a:prstGeom>
        </p:spPr>
      </p:pic>
      <p:pic>
        <p:nvPicPr>
          <p:cNvPr id="10" name="object 10" descr="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00" y="2436876"/>
            <a:ext cx="361188" cy="36118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33373" y="2910966"/>
            <a:ext cx="2573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Институционализация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3820" y="3485133"/>
            <a:ext cx="29483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Запуск</a:t>
            </a:r>
            <a:r>
              <a:rPr sz="18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работы</a:t>
            </a:r>
            <a:r>
              <a:rPr sz="18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Проектного </a:t>
            </a: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офиса</a:t>
            </a:r>
            <a:r>
              <a:rPr sz="18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8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формате</a:t>
            </a:r>
            <a:r>
              <a:rPr sz="18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единого оперативного</a:t>
            </a:r>
            <a:r>
              <a:rPr sz="18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" algn="ctr">
              <a:lnSpc>
                <a:spcPct val="100000"/>
              </a:lnSpc>
            </a:pP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методического</a:t>
            </a:r>
            <a:r>
              <a:rPr sz="18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центра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62094" y="2910966"/>
            <a:ext cx="3004185" cy="25380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2860" marR="5080" algn="ctr">
              <a:lnSpc>
                <a:spcPts val="1800"/>
              </a:lnSpc>
              <a:spcBef>
                <a:spcPts val="460"/>
              </a:spcBef>
            </a:pP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Расширение</a:t>
            </a:r>
            <a:r>
              <a:rPr sz="1800" b="1" spc="-114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направлений </a:t>
            </a: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800" b="1" spc="-1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проектов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L="12700" marR="84455" algn="ctr">
              <a:lnSpc>
                <a:spcPct val="100000"/>
              </a:lnSpc>
              <a:spcBef>
                <a:spcPts val="700"/>
              </a:spcBef>
            </a:pP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Ориентация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8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постоянное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гражданское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участие,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расширение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тематических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направлений</a:t>
            </a:r>
            <a:r>
              <a:rPr sz="18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формирование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2390" algn="ctr">
              <a:lnSpc>
                <a:spcPct val="100000"/>
              </a:lnSpc>
            </a:pP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экологических</a:t>
            </a:r>
            <a:r>
              <a:rPr sz="1800" spc="-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привычек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1120" algn="ctr">
              <a:lnSpc>
                <a:spcPct val="100000"/>
              </a:lnSpc>
            </a:pP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поведения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</a:t>
            </a:r>
            <a:r>
              <a:rPr sz="18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каждого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42310" y="5402681"/>
            <a:ext cx="7880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25" dirty="0">
                <a:solidFill>
                  <a:srgbClr val="B8CDE4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5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83529" y="5423712"/>
            <a:ext cx="1282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гражданина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36105" y="5404815"/>
            <a:ext cx="7886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25" dirty="0">
                <a:solidFill>
                  <a:srgbClr val="D2EDE8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5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14486" y="2921889"/>
            <a:ext cx="3208020" cy="33299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2270" marR="180975" algn="ctr">
              <a:lnSpc>
                <a:spcPts val="1800"/>
              </a:lnSpc>
              <a:spcBef>
                <a:spcPts val="460"/>
              </a:spcBef>
            </a:pP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Внедрение</a:t>
            </a:r>
            <a:r>
              <a:rPr sz="1800" b="1" spc="-4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регулярной </a:t>
            </a: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системы</a:t>
            </a:r>
            <a:r>
              <a:rPr sz="1800" b="1" spc="-5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оценки</a:t>
            </a:r>
            <a:r>
              <a:rPr sz="1800" b="1" spc="-9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(KPI)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065" marR="102235" algn="ctr">
              <a:lnSpc>
                <a:spcPct val="100000"/>
              </a:lnSpc>
              <a:spcBef>
                <a:spcPts val="935"/>
              </a:spcBef>
            </a:pP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Разработка</a:t>
            </a:r>
            <a:r>
              <a:rPr sz="18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8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внедрение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Национального</a:t>
            </a:r>
            <a:r>
              <a:rPr sz="1800" b="1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стандарта чистоты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18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Системное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закрепление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эко-норм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показателей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всех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уровнях</a:t>
            </a:r>
            <a:r>
              <a:rPr sz="18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государственного</a:t>
            </a:r>
            <a:r>
              <a:rPr sz="1800" spc="-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общественного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управления.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ts val="6000"/>
              </a:lnSpc>
            </a:pPr>
            <a:r>
              <a:rPr sz="5400" b="1" spc="-25" dirty="0">
                <a:solidFill>
                  <a:srgbClr val="FAEBCC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5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8" name="object 18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533400" y="508670"/>
            <a:ext cx="10138282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НАЦИОНАЛЬНЫЙ</a:t>
            </a:r>
            <a:r>
              <a:rPr sz="2100" spc="-3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ПРОЕКТНЫЙ</a:t>
            </a:r>
            <a:r>
              <a:rPr sz="2100" spc="-8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ОФИС</a:t>
            </a:r>
            <a:r>
              <a:rPr sz="2100" spc="-8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2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100" spc="-7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endParaRPr sz="2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85928" y="1382266"/>
            <a:ext cx="2775585" cy="3101903"/>
          </a:xfrm>
          <a:custGeom>
            <a:avLst/>
            <a:gdLst/>
            <a:ahLst/>
            <a:cxnLst/>
            <a:rect l="l" t="t" r="r" b="b"/>
            <a:pathLst>
              <a:path w="2775585" h="2420620">
                <a:moveTo>
                  <a:pt x="2593721" y="0"/>
                </a:moveTo>
                <a:lnTo>
                  <a:pt x="181508" y="0"/>
                </a:lnTo>
                <a:lnTo>
                  <a:pt x="133257" y="6484"/>
                </a:lnTo>
                <a:lnTo>
                  <a:pt x="89899" y="24783"/>
                </a:lnTo>
                <a:lnTo>
                  <a:pt x="53163" y="53165"/>
                </a:lnTo>
                <a:lnTo>
                  <a:pt x="24781" y="89897"/>
                </a:lnTo>
                <a:lnTo>
                  <a:pt x="6483" y="133247"/>
                </a:lnTo>
                <a:lnTo>
                  <a:pt x="0" y="181483"/>
                </a:lnTo>
                <a:lnTo>
                  <a:pt x="0" y="2238629"/>
                </a:lnTo>
                <a:lnTo>
                  <a:pt x="6483" y="2286864"/>
                </a:lnTo>
                <a:lnTo>
                  <a:pt x="24781" y="2330214"/>
                </a:lnTo>
                <a:lnTo>
                  <a:pt x="53163" y="2366946"/>
                </a:lnTo>
                <a:lnTo>
                  <a:pt x="89899" y="2395328"/>
                </a:lnTo>
                <a:lnTo>
                  <a:pt x="133257" y="2413627"/>
                </a:lnTo>
                <a:lnTo>
                  <a:pt x="181508" y="2420112"/>
                </a:lnTo>
                <a:lnTo>
                  <a:pt x="2593721" y="2420112"/>
                </a:lnTo>
                <a:lnTo>
                  <a:pt x="2641956" y="2413627"/>
                </a:lnTo>
                <a:lnTo>
                  <a:pt x="2685306" y="2395328"/>
                </a:lnTo>
                <a:lnTo>
                  <a:pt x="2722038" y="2366946"/>
                </a:lnTo>
                <a:lnTo>
                  <a:pt x="2750420" y="2330214"/>
                </a:lnTo>
                <a:lnTo>
                  <a:pt x="2768719" y="2286864"/>
                </a:lnTo>
                <a:lnTo>
                  <a:pt x="2775204" y="2238629"/>
                </a:lnTo>
                <a:lnTo>
                  <a:pt x="2775204" y="181483"/>
                </a:lnTo>
                <a:lnTo>
                  <a:pt x="2768719" y="133247"/>
                </a:lnTo>
                <a:lnTo>
                  <a:pt x="2750420" y="89897"/>
                </a:lnTo>
                <a:lnTo>
                  <a:pt x="2722038" y="53165"/>
                </a:lnTo>
                <a:lnTo>
                  <a:pt x="2685306" y="24783"/>
                </a:lnTo>
                <a:lnTo>
                  <a:pt x="2641956" y="6484"/>
                </a:lnTo>
                <a:lnTo>
                  <a:pt x="2593721" y="0"/>
                </a:lnTo>
                <a:close/>
              </a:path>
            </a:pathLst>
          </a:custGeom>
          <a:solidFill>
            <a:srgbClr val="F3FB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23494" y="1499362"/>
            <a:ext cx="237109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8980" marR="5080" indent="-7162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sz="1400" b="1" spc="-3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Социология,</a:t>
            </a:r>
            <a:r>
              <a:rPr sz="1400" b="1" spc="-3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BIG</a:t>
            </a:r>
            <a:r>
              <a:rPr sz="1400" b="1" spc="-25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6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400" b="1" spc="-15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5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400" b="1" spc="-1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аналитика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24200" y="1376172"/>
            <a:ext cx="2784475" cy="3113532"/>
            <a:chOff x="3124200" y="1376172"/>
            <a:chExt cx="2784475" cy="2429510"/>
          </a:xfrm>
        </p:grpSpPr>
        <p:sp>
          <p:nvSpPr>
            <p:cNvPr id="4" name="object 4"/>
            <p:cNvSpPr/>
            <p:nvPr/>
          </p:nvSpPr>
          <p:spPr>
            <a:xfrm>
              <a:off x="3128772" y="1380744"/>
              <a:ext cx="2775585" cy="2420620"/>
            </a:xfrm>
            <a:custGeom>
              <a:avLst/>
              <a:gdLst/>
              <a:ahLst/>
              <a:cxnLst/>
              <a:rect l="l" t="t" r="r" b="b"/>
              <a:pathLst>
                <a:path w="2775585" h="2420620">
                  <a:moveTo>
                    <a:pt x="2593720" y="0"/>
                  </a:moveTo>
                  <a:lnTo>
                    <a:pt x="181482" y="0"/>
                  </a:lnTo>
                  <a:lnTo>
                    <a:pt x="133247" y="6484"/>
                  </a:lnTo>
                  <a:lnTo>
                    <a:pt x="89897" y="24783"/>
                  </a:lnTo>
                  <a:lnTo>
                    <a:pt x="53165" y="53165"/>
                  </a:lnTo>
                  <a:lnTo>
                    <a:pt x="24783" y="89897"/>
                  </a:lnTo>
                  <a:lnTo>
                    <a:pt x="6484" y="133247"/>
                  </a:lnTo>
                  <a:lnTo>
                    <a:pt x="0" y="181482"/>
                  </a:lnTo>
                  <a:lnTo>
                    <a:pt x="0" y="2238629"/>
                  </a:lnTo>
                  <a:lnTo>
                    <a:pt x="6484" y="2286864"/>
                  </a:lnTo>
                  <a:lnTo>
                    <a:pt x="24783" y="2330214"/>
                  </a:lnTo>
                  <a:lnTo>
                    <a:pt x="53165" y="2366946"/>
                  </a:lnTo>
                  <a:lnTo>
                    <a:pt x="89897" y="2395328"/>
                  </a:lnTo>
                  <a:lnTo>
                    <a:pt x="133247" y="2413627"/>
                  </a:lnTo>
                  <a:lnTo>
                    <a:pt x="181482" y="2420111"/>
                  </a:lnTo>
                  <a:lnTo>
                    <a:pt x="2593720" y="2420111"/>
                  </a:lnTo>
                  <a:lnTo>
                    <a:pt x="2641956" y="2413627"/>
                  </a:lnTo>
                  <a:lnTo>
                    <a:pt x="2685306" y="2395328"/>
                  </a:lnTo>
                  <a:lnTo>
                    <a:pt x="2722038" y="2366946"/>
                  </a:lnTo>
                  <a:lnTo>
                    <a:pt x="2750420" y="2330214"/>
                  </a:lnTo>
                  <a:lnTo>
                    <a:pt x="2768719" y="2286864"/>
                  </a:lnTo>
                  <a:lnTo>
                    <a:pt x="2775204" y="2238629"/>
                  </a:lnTo>
                  <a:lnTo>
                    <a:pt x="2775204" y="181482"/>
                  </a:lnTo>
                  <a:lnTo>
                    <a:pt x="2768719" y="133247"/>
                  </a:lnTo>
                  <a:lnTo>
                    <a:pt x="2750420" y="89897"/>
                  </a:lnTo>
                  <a:lnTo>
                    <a:pt x="2722038" y="53165"/>
                  </a:lnTo>
                  <a:lnTo>
                    <a:pt x="2685306" y="24783"/>
                  </a:lnTo>
                  <a:lnTo>
                    <a:pt x="2641956" y="6484"/>
                  </a:lnTo>
                  <a:lnTo>
                    <a:pt x="25937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128772" y="1380744"/>
              <a:ext cx="2775585" cy="2420620"/>
            </a:xfrm>
            <a:custGeom>
              <a:avLst/>
              <a:gdLst/>
              <a:ahLst/>
              <a:cxnLst/>
              <a:rect l="l" t="t" r="r" b="b"/>
              <a:pathLst>
                <a:path w="2775585" h="2420620">
                  <a:moveTo>
                    <a:pt x="0" y="181482"/>
                  </a:moveTo>
                  <a:lnTo>
                    <a:pt x="6484" y="133247"/>
                  </a:lnTo>
                  <a:lnTo>
                    <a:pt x="24783" y="89897"/>
                  </a:lnTo>
                  <a:lnTo>
                    <a:pt x="53165" y="53165"/>
                  </a:lnTo>
                  <a:lnTo>
                    <a:pt x="89897" y="24783"/>
                  </a:lnTo>
                  <a:lnTo>
                    <a:pt x="133247" y="6484"/>
                  </a:lnTo>
                  <a:lnTo>
                    <a:pt x="181482" y="0"/>
                  </a:lnTo>
                  <a:lnTo>
                    <a:pt x="2593720" y="0"/>
                  </a:lnTo>
                  <a:lnTo>
                    <a:pt x="2641956" y="6484"/>
                  </a:lnTo>
                  <a:lnTo>
                    <a:pt x="2685306" y="24783"/>
                  </a:lnTo>
                  <a:lnTo>
                    <a:pt x="2722038" y="53165"/>
                  </a:lnTo>
                  <a:lnTo>
                    <a:pt x="2750420" y="89897"/>
                  </a:lnTo>
                  <a:lnTo>
                    <a:pt x="2768719" y="133247"/>
                  </a:lnTo>
                  <a:lnTo>
                    <a:pt x="2775204" y="181482"/>
                  </a:lnTo>
                  <a:lnTo>
                    <a:pt x="2775204" y="2238629"/>
                  </a:lnTo>
                  <a:lnTo>
                    <a:pt x="2768719" y="2286864"/>
                  </a:lnTo>
                  <a:lnTo>
                    <a:pt x="2750420" y="2330214"/>
                  </a:lnTo>
                  <a:lnTo>
                    <a:pt x="2722038" y="2366946"/>
                  </a:lnTo>
                  <a:lnTo>
                    <a:pt x="2685306" y="2395328"/>
                  </a:lnTo>
                  <a:lnTo>
                    <a:pt x="2641956" y="2413627"/>
                  </a:lnTo>
                  <a:lnTo>
                    <a:pt x="2593720" y="2420111"/>
                  </a:lnTo>
                  <a:lnTo>
                    <a:pt x="181482" y="2420111"/>
                  </a:lnTo>
                  <a:lnTo>
                    <a:pt x="133247" y="2413627"/>
                  </a:lnTo>
                  <a:lnTo>
                    <a:pt x="89897" y="2395328"/>
                  </a:lnTo>
                  <a:lnTo>
                    <a:pt x="53165" y="2366946"/>
                  </a:lnTo>
                  <a:lnTo>
                    <a:pt x="24783" y="2330214"/>
                  </a:lnTo>
                  <a:lnTo>
                    <a:pt x="6484" y="2286864"/>
                  </a:lnTo>
                  <a:lnTo>
                    <a:pt x="0" y="2238629"/>
                  </a:lnTo>
                  <a:lnTo>
                    <a:pt x="0" y="181482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269741" y="1486281"/>
            <a:ext cx="24701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175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2.</a:t>
            </a:r>
            <a:r>
              <a:rPr sz="1400" b="1" spc="-7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Проектное</a:t>
            </a:r>
            <a:r>
              <a:rPr sz="1400" b="1" spc="-65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управление</a:t>
            </a:r>
            <a:r>
              <a:rPr sz="1400" b="1" spc="-3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5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400" b="1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региональная</a:t>
            </a:r>
            <a:r>
              <a:rPr sz="1400" b="1" spc="-95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координация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4047" y="1999488"/>
            <a:ext cx="2409825" cy="20320"/>
          </a:xfrm>
          <a:custGeom>
            <a:avLst/>
            <a:gdLst/>
            <a:ahLst/>
            <a:cxnLst/>
            <a:rect l="l" t="t" r="r" b="b"/>
            <a:pathLst>
              <a:path w="2409825" h="20319">
                <a:moveTo>
                  <a:pt x="2409444" y="0"/>
                </a:moveTo>
                <a:lnTo>
                  <a:pt x="0" y="0"/>
                </a:lnTo>
                <a:lnTo>
                  <a:pt x="0" y="19812"/>
                </a:lnTo>
                <a:lnTo>
                  <a:pt x="2409444" y="19812"/>
                </a:lnTo>
                <a:lnTo>
                  <a:pt x="2409444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26891" y="1997964"/>
            <a:ext cx="2409825" cy="20320"/>
          </a:xfrm>
          <a:custGeom>
            <a:avLst/>
            <a:gdLst/>
            <a:ahLst/>
            <a:cxnLst/>
            <a:rect l="l" t="t" r="r" b="b"/>
            <a:pathLst>
              <a:path w="2409825" h="20319">
                <a:moveTo>
                  <a:pt x="2409443" y="0"/>
                </a:moveTo>
                <a:lnTo>
                  <a:pt x="0" y="0"/>
                </a:lnTo>
                <a:lnTo>
                  <a:pt x="0" y="19812"/>
                </a:lnTo>
                <a:lnTo>
                  <a:pt x="2409443" y="19812"/>
                </a:lnTo>
                <a:lnTo>
                  <a:pt x="2409443" y="0"/>
                </a:lnTo>
                <a:close/>
              </a:path>
            </a:pathLst>
          </a:custGeom>
          <a:solidFill>
            <a:srgbClr val="018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73140" y="1382266"/>
            <a:ext cx="2775585" cy="3113533"/>
          </a:xfrm>
          <a:custGeom>
            <a:avLst/>
            <a:gdLst/>
            <a:ahLst/>
            <a:cxnLst/>
            <a:rect l="l" t="t" r="r" b="b"/>
            <a:pathLst>
              <a:path w="2775584" h="2420620">
                <a:moveTo>
                  <a:pt x="2593720" y="0"/>
                </a:moveTo>
                <a:lnTo>
                  <a:pt x="181483" y="0"/>
                </a:lnTo>
                <a:lnTo>
                  <a:pt x="133247" y="6484"/>
                </a:lnTo>
                <a:lnTo>
                  <a:pt x="89897" y="24783"/>
                </a:lnTo>
                <a:lnTo>
                  <a:pt x="53165" y="53165"/>
                </a:lnTo>
                <a:lnTo>
                  <a:pt x="24783" y="89897"/>
                </a:lnTo>
                <a:lnTo>
                  <a:pt x="6484" y="133247"/>
                </a:lnTo>
                <a:lnTo>
                  <a:pt x="0" y="181483"/>
                </a:lnTo>
                <a:lnTo>
                  <a:pt x="0" y="2238629"/>
                </a:lnTo>
                <a:lnTo>
                  <a:pt x="6484" y="2286864"/>
                </a:lnTo>
                <a:lnTo>
                  <a:pt x="24783" y="2330214"/>
                </a:lnTo>
                <a:lnTo>
                  <a:pt x="53165" y="2366946"/>
                </a:lnTo>
                <a:lnTo>
                  <a:pt x="89897" y="2395328"/>
                </a:lnTo>
                <a:lnTo>
                  <a:pt x="133247" y="2413627"/>
                </a:lnTo>
                <a:lnTo>
                  <a:pt x="181483" y="2420112"/>
                </a:lnTo>
                <a:lnTo>
                  <a:pt x="2593720" y="2420112"/>
                </a:lnTo>
                <a:lnTo>
                  <a:pt x="2641956" y="2413627"/>
                </a:lnTo>
                <a:lnTo>
                  <a:pt x="2685306" y="2395328"/>
                </a:lnTo>
                <a:lnTo>
                  <a:pt x="2722038" y="2366946"/>
                </a:lnTo>
                <a:lnTo>
                  <a:pt x="2750420" y="2330214"/>
                </a:lnTo>
                <a:lnTo>
                  <a:pt x="2768719" y="2286864"/>
                </a:lnTo>
                <a:lnTo>
                  <a:pt x="2775204" y="2238629"/>
                </a:lnTo>
                <a:lnTo>
                  <a:pt x="2775204" y="181483"/>
                </a:lnTo>
                <a:lnTo>
                  <a:pt x="2768719" y="133247"/>
                </a:lnTo>
                <a:lnTo>
                  <a:pt x="2750420" y="89897"/>
                </a:lnTo>
                <a:lnTo>
                  <a:pt x="2722038" y="53165"/>
                </a:lnTo>
                <a:lnTo>
                  <a:pt x="2685306" y="24783"/>
                </a:lnTo>
                <a:lnTo>
                  <a:pt x="2641956" y="6484"/>
                </a:lnTo>
                <a:lnTo>
                  <a:pt x="2593720" y="0"/>
                </a:lnTo>
                <a:close/>
              </a:path>
            </a:pathLst>
          </a:custGeom>
          <a:solidFill>
            <a:srgbClr val="FCF8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501510" y="1487805"/>
            <a:ext cx="18008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064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3.</a:t>
            </a:r>
            <a:r>
              <a:rPr sz="1400" b="1" spc="-2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latin typeface="Arial" panose="020B0604020202020204"/>
                <a:cs typeface="Arial" panose="020B0604020202020204"/>
              </a:rPr>
              <a:t>Цифровизация</a:t>
            </a:r>
            <a:r>
              <a:rPr sz="14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spc="-50" dirty="0">
                <a:latin typeface="Arial" panose="020B0604020202020204"/>
                <a:cs typeface="Arial" panose="020B0604020202020204"/>
              </a:rPr>
              <a:t>и </a:t>
            </a:r>
            <a:r>
              <a:rPr sz="1400" b="1" dirty="0">
                <a:latin typeface="Arial" panose="020B0604020202020204"/>
                <a:cs typeface="Arial" panose="020B0604020202020204"/>
              </a:rPr>
              <a:t>цифровые</a:t>
            </a:r>
            <a:r>
              <a:rPr sz="14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latin typeface="Arial" panose="020B0604020202020204"/>
                <a:cs typeface="Arial" panose="020B0604020202020204"/>
              </a:rPr>
              <a:t>решения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69735" y="1999488"/>
            <a:ext cx="2411095" cy="20320"/>
          </a:xfrm>
          <a:custGeom>
            <a:avLst/>
            <a:gdLst/>
            <a:ahLst/>
            <a:cxnLst/>
            <a:rect l="l" t="t" r="r" b="b"/>
            <a:pathLst>
              <a:path w="2411095" h="20319">
                <a:moveTo>
                  <a:pt x="2410967" y="0"/>
                </a:moveTo>
                <a:lnTo>
                  <a:pt x="0" y="0"/>
                </a:lnTo>
                <a:lnTo>
                  <a:pt x="0" y="19812"/>
                </a:lnTo>
                <a:lnTo>
                  <a:pt x="2410967" y="19812"/>
                </a:lnTo>
                <a:lnTo>
                  <a:pt x="2410967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9105900" y="1376171"/>
            <a:ext cx="2784475" cy="3113533"/>
            <a:chOff x="9105900" y="1376172"/>
            <a:chExt cx="2784475" cy="2429510"/>
          </a:xfrm>
        </p:grpSpPr>
        <p:sp>
          <p:nvSpPr>
            <p:cNvPr id="8" name="object 8"/>
            <p:cNvSpPr/>
            <p:nvPr/>
          </p:nvSpPr>
          <p:spPr>
            <a:xfrm>
              <a:off x="9110472" y="1380744"/>
              <a:ext cx="2775585" cy="2420620"/>
            </a:xfrm>
            <a:custGeom>
              <a:avLst/>
              <a:gdLst/>
              <a:ahLst/>
              <a:cxnLst/>
              <a:rect l="l" t="t" r="r" b="b"/>
              <a:pathLst>
                <a:path w="2775584" h="2420620">
                  <a:moveTo>
                    <a:pt x="2593721" y="0"/>
                  </a:moveTo>
                  <a:lnTo>
                    <a:pt x="181482" y="0"/>
                  </a:lnTo>
                  <a:lnTo>
                    <a:pt x="133247" y="6484"/>
                  </a:lnTo>
                  <a:lnTo>
                    <a:pt x="89897" y="24783"/>
                  </a:lnTo>
                  <a:lnTo>
                    <a:pt x="53165" y="53165"/>
                  </a:lnTo>
                  <a:lnTo>
                    <a:pt x="24783" y="89897"/>
                  </a:lnTo>
                  <a:lnTo>
                    <a:pt x="6484" y="133247"/>
                  </a:lnTo>
                  <a:lnTo>
                    <a:pt x="0" y="181482"/>
                  </a:lnTo>
                  <a:lnTo>
                    <a:pt x="0" y="2238629"/>
                  </a:lnTo>
                  <a:lnTo>
                    <a:pt x="6484" y="2286864"/>
                  </a:lnTo>
                  <a:lnTo>
                    <a:pt x="24783" y="2330214"/>
                  </a:lnTo>
                  <a:lnTo>
                    <a:pt x="53165" y="2366946"/>
                  </a:lnTo>
                  <a:lnTo>
                    <a:pt x="89897" y="2395328"/>
                  </a:lnTo>
                  <a:lnTo>
                    <a:pt x="133247" y="2413627"/>
                  </a:lnTo>
                  <a:lnTo>
                    <a:pt x="181482" y="2420111"/>
                  </a:lnTo>
                  <a:lnTo>
                    <a:pt x="2593721" y="2420111"/>
                  </a:lnTo>
                  <a:lnTo>
                    <a:pt x="2641956" y="2413627"/>
                  </a:lnTo>
                  <a:lnTo>
                    <a:pt x="2685306" y="2395328"/>
                  </a:lnTo>
                  <a:lnTo>
                    <a:pt x="2722038" y="2366946"/>
                  </a:lnTo>
                  <a:lnTo>
                    <a:pt x="2750420" y="2330214"/>
                  </a:lnTo>
                  <a:lnTo>
                    <a:pt x="2768719" y="2286864"/>
                  </a:lnTo>
                  <a:lnTo>
                    <a:pt x="2775204" y="2238629"/>
                  </a:lnTo>
                  <a:lnTo>
                    <a:pt x="2775204" y="181482"/>
                  </a:lnTo>
                  <a:lnTo>
                    <a:pt x="2768719" y="133247"/>
                  </a:lnTo>
                  <a:lnTo>
                    <a:pt x="2750420" y="89897"/>
                  </a:lnTo>
                  <a:lnTo>
                    <a:pt x="2722038" y="53165"/>
                  </a:lnTo>
                  <a:lnTo>
                    <a:pt x="2685306" y="24783"/>
                  </a:lnTo>
                  <a:lnTo>
                    <a:pt x="2641956" y="6484"/>
                  </a:lnTo>
                  <a:lnTo>
                    <a:pt x="2593721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10472" y="1380744"/>
              <a:ext cx="2775585" cy="2420620"/>
            </a:xfrm>
            <a:custGeom>
              <a:avLst/>
              <a:gdLst/>
              <a:ahLst/>
              <a:cxnLst/>
              <a:rect l="l" t="t" r="r" b="b"/>
              <a:pathLst>
                <a:path w="2775584" h="2420620">
                  <a:moveTo>
                    <a:pt x="0" y="181482"/>
                  </a:moveTo>
                  <a:lnTo>
                    <a:pt x="6484" y="133247"/>
                  </a:lnTo>
                  <a:lnTo>
                    <a:pt x="24783" y="89897"/>
                  </a:lnTo>
                  <a:lnTo>
                    <a:pt x="53165" y="53165"/>
                  </a:lnTo>
                  <a:lnTo>
                    <a:pt x="89897" y="24783"/>
                  </a:lnTo>
                  <a:lnTo>
                    <a:pt x="133247" y="6484"/>
                  </a:lnTo>
                  <a:lnTo>
                    <a:pt x="181482" y="0"/>
                  </a:lnTo>
                  <a:lnTo>
                    <a:pt x="2593721" y="0"/>
                  </a:lnTo>
                  <a:lnTo>
                    <a:pt x="2641956" y="6484"/>
                  </a:lnTo>
                  <a:lnTo>
                    <a:pt x="2685306" y="24783"/>
                  </a:lnTo>
                  <a:lnTo>
                    <a:pt x="2722038" y="53165"/>
                  </a:lnTo>
                  <a:lnTo>
                    <a:pt x="2750420" y="89897"/>
                  </a:lnTo>
                  <a:lnTo>
                    <a:pt x="2768719" y="133247"/>
                  </a:lnTo>
                  <a:lnTo>
                    <a:pt x="2775204" y="181482"/>
                  </a:lnTo>
                  <a:lnTo>
                    <a:pt x="2775204" y="2238629"/>
                  </a:lnTo>
                  <a:lnTo>
                    <a:pt x="2768719" y="2286864"/>
                  </a:lnTo>
                  <a:lnTo>
                    <a:pt x="2750420" y="2330214"/>
                  </a:lnTo>
                  <a:lnTo>
                    <a:pt x="2722038" y="2366946"/>
                  </a:lnTo>
                  <a:lnTo>
                    <a:pt x="2685306" y="2395328"/>
                  </a:lnTo>
                  <a:lnTo>
                    <a:pt x="2641956" y="2413627"/>
                  </a:lnTo>
                  <a:lnTo>
                    <a:pt x="2593721" y="2420111"/>
                  </a:lnTo>
                  <a:lnTo>
                    <a:pt x="181482" y="2420111"/>
                  </a:lnTo>
                  <a:lnTo>
                    <a:pt x="133247" y="2413627"/>
                  </a:lnTo>
                  <a:lnTo>
                    <a:pt x="89897" y="2395328"/>
                  </a:lnTo>
                  <a:lnTo>
                    <a:pt x="53165" y="2366946"/>
                  </a:lnTo>
                  <a:lnTo>
                    <a:pt x="24783" y="2330214"/>
                  </a:lnTo>
                  <a:lnTo>
                    <a:pt x="6484" y="2286864"/>
                  </a:lnTo>
                  <a:lnTo>
                    <a:pt x="0" y="2238629"/>
                  </a:lnTo>
                  <a:lnTo>
                    <a:pt x="0" y="181482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224898" y="1486281"/>
            <a:ext cx="2430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4.</a:t>
            </a:r>
            <a:r>
              <a:rPr sz="1400" b="1" spc="-2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Коммуникация</a:t>
            </a:r>
            <a:r>
              <a:rPr sz="1400" b="1" spc="5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b="1" spc="-1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креатив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329928" y="1988820"/>
            <a:ext cx="2409825" cy="20320"/>
          </a:xfrm>
          <a:custGeom>
            <a:avLst/>
            <a:gdLst/>
            <a:ahLst/>
            <a:cxnLst/>
            <a:rect l="l" t="t" r="r" b="b"/>
            <a:pathLst>
              <a:path w="2409825" h="20319">
                <a:moveTo>
                  <a:pt x="2409444" y="0"/>
                </a:moveTo>
                <a:lnTo>
                  <a:pt x="0" y="0"/>
                </a:lnTo>
                <a:lnTo>
                  <a:pt x="0" y="19812"/>
                </a:lnTo>
                <a:lnTo>
                  <a:pt x="2409444" y="19812"/>
                </a:lnTo>
                <a:lnTo>
                  <a:pt x="2409444" y="0"/>
                </a:lnTo>
                <a:close/>
              </a:path>
            </a:pathLst>
          </a:custGeom>
          <a:solidFill>
            <a:srgbClr val="018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2300" y="2113026"/>
            <a:ext cx="2658110" cy="13189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5"/>
              </a:spcBef>
              <a:buChar char="•"/>
              <a:tabLst>
                <a:tab pos="190500" algn="l"/>
                <a:tab pos="1659255" algn="l"/>
                <a:tab pos="206565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Социологические 	исследования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анализ 	</a:t>
            </a:r>
            <a:r>
              <a:rPr sz="1400" spc="-10" dirty="0" err="1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общественных</a:t>
            </a:r>
            <a:r>
              <a:rPr sz="1400" spc="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 err="1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тенденций</a:t>
            </a:r>
            <a:endParaRPr lang="ru-RU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2065" marR="5080">
              <a:lnSpc>
                <a:spcPct val="100000"/>
              </a:lnSpc>
              <a:spcBef>
                <a:spcPts val="105"/>
              </a:spcBef>
              <a:tabLst>
                <a:tab pos="190500" algn="l"/>
                <a:tab pos="1659255" algn="l"/>
                <a:tab pos="2065655" algn="l"/>
              </a:tabLst>
            </a:pPr>
            <a:endParaRPr sz="1400" dirty="0">
              <a:latin typeface="Arial" panose="020B0604020202020204"/>
              <a:cs typeface="Arial" panose="020B0604020202020204"/>
            </a:endParaRPr>
          </a:p>
          <a:p>
            <a:pPr marL="189230" marR="23495" indent="-177165">
              <a:lnSpc>
                <a:spcPct val="100000"/>
              </a:lnSpc>
              <a:buChar char="•"/>
              <a:tabLst>
                <a:tab pos="19050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Экспертно-методологическое 	сопровождение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78171" y="2105660"/>
            <a:ext cx="109664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969010" algn="r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портфелем координация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51453" y="2105660"/>
            <a:ext cx="1434465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5"/>
              </a:spcBef>
              <a:buChar char="•"/>
              <a:tabLst>
                <a:tab pos="18034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Формирование управление</a:t>
            </a:r>
            <a:endParaRPr sz="1400" dirty="0">
              <a:latin typeface="Arial" panose="020B0604020202020204"/>
              <a:cs typeface="Arial" panose="020B0604020202020204"/>
            </a:endParaRPr>
          </a:p>
          <a:p>
            <a:pPr marL="180340" marR="450215">
              <a:lnSpc>
                <a:spcPct val="100000"/>
              </a:lnSpc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проектов, </a:t>
            </a:r>
            <a:r>
              <a:rPr sz="1400" spc="-10" dirty="0" err="1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регионов</a:t>
            </a:r>
            <a:endParaRPr lang="ru-RU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80340" marR="450215">
              <a:lnSpc>
                <a:spcPct val="100000"/>
              </a:lnSpc>
            </a:pP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84519" y="2107183"/>
            <a:ext cx="25311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05"/>
              </a:spcBef>
              <a:buChar char="•"/>
              <a:tabLst>
                <a:tab pos="189865" algn="l"/>
                <a:tab pos="155003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Развитие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платформы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62827" y="2320544"/>
            <a:ext cx="23533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4235" algn="l"/>
                <a:tab pos="109728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TAZA.KZ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автоматизация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01836" y="2533904"/>
            <a:ext cx="1149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23375" y="2105660"/>
            <a:ext cx="2531745" cy="11035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 marR="846455" indent="-177165">
              <a:lnSpc>
                <a:spcPct val="100000"/>
              </a:lnSpc>
              <a:spcBef>
                <a:spcPts val="105"/>
              </a:spcBef>
              <a:buChar char="•"/>
              <a:tabLst>
                <a:tab pos="19050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Информационное 	</a:t>
            </a:r>
            <a:r>
              <a:rPr sz="1400" spc="-10" dirty="0" err="1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сопровождение</a:t>
            </a:r>
            <a:endParaRPr lang="ru-RU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2065" marR="846455">
              <a:lnSpc>
                <a:spcPct val="100000"/>
              </a:lnSpc>
              <a:spcBef>
                <a:spcPts val="105"/>
              </a:spcBef>
              <a:tabLst>
                <a:tab pos="190500" algn="l"/>
              </a:tabLst>
            </a:pPr>
            <a:endParaRPr sz="1400" dirty="0">
              <a:latin typeface="Arial" panose="020B0604020202020204"/>
              <a:cs typeface="Arial" panose="020B0604020202020204"/>
            </a:endParaRPr>
          </a:p>
          <a:p>
            <a:pPr marL="189230" marR="5080" indent="-177165">
              <a:lnSpc>
                <a:spcPct val="100000"/>
              </a:lnSpc>
              <a:buChar char="•"/>
              <a:tabLst>
                <a:tab pos="190500" algn="l"/>
                <a:tab pos="1320165" algn="l"/>
                <a:tab pos="241871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Реализация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креативных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медиапроектов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51453" y="3200400"/>
            <a:ext cx="96456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5"/>
              </a:spcBef>
              <a:buChar char="•"/>
              <a:tabLst>
                <a:tab pos="18034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Контроль 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30115" y="3200400"/>
            <a:ext cx="154368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747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результатов,</a:t>
            </a:r>
            <a:r>
              <a:rPr sz="1400" spc="2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KPI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масштабирование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84519" y="2533904"/>
            <a:ext cx="2664206" cy="17370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0" marR="6096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взаимодействия участниками</a:t>
            </a:r>
            <a:endParaRPr sz="1400" dirty="0">
              <a:latin typeface="Arial" panose="020B0604020202020204"/>
              <a:cs typeface="Arial" panose="020B0604020202020204"/>
            </a:endParaRPr>
          </a:p>
          <a:p>
            <a:pPr marL="189865" indent="-177165">
              <a:lnSpc>
                <a:spcPct val="100000"/>
              </a:lnSpc>
              <a:buChar char="•"/>
              <a:tabLst>
                <a:tab pos="189865" algn="l"/>
              </a:tabLst>
            </a:pPr>
            <a:endParaRPr lang="en-US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89865" indent="-177165">
              <a:lnSpc>
                <a:spcPct val="100000"/>
              </a:lnSpc>
              <a:buChar char="•"/>
              <a:tabLst>
                <a:tab pos="189865" algn="l"/>
              </a:tabLst>
            </a:pPr>
            <a:r>
              <a:rPr sz="1400" spc="-10" dirty="0" err="1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Интеграция</a:t>
            </a:r>
            <a:r>
              <a:rPr lang="ru-RU" sz="1400" dirty="0">
                <a:latin typeface="Arial" panose="020B0604020202020204"/>
                <a:cs typeface="Arial" panose="020B0604020202020204"/>
              </a:rPr>
              <a:t> </a:t>
            </a:r>
            <a:r>
              <a:rPr lang="ru-RU"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осударственны</a:t>
            </a:r>
            <a:r>
              <a:rPr lang="ru-RU"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х систем, AI, GIS и цифрового мониторинга</a:t>
            </a:r>
            <a:endParaRPr lang="ru-RU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tabLst>
                <a:tab pos="189865" algn="l"/>
              </a:tabLst>
            </a:pPr>
            <a:endParaRPr lang="ru-RU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90500">
              <a:lnSpc>
                <a:spcPct val="100000"/>
              </a:lnSpc>
            </a:pPr>
            <a:r>
              <a:rPr lang="en-US"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19094" y="3626815"/>
            <a:ext cx="15379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успешных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практик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9600" y="4997196"/>
            <a:ext cx="5410200" cy="902335"/>
          </a:xfrm>
          <a:custGeom>
            <a:avLst/>
            <a:gdLst/>
            <a:ahLst/>
            <a:cxnLst/>
            <a:rect l="l" t="t" r="r" b="b"/>
            <a:pathLst>
              <a:path w="5410200" h="902335">
                <a:moveTo>
                  <a:pt x="5326126" y="0"/>
                </a:moveTo>
                <a:lnTo>
                  <a:pt x="84073" y="0"/>
                </a:lnTo>
                <a:lnTo>
                  <a:pt x="51349" y="6600"/>
                </a:lnTo>
                <a:lnTo>
                  <a:pt x="24625" y="24606"/>
                </a:lnTo>
                <a:lnTo>
                  <a:pt x="6607" y="51327"/>
                </a:lnTo>
                <a:lnTo>
                  <a:pt x="0" y="84073"/>
                </a:lnTo>
                <a:lnTo>
                  <a:pt x="0" y="818133"/>
                </a:lnTo>
                <a:lnTo>
                  <a:pt x="6607" y="850858"/>
                </a:lnTo>
                <a:lnTo>
                  <a:pt x="24625" y="877582"/>
                </a:lnTo>
                <a:lnTo>
                  <a:pt x="51349" y="895600"/>
                </a:lnTo>
                <a:lnTo>
                  <a:pt x="84073" y="902207"/>
                </a:lnTo>
                <a:lnTo>
                  <a:pt x="5326126" y="902207"/>
                </a:lnTo>
                <a:lnTo>
                  <a:pt x="5358872" y="895600"/>
                </a:lnTo>
                <a:lnTo>
                  <a:pt x="5385593" y="877582"/>
                </a:lnTo>
                <a:lnTo>
                  <a:pt x="5403599" y="850858"/>
                </a:lnTo>
                <a:lnTo>
                  <a:pt x="5410200" y="818133"/>
                </a:lnTo>
                <a:lnTo>
                  <a:pt x="5410200" y="84073"/>
                </a:lnTo>
                <a:lnTo>
                  <a:pt x="5403599" y="51327"/>
                </a:lnTo>
                <a:lnTo>
                  <a:pt x="5385593" y="24606"/>
                </a:lnTo>
                <a:lnTo>
                  <a:pt x="5358872" y="6600"/>
                </a:lnTo>
                <a:lnTo>
                  <a:pt x="5326126" y="0"/>
                </a:lnTo>
                <a:close/>
              </a:path>
            </a:pathLst>
          </a:custGeom>
          <a:solidFill>
            <a:srgbClr val="F0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09600" y="4997196"/>
            <a:ext cx="38100" cy="902335"/>
          </a:xfrm>
          <a:custGeom>
            <a:avLst/>
            <a:gdLst/>
            <a:ahLst/>
            <a:cxnLst/>
            <a:rect l="l" t="t" r="r" b="b"/>
            <a:pathLst>
              <a:path w="38100" h="902335">
                <a:moveTo>
                  <a:pt x="38100" y="0"/>
                </a:moveTo>
                <a:lnTo>
                  <a:pt x="0" y="0"/>
                </a:lnTo>
                <a:lnTo>
                  <a:pt x="0" y="902207"/>
                </a:lnTo>
                <a:lnTo>
                  <a:pt x="38100" y="902207"/>
                </a:lnTo>
                <a:lnTo>
                  <a:pt x="3810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68807" y="5065724"/>
            <a:ext cx="3329940" cy="7550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Акиматы</a:t>
            </a:r>
            <a:r>
              <a:rPr sz="1400" b="1" spc="-1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1400" b="1" spc="-6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регионов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Сверка</a:t>
            </a:r>
            <a:r>
              <a:rPr sz="12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планов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•</a:t>
            </a:r>
            <a:r>
              <a:rPr sz="12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Проведение</a:t>
            </a:r>
            <a:r>
              <a:rPr sz="12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Методическая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помощь •</a:t>
            </a:r>
            <a:r>
              <a:rPr sz="1200" spc="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Фото/видео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фиксация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72200" y="4997196"/>
            <a:ext cx="5410200" cy="902335"/>
          </a:xfrm>
          <a:custGeom>
            <a:avLst/>
            <a:gdLst/>
            <a:ahLst/>
            <a:cxnLst/>
            <a:rect l="l" t="t" r="r" b="b"/>
            <a:pathLst>
              <a:path w="5410200" h="902335">
                <a:moveTo>
                  <a:pt x="5326126" y="0"/>
                </a:moveTo>
                <a:lnTo>
                  <a:pt x="84074" y="0"/>
                </a:lnTo>
                <a:lnTo>
                  <a:pt x="51327" y="6600"/>
                </a:lnTo>
                <a:lnTo>
                  <a:pt x="24606" y="24606"/>
                </a:lnTo>
                <a:lnTo>
                  <a:pt x="6600" y="51327"/>
                </a:lnTo>
                <a:lnTo>
                  <a:pt x="0" y="84073"/>
                </a:lnTo>
                <a:lnTo>
                  <a:pt x="0" y="818133"/>
                </a:lnTo>
                <a:lnTo>
                  <a:pt x="6600" y="850858"/>
                </a:lnTo>
                <a:lnTo>
                  <a:pt x="24606" y="877582"/>
                </a:lnTo>
                <a:lnTo>
                  <a:pt x="51327" y="895600"/>
                </a:lnTo>
                <a:lnTo>
                  <a:pt x="84074" y="902207"/>
                </a:lnTo>
                <a:lnTo>
                  <a:pt x="5326126" y="902207"/>
                </a:lnTo>
                <a:lnTo>
                  <a:pt x="5358872" y="895600"/>
                </a:lnTo>
                <a:lnTo>
                  <a:pt x="5385593" y="877582"/>
                </a:lnTo>
                <a:lnTo>
                  <a:pt x="5403599" y="850858"/>
                </a:lnTo>
                <a:lnTo>
                  <a:pt x="5410200" y="818133"/>
                </a:lnTo>
                <a:lnTo>
                  <a:pt x="5410200" y="84073"/>
                </a:lnTo>
                <a:lnTo>
                  <a:pt x="5403599" y="51327"/>
                </a:lnTo>
                <a:lnTo>
                  <a:pt x="5385593" y="24606"/>
                </a:lnTo>
                <a:lnTo>
                  <a:pt x="5358872" y="6600"/>
                </a:lnTo>
                <a:lnTo>
                  <a:pt x="5326126" y="0"/>
                </a:lnTo>
                <a:close/>
              </a:path>
            </a:pathLst>
          </a:custGeom>
          <a:solidFill>
            <a:srgbClr val="F0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72200" y="4997196"/>
            <a:ext cx="38100" cy="902335"/>
          </a:xfrm>
          <a:custGeom>
            <a:avLst/>
            <a:gdLst/>
            <a:ahLst/>
            <a:cxnLst/>
            <a:rect l="l" t="t" r="r" b="b"/>
            <a:pathLst>
              <a:path w="38100" h="902335">
                <a:moveTo>
                  <a:pt x="38100" y="0"/>
                </a:moveTo>
                <a:lnTo>
                  <a:pt x="0" y="0"/>
                </a:lnTo>
                <a:lnTo>
                  <a:pt x="0" y="902207"/>
                </a:lnTo>
                <a:lnTo>
                  <a:pt x="38100" y="902207"/>
                </a:lnTo>
                <a:lnTo>
                  <a:pt x="381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331965" y="4993658"/>
            <a:ext cx="3806825" cy="7366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Центральные</a:t>
            </a:r>
            <a:r>
              <a:rPr sz="1400" b="1" spc="-5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государственные</a:t>
            </a:r>
            <a:r>
              <a:rPr sz="1400" b="1" spc="-2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органы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320"/>
              </a:lnSpc>
              <a:spcBef>
                <a:spcPts val="585"/>
              </a:spcBef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Республиканские</a:t>
            </a:r>
            <a:r>
              <a:rPr sz="1200" spc="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проекты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320"/>
              </a:lnSpc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Реализация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 рамках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2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37" name="object 37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2" name="Линия эксп 452"/>
          <p:cNvCxnSpPr/>
          <p:nvPr/>
        </p:nvCxnSpPr>
        <p:spPr>
          <a:xfrm>
            <a:off x="7404100" y="6019800"/>
            <a:ext cx="0" cy="381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1" name="Линия эксп 451"/>
          <p:cNvCxnSpPr/>
          <p:nvPr/>
        </p:nvCxnSpPr>
        <p:spPr>
          <a:xfrm>
            <a:off x="4521200" y="4622800"/>
            <a:ext cx="0" cy="1778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0" name="Линия эксп 450"/>
          <p:cNvCxnSpPr/>
          <p:nvPr/>
        </p:nvCxnSpPr>
        <p:spPr>
          <a:xfrm>
            <a:off x="4521200" y="6400800"/>
            <a:ext cx="3949700" cy="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9" name="Линия эксп 449"/>
          <p:cNvCxnSpPr>
            <a:stCxn id="308" idx="2"/>
          </p:cNvCxnSpPr>
          <p:nvPr/>
        </p:nvCxnSpPr>
        <p:spPr>
          <a:xfrm>
            <a:off x="8470900" y="4495800"/>
            <a:ext cx="0" cy="1905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8" name="Линия 448"/>
          <p:cNvCxnSpPr/>
          <p:nvPr/>
        </p:nvCxnSpPr>
        <p:spPr>
          <a:xfrm>
            <a:off x="2197100" y="5994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7" name="Линия 447"/>
          <p:cNvCxnSpPr/>
          <p:nvPr/>
        </p:nvCxnSpPr>
        <p:spPr>
          <a:xfrm>
            <a:off x="2197100" y="5524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6" name="Линия 446"/>
          <p:cNvCxnSpPr/>
          <p:nvPr/>
        </p:nvCxnSpPr>
        <p:spPr>
          <a:xfrm>
            <a:off x="2197100" y="5143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5" name="Линия 445"/>
          <p:cNvCxnSpPr/>
          <p:nvPr/>
        </p:nvCxnSpPr>
        <p:spPr>
          <a:xfrm>
            <a:off x="2197100" y="47117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4" name="Линия 444"/>
          <p:cNvCxnSpPr/>
          <p:nvPr/>
        </p:nvCxnSpPr>
        <p:spPr>
          <a:xfrm>
            <a:off x="2197100" y="4191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3" name="Линия 443"/>
          <p:cNvCxnSpPr/>
          <p:nvPr/>
        </p:nvCxnSpPr>
        <p:spPr>
          <a:xfrm>
            <a:off x="2197100" y="3632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2" name="Линия 442"/>
          <p:cNvCxnSpPr/>
          <p:nvPr/>
        </p:nvCxnSpPr>
        <p:spPr>
          <a:xfrm>
            <a:off x="2197100" y="3073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1" name="Линия 441"/>
          <p:cNvCxnSpPr/>
          <p:nvPr/>
        </p:nvCxnSpPr>
        <p:spPr>
          <a:xfrm>
            <a:off x="2273300" y="2616200"/>
            <a:ext cx="0" cy="33782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0" name="Линия 440"/>
          <p:cNvCxnSpPr/>
          <p:nvPr/>
        </p:nvCxnSpPr>
        <p:spPr>
          <a:xfrm>
            <a:off x="4445000" y="46228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9" name="Линия 439"/>
          <p:cNvCxnSpPr/>
          <p:nvPr/>
        </p:nvCxnSpPr>
        <p:spPr>
          <a:xfrm>
            <a:off x="4445000" y="4064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8" name="Линия 438"/>
          <p:cNvCxnSpPr/>
          <p:nvPr/>
        </p:nvCxnSpPr>
        <p:spPr>
          <a:xfrm>
            <a:off x="4445000" y="3505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7" name="Линия 437"/>
          <p:cNvCxnSpPr/>
          <p:nvPr/>
        </p:nvCxnSpPr>
        <p:spPr>
          <a:xfrm>
            <a:off x="4445000" y="2946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6" name="Линия 436"/>
          <p:cNvCxnSpPr/>
          <p:nvPr/>
        </p:nvCxnSpPr>
        <p:spPr>
          <a:xfrm>
            <a:off x="4521200" y="2616200"/>
            <a:ext cx="0" cy="2006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5" name="Линия 435"/>
          <p:cNvCxnSpPr/>
          <p:nvPr/>
        </p:nvCxnSpPr>
        <p:spPr>
          <a:xfrm>
            <a:off x="7315200" y="60198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4" name="Линия 434"/>
          <p:cNvCxnSpPr/>
          <p:nvPr/>
        </p:nvCxnSpPr>
        <p:spPr>
          <a:xfrm>
            <a:off x="7315200" y="56261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3" name="Линия 433"/>
          <p:cNvCxnSpPr/>
          <p:nvPr/>
        </p:nvCxnSpPr>
        <p:spPr>
          <a:xfrm>
            <a:off x="7315200" y="52324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2" name="Линия 432"/>
          <p:cNvCxnSpPr/>
          <p:nvPr/>
        </p:nvCxnSpPr>
        <p:spPr>
          <a:xfrm>
            <a:off x="7315200" y="48387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1" name="Линия 431"/>
          <p:cNvCxnSpPr/>
          <p:nvPr/>
        </p:nvCxnSpPr>
        <p:spPr>
          <a:xfrm>
            <a:off x="7315200" y="44450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0" name="Линия 430"/>
          <p:cNvCxnSpPr/>
          <p:nvPr/>
        </p:nvCxnSpPr>
        <p:spPr>
          <a:xfrm>
            <a:off x="7315200" y="40513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9" name="Линия 429"/>
          <p:cNvCxnSpPr/>
          <p:nvPr/>
        </p:nvCxnSpPr>
        <p:spPr>
          <a:xfrm>
            <a:off x="7315200" y="36576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8" name="Линия 428"/>
          <p:cNvCxnSpPr/>
          <p:nvPr/>
        </p:nvCxnSpPr>
        <p:spPr>
          <a:xfrm>
            <a:off x="7315200" y="32639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7" name="Линия 427"/>
          <p:cNvCxnSpPr/>
          <p:nvPr/>
        </p:nvCxnSpPr>
        <p:spPr>
          <a:xfrm>
            <a:off x="7315200" y="28702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6" name="Линия 426"/>
          <p:cNvCxnSpPr/>
          <p:nvPr/>
        </p:nvCxnSpPr>
        <p:spPr>
          <a:xfrm>
            <a:off x="7404100" y="2616200"/>
            <a:ext cx="0" cy="3403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5" name="Линия 425"/>
          <p:cNvCxnSpPr/>
          <p:nvPr/>
        </p:nvCxnSpPr>
        <p:spPr>
          <a:xfrm>
            <a:off x="9321800" y="33147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4" name="Линия 424"/>
          <p:cNvCxnSpPr/>
          <p:nvPr/>
        </p:nvCxnSpPr>
        <p:spPr>
          <a:xfrm>
            <a:off x="9321800" y="28829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3" name="Линия 423"/>
          <p:cNvCxnSpPr/>
          <p:nvPr/>
        </p:nvCxnSpPr>
        <p:spPr>
          <a:xfrm>
            <a:off x="9398000" y="2616200"/>
            <a:ext cx="0" cy="16256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16" name="Линия 416"/>
          <p:cNvCxnSpPr/>
          <p:nvPr/>
        </p:nvCxnSpPr>
        <p:spPr>
          <a:xfrm>
            <a:off x="12890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5" name="Линия 415"/>
          <p:cNvCxnSpPr/>
          <p:nvPr/>
        </p:nvCxnSpPr>
        <p:spPr>
          <a:xfrm>
            <a:off x="35369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4" name="Линия 414"/>
          <p:cNvCxnSpPr/>
          <p:nvPr/>
        </p:nvCxnSpPr>
        <p:spPr>
          <a:xfrm>
            <a:off x="61087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3" name="Линия 413"/>
          <p:cNvCxnSpPr/>
          <p:nvPr/>
        </p:nvCxnSpPr>
        <p:spPr>
          <a:xfrm>
            <a:off x="85471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2" name="Линия 412"/>
          <p:cNvCxnSpPr/>
          <p:nvPr/>
        </p:nvCxnSpPr>
        <p:spPr>
          <a:xfrm>
            <a:off x="1289050" y="1803400"/>
            <a:ext cx="481965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1" name="Линия 411"/>
          <p:cNvCxnSpPr/>
          <p:nvPr/>
        </p:nvCxnSpPr>
        <p:spPr>
          <a:xfrm>
            <a:off x="6108700" y="1803400"/>
            <a:ext cx="2438400" cy="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0" name="Линия 410"/>
          <p:cNvCxnSpPr/>
          <p:nvPr/>
        </p:nvCxnSpPr>
        <p:spPr>
          <a:xfrm>
            <a:off x="6108700" y="1752600"/>
            <a:ext cx="0" cy="508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9" name="Линия 409"/>
          <p:cNvCxnSpPr/>
          <p:nvPr/>
        </p:nvCxnSpPr>
        <p:spPr>
          <a:xfrm>
            <a:off x="2362200" y="1358900"/>
            <a:ext cx="2794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8" name="Линия 408"/>
          <p:cNvCxnSpPr/>
          <p:nvPr/>
        </p:nvCxnSpPr>
        <p:spPr>
          <a:xfrm>
            <a:off x="4419600" y="1409700"/>
            <a:ext cx="3048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7" name="Линия 407"/>
          <p:cNvCxnSpPr/>
          <p:nvPr/>
        </p:nvCxnSpPr>
        <p:spPr>
          <a:xfrm>
            <a:off x="6108700" y="1003300"/>
            <a:ext cx="34925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60" name="Линия ГИД – ПО для ЦА"/>
          <p:cNvCxnSpPr/>
          <p:nvPr/>
        </p:nvCxnSpPr>
        <p:spPr>
          <a:xfrm>
            <a:off x="8445500" y="1003300"/>
            <a:ext cx="0" cy="90170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53" name="Линия 453"/>
          <p:cNvCxnSpPr/>
          <p:nvPr/>
        </p:nvCxnSpPr>
        <p:spPr>
          <a:xfrm>
            <a:off x="6108700" y="1003300"/>
            <a:ext cx="0" cy="2667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6" name="Линия 406"/>
          <p:cNvCxnSpPr/>
          <p:nvPr/>
        </p:nvCxnSpPr>
        <p:spPr>
          <a:xfrm>
            <a:off x="11607800" y="35941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5" name="Линия 405"/>
          <p:cNvCxnSpPr/>
          <p:nvPr/>
        </p:nvCxnSpPr>
        <p:spPr>
          <a:xfrm>
            <a:off x="11633200" y="3378200"/>
            <a:ext cx="0" cy="2159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4" name="Линия 404"/>
          <p:cNvCxnSpPr/>
          <p:nvPr/>
        </p:nvCxnSpPr>
        <p:spPr>
          <a:xfrm>
            <a:off x="11607800" y="28067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3" name="Линия 403"/>
          <p:cNvCxnSpPr/>
          <p:nvPr/>
        </p:nvCxnSpPr>
        <p:spPr>
          <a:xfrm>
            <a:off x="11607800" y="24765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2" name="Линия 402"/>
          <p:cNvCxnSpPr/>
          <p:nvPr/>
        </p:nvCxnSpPr>
        <p:spPr>
          <a:xfrm>
            <a:off x="11633200" y="2286000"/>
            <a:ext cx="0" cy="5207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9" name="Линия 399"/>
          <p:cNvCxnSpPr/>
          <p:nvPr/>
        </p:nvCxnSpPr>
        <p:spPr>
          <a:xfrm>
            <a:off x="11734800" y="32131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8" name="Линия 398"/>
          <p:cNvCxnSpPr/>
          <p:nvPr/>
        </p:nvCxnSpPr>
        <p:spPr>
          <a:xfrm>
            <a:off x="11734800" y="20447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7" name="Линия 397"/>
          <p:cNvCxnSpPr/>
          <p:nvPr/>
        </p:nvCxnSpPr>
        <p:spPr>
          <a:xfrm>
            <a:off x="11734800" y="15113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6" name="Линия 396"/>
          <p:cNvCxnSpPr/>
          <p:nvPr/>
        </p:nvCxnSpPr>
        <p:spPr>
          <a:xfrm>
            <a:off x="11861800" y="1219200"/>
            <a:ext cx="0" cy="19939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395" name="Линия 395"/>
          <p:cNvCxnSpPr/>
          <p:nvPr/>
        </p:nvCxnSpPr>
        <p:spPr>
          <a:xfrm>
            <a:off x="10782300" y="762000"/>
            <a:ext cx="0" cy="254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pic>
        <p:nvPicPr>
          <p:cNvPr id="3" name="Рисунок 2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0800"/>
            <a:ext cx="5080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5750" y="76200"/>
            <a:ext cx="9747250" cy="2768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800" b="1" kern="1200">
                <a:solidFill>
                  <a:srgbClr val="1F3864"/>
                </a:solidFill>
                <a:latin typeface="Segoe UI" panose="020B0502040204020203" pitchFamily="34" charset="0"/>
              </a:rPr>
              <a:t>Проектный офис «Таза Қазақстан» при </a:t>
            </a:r>
            <a:r>
              <a:rPr lang="ru-RU" sz="1800" b="1" kern="1200">
                <a:solidFill>
                  <a:srgbClr val="1F3864"/>
                </a:solidFill>
                <a:latin typeface="Segoe UI" panose="020B0502040204020203" pitchFamily="34" charset="0"/>
                <a:sym typeface="+mn-ea"/>
              </a:rPr>
              <a:t>Центрально-Азиатском климатическом фонде</a:t>
            </a:r>
            <a:endParaRPr lang="ru-RU" b="1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1" name="Попечитель 201"/>
          <p:cNvSpPr/>
          <p:nvPr/>
        </p:nvSpPr>
        <p:spPr>
          <a:xfrm>
            <a:off x="9601200" y="508000"/>
            <a:ext cx="2362200" cy="2540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Верховный Попечитель</a:t>
            </a:r>
            <a:endParaRPr lang="ru-RU" sz="1000" b="1" kern="12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4" name="ГИД 204"/>
          <p:cNvSpPr/>
          <p:nvPr/>
        </p:nvSpPr>
        <p:spPr>
          <a:xfrm>
            <a:off x="9601200" y="787400"/>
            <a:ext cx="2362200" cy="431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Главный исполнительный директор (ГИД)</a:t>
            </a:r>
            <a:endParaRPr lang="ru-RU" sz="1000" b="1" kern="12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5" name="Сотрудник 205"/>
          <p:cNvSpPr/>
          <p:nvPr/>
        </p:nvSpPr>
        <p:spPr>
          <a:xfrm>
            <a:off x="9601200" y="1320800"/>
            <a:ext cx="21336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>
                <a:solidFill>
                  <a:srgbClr val="1F3864"/>
                </a:solidFill>
                <a:latin typeface="Segoe UI" panose="020B0502040204020203" pitchFamily="34" charset="0"/>
              </a:rPr>
              <a:t>Советник по стратегии и науке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6" name="Сотрудник 206"/>
          <p:cNvSpPr/>
          <p:nvPr/>
        </p:nvSpPr>
        <p:spPr>
          <a:xfrm>
            <a:off x="9601200" y="1803400"/>
            <a:ext cx="2133600" cy="4826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Зам. ГИД (адм.-хоз. вопросы,</a:t>
            </a:r>
            <a:endParaRPr lang="ru-RU" sz="900" kern="12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закупки, кадры, проекты)</a:t>
            </a:r>
            <a:endParaRPr lang="ru-RU" sz="900" kern="1200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9" name="Сотрудник 209"/>
          <p:cNvSpPr/>
          <p:nvPr/>
        </p:nvSpPr>
        <p:spPr>
          <a:xfrm>
            <a:off x="9601200" y="3048000"/>
            <a:ext cx="2133600" cy="3302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Финансовый директор</a:t>
            </a:r>
            <a:endParaRPr lang="ru-RU" sz="900" kern="1200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10" name="Вакансия 210"/>
          <p:cNvSpPr/>
          <p:nvPr/>
        </p:nvSpPr>
        <p:spPr>
          <a:xfrm>
            <a:off x="9601200" y="3429000"/>
            <a:ext cx="2006600" cy="330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78787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787878"/>
                </a:solidFill>
                <a:latin typeface="Segoe UI" panose="020B0502040204020203" pitchFamily="34" charset="0"/>
              </a:rPr>
              <a:t>Бухгалтер</a:t>
            </a:r>
            <a:endParaRPr lang="ru-RU" sz="900" kern="1200" dirty="0">
              <a:solidFill>
                <a:srgbClr val="78787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i="1" kern="1200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  <a:endParaRPr lang="ru-RU" sz="1000" i="1" kern="1200" dirty="0">
              <a:solidFill>
                <a:srgbClr val="787878"/>
              </a:solidFill>
              <a:latin typeface="Segoe UI" panose="020B0502040204020203" pitchFamily="34" charset="0"/>
            </a:endParaRPr>
          </a:p>
        </p:txBody>
      </p:sp>
      <p:sp>
        <p:nvSpPr>
          <p:cNvPr id="234" name="Координатор 234"/>
          <p:cNvSpPr/>
          <p:nvPr/>
        </p:nvSpPr>
        <p:spPr>
          <a:xfrm>
            <a:off x="4724400" y="1078230"/>
            <a:ext cx="2768600" cy="471170"/>
          </a:xfrm>
          <a:prstGeom prst="roundRect">
            <a:avLst>
              <a:gd name="adj" fmla="val 12000"/>
            </a:avLst>
          </a:prstGeom>
          <a:solidFill>
            <a:srgbClr val="185628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Проектный офис «Таза Қазақстан»</a:t>
            </a:r>
            <a:endParaRPr lang="ru-RU" sz="1000" b="1" kern="12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35" name="Координатор ФИО 235"/>
          <p:cNvSpPr/>
          <p:nvPr/>
        </p:nvSpPr>
        <p:spPr>
          <a:xfrm>
            <a:off x="4724400" y="1549400"/>
            <a:ext cx="2768600" cy="2032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руководитель Проектного офиса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0" name="Подразделение 240"/>
          <p:cNvSpPr/>
          <p:nvPr/>
        </p:nvSpPr>
        <p:spPr>
          <a:xfrm>
            <a:off x="2641600" y="1270000"/>
            <a:ext cx="1778000" cy="1905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Цифровое развитие (1)</a:t>
            </a:r>
            <a:endParaRPr lang="ru-RU" sz="1000" b="1" kern="12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41" name="Руководитель 241"/>
          <p:cNvSpPr/>
          <p:nvPr/>
        </p:nvSpPr>
        <p:spPr>
          <a:xfrm>
            <a:off x="2641600" y="1460500"/>
            <a:ext cx="1778000" cy="2921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руководитель направления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7" name="Подразделение 247"/>
          <p:cNvSpPr/>
          <p:nvPr/>
        </p:nvSpPr>
        <p:spPr>
          <a:xfrm>
            <a:off x="24765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Социологические исследования и аналитика (1+3)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48" name="Руководитель 248"/>
          <p:cNvSpPr/>
          <p:nvPr/>
        </p:nvSpPr>
        <p:spPr>
          <a:xfrm>
            <a:off x="2476500" y="2362200"/>
            <a:ext cx="2120900" cy="25400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руководитель направления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0" name="Подразделение 250"/>
          <p:cNvSpPr/>
          <p:nvPr/>
        </p:nvSpPr>
        <p:spPr>
          <a:xfrm>
            <a:off x="4724400" y="1905000"/>
            <a:ext cx="27686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Проектное управление и региональная координация (1+9)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1" name="Руководитель 251"/>
          <p:cNvSpPr/>
          <p:nvPr/>
        </p:nvSpPr>
        <p:spPr>
          <a:xfrm>
            <a:off x="4724400" y="2362200"/>
            <a:ext cx="27686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директор департамента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53" name="Подразделение 253"/>
          <p:cNvSpPr/>
          <p:nvPr/>
        </p:nvSpPr>
        <p:spPr>
          <a:xfrm>
            <a:off x="2286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Коммуникация и креатив (1+4)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4" name="Руководитель 254"/>
          <p:cNvSpPr/>
          <p:nvPr/>
        </p:nvSpPr>
        <p:spPr>
          <a:xfrm>
            <a:off x="228600" y="2362200"/>
            <a:ext cx="2120900" cy="381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руководитель направления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5" name="Сотрудник 255"/>
          <p:cNvSpPr/>
          <p:nvPr/>
        </p:nvSpPr>
        <p:spPr>
          <a:xfrm>
            <a:off x="2476500" y="2692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социолог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56" name="Сотрудник 256"/>
          <p:cNvSpPr/>
          <p:nvPr/>
        </p:nvSpPr>
        <p:spPr>
          <a:xfrm>
            <a:off x="2476500" y="3251200"/>
            <a:ext cx="1968500" cy="508000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57" name="Сотрудник 257"/>
          <p:cNvSpPr/>
          <p:nvPr/>
        </p:nvSpPr>
        <p:spPr>
          <a:xfrm>
            <a:off x="2476500" y="3810000"/>
            <a:ext cx="1968500" cy="508000"/>
          </a:xfrm>
          <a:prstGeom prst="roundRect">
            <a:avLst>
              <a:gd name="adj" fmla="val 12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22783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Социолог </a:t>
            </a:r>
            <a:r>
              <a:rPr lang="en-US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(</a:t>
            </a:r>
            <a:r>
              <a:rPr lang="en-US" sz="1000" kern="1200" dirty="0" err="1">
                <a:solidFill>
                  <a:srgbClr val="464646"/>
                </a:solidFill>
                <a:latin typeface="Segoe UI" panose="020B0502040204020203" pitchFamily="34" charset="0"/>
              </a:rPr>
              <a:t>аутсорс</a:t>
            </a:r>
            <a:r>
              <a:rPr lang="en-US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)</a:t>
            </a:r>
            <a:endParaRPr lang="en-US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58" name="Сотрудник 258"/>
          <p:cNvSpPr/>
          <p:nvPr/>
        </p:nvSpPr>
        <p:spPr>
          <a:xfrm>
            <a:off x="2476500" y="43688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64" name="Сотрудник 264"/>
          <p:cNvSpPr/>
          <p:nvPr/>
        </p:nvSpPr>
        <p:spPr>
          <a:xfrm>
            <a:off x="4724400" y="30861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65" name="Сотрудник 265"/>
          <p:cNvSpPr/>
          <p:nvPr/>
        </p:nvSpPr>
        <p:spPr>
          <a:xfrm>
            <a:off x="4711700" y="50546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7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66" name="Сотрудник 266"/>
          <p:cNvSpPr/>
          <p:nvPr/>
        </p:nvSpPr>
        <p:spPr>
          <a:xfrm>
            <a:off x="4724400" y="34798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67" name="Сотрудник 267"/>
          <p:cNvSpPr/>
          <p:nvPr/>
        </p:nvSpPr>
        <p:spPr>
          <a:xfrm>
            <a:off x="4724400" y="38735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68" name="Сотрудник 268"/>
          <p:cNvSpPr/>
          <p:nvPr/>
        </p:nvSpPr>
        <p:spPr>
          <a:xfrm>
            <a:off x="4724400" y="42672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69" name="Сотрудник 269"/>
          <p:cNvSpPr/>
          <p:nvPr/>
        </p:nvSpPr>
        <p:spPr>
          <a:xfrm>
            <a:off x="4724400" y="54483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7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70" name="Сотрудник 270"/>
          <p:cNvSpPr/>
          <p:nvPr/>
        </p:nvSpPr>
        <p:spPr>
          <a:xfrm>
            <a:off x="4724400" y="58420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79" name="Сотрудник 279"/>
          <p:cNvSpPr/>
          <p:nvPr/>
        </p:nvSpPr>
        <p:spPr>
          <a:xfrm>
            <a:off x="228600" y="2819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PR — пресс-секретарь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80" name="Сотрудник 280"/>
          <p:cNvSpPr/>
          <p:nvPr/>
        </p:nvSpPr>
        <p:spPr>
          <a:xfrm>
            <a:off x="228600" y="33782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фотограф-рилсмейкер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81" name="Сотрудник 281"/>
          <p:cNvSpPr/>
          <p:nvPr/>
        </p:nvSpPr>
        <p:spPr>
          <a:xfrm>
            <a:off x="228600" y="39370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менеджер по блогерам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82" name="Аутсорс 282"/>
          <p:cNvSpPr/>
          <p:nvPr/>
        </p:nvSpPr>
        <p:spPr>
          <a:xfrm>
            <a:off x="228600" y="4495800"/>
            <a:ext cx="1968500" cy="4318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Режиссёр, видеограф-монтажёр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3" name="Аутсорс 283"/>
          <p:cNvSpPr/>
          <p:nvPr/>
        </p:nvSpPr>
        <p:spPr>
          <a:xfrm>
            <a:off x="228600" y="4978400"/>
            <a:ext cx="1968500" cy="330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Копирайтер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4" name="Аутсорс 284"/>
          <p:cNvSpPr/>
          <p:nvPr/>
        </p:nvSpPr>
        <p:spPr>
          <a:xfrm>
            <a:off x="228600" y="5359399"/>
            <a:ext cx="1968500" cy="477873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</a:t>
            </a:r>
            <a:r>
              <a:rPr lang="en-US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дизайнер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85" name="Аутсорс 285"/>
          <p:cNvSpPr/>
          <p:nvPr/>
        </p:nvSpPr>
        <p:spPr>
          <a:xfrm>
            <a:off x="215901" y="5903433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Менеджер по креаторам и креативным проектам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94" name="Итог 294"/>
          <p:cNvSpPr/>
          <p:nvPr/>
        </p:nvSpPr>
        <p:spPr>
          <a:xfrm>
            <a:off x="9639300" y="5099685"/>
            <a:ext cx="2286000" cy="736600"/>
          </a:xfrm>
          <a:prstGeom prst="roundRect">
            <a:avLst>
              <a:gd name="adj" fmla="val 12000"/>
            </a:avLst>
          </a:prstGeom>
          <a:solidFill>
            <a:srgbClr val="E1E1E1"/>
          </a:solidFill>
          <a:ln w="12700">
            <a:solidFill>
              <a:srgbClr val="E1E1E1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1F3864"/>
                </a:solidFill>
                <a:latin typeface="Segoe UI" panose="020B0502040204020203" pitchFamily="34" charset="0"/>
              </a:rPr>
              <a:t>Всего в штате — </a:t>
            </a:r>
            <a:r>
              <a:rPr lang="ru-RU" sz="1000" b="1" kern="1200" dirty="0">
                <a:solidFill>
                  <a:srgbClr val="FF0000"/>
                </a:solidFill>
                <a:latin typeface="Segoe UI" panose="020B0502040204020203" pitchFamily="34" charset="0"/>
              </a:rPr>
              <a:t>30</a:t>
            </a:r>
            <a:endParaRPr lang="ru-RU" sz="1000" b="1" kern="1200" dirty="0">
              <a:solidFill>
                <a:srgbClr val="FF000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1F3864"/>
                </a:solidFill>
                <a:latin typeface="Segoe UI" panose="020B0502040204020203" pitchFamily="34" charset="0"/>
              </a:rPr>
              <a:t>ЦАКФ и проектный офис</a:t>
            </a:r>
            <a:endParaRPr lang="ru-RU" sz="1000" b="1" kern="12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нояб. 2026 — 22, дек. — +1, 2027 — +7</a:t>
            </a:r>
            <a:endParaRPr lang="ru-RU" sz="800" i="1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аутсорс — 7 позиций</a:t>
            </a:r>
            <a:endParaRPr lang="ru-RU" sz="900" b="1" kern="1200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06" name="Сотрудник 306"/>
          <p:cNvSpPr/>
          <p:nvPr/>
        </p:nvSpPr>
        <p:spPr>
          <a:xfrm>
            <a:off x="4724400" y="46609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308" name="Сотрудник 308"/>
          <p:cNvSpPr/>
          <p:nvPr/>
        </p:nvSpPr>
        <p:spPr>
          <a:xfrm>
            <a:off x="7620000" y="3987800"/>
            <a:ext cx="17018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787878"/>
            </a:solidFill>
            <a:prstDash val="dash"/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kern="1200" dirty="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 – эколог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787878"/>
                </a:solidFill>
                <a:latin typeface="Segoe UI" panose="020B0502040204020203" pitchFamily="34" charset="0"/>
              </a:rPr>
              <a:t>(отходы, вода, воздух)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0" i="1" kern="1200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  <a:endParaRPr lang="ru-RU" sz="9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0" name="Сотрудник 310"/>
          <p:cNvSpPr/>
          <p:nvPr/>
        </p:nvSpPr>
        <p:spPr>
          <a:xfrm>
            <a:off x="7620000" y="31242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 – эколог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461" name="Сотрудник Абулхан"/>
          <p:cNvSpPr/>
          <p:nvPr/>
        </p:nvSpPr>
        <p:spPr>
          <a:xfrm>
            <a:off x="7620000" y="35560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kern="1200" dirty="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 – эколог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316" name="Аутсорс 316"/>
          <p:cNvSpPr/>
          <p:nvPr/>
        </p:nvSpPr>
        <p:spPr>
          <a:xfrm>
            <a:off x="882015" y="1244600"/>
            <a:ext cx="1480185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Разработчик (ИИ, ГИС), платформа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17" name="Аутсорс 317"/>
          <p:cNvSpPr/>
          <p:nvPr/>
        </p:nvSpPr>
        <p:spPr>
          <a:xfrm>
            <a:off x="9601200" y="26670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Сис.админ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67" name="Легенда 2027"/>
          <p:cNvSpPr/>
          <p:nvPr/>
        </p:nvSpPr>
        <p:spPr>
          <a:xfrm>
            <a:off x="9652000" y="5937885"/>
            <a:ext cx="279400" cy="165100"/>
          </a:xfrm>
          <a:prstGeom prst="roundRect">
            <a:avLst/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/>
          <a:lstStyle/>
          <a:p>
            <a:endParaRPr lang="ru-RU" sz="800"/>
          </a:p>
        </p:txBody>
      </p:sp>
      <p:sp>
        <p:nvSpPr>
          <p:cNvPr id="368" name="Легенда 2027 текст"/>
          <p:cNvSpPr txBox="1"/>
          <p:nvPr/>
        </p:nvSpPr>
        <p:spPr>
          <a:xfrm>
            <a:off x="10007600" y="5950585"/>
            <a:ext cx="1905000" cy="1524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r>
              <a:rPr lang="ru-RU" sz="9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приход в 2027 году</a:t>
            </a:r>
            <a:endParaRPr lang="ru-RU" sz="9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388" name="Численность 2027"/>
          <p:cNvSpPr txBox="1"/>
          <p:nvPr/>
        </p:nvSpPr>
        <p:spPr>
          <a:xfrm>
            <a:off x="228600" y="6502400"/>
            <a:ext cx="1173480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ru-RU" sz="10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Численность: </a:t>
            </a:r>
            <a:r>
              <a:rPr lang="ru-RU" sz="1000" b="1" kern="1200" dirty="0">
                <a:solidFill>
                  <a:srgbClr val="1F3864"/>
                </a:solidFill>
                <a:latin typeface="Segoe UI" panose="020B0502040204020203" pitchFamily="34" charset="0"/>
              </a:rPr>
              <a:t>с ноября 2026 года — 22 чел., с декабря 2026 года — ещё 1</a:t>
            </a:r>
            <a:r>
              <a:rPr lang="ru-RU" sz="10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; в 2027 году приходят ещё </a:t>
            </a:r>
            <a:r>
              <a:rPr lang="ru-RU" sz="1000" b="1" kern="1200" dirty="0">
                <a:solidFill>
                  <a:srgbClr val="1F3864"/>
                </a:solidFill>
                <a:latin typeface="Segoe UI" panose="020B0502040204020203" pitchFamily="34" charset="0"/>
              </a:rPr>
              <a:t>7</a:t>
            </a:r>
            <a:r>
              <a:rPr lang="ru-RU" sz="10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 (выделены цветом) — </a:t>
            </a:r>
            <a:r>
              <a:rPr lang="ru-RU" sz="1000" b="1" kern="1200" dirty="0">
                <a:solidFill>
                  <a:srgbClr val="C00000"/>
                </a:solidFill>
                <a:latin typeface="Segoe UI" panose="020B0502040204020203" pitchFamily="34" charset="0"/>
              </a:rPr>
              <a:t>всего в 2027 году 30 чел.</a:t>
            </a:r>
            <a:endParaRPr lang="ru-RU" sz="1000" b="1" kern="1200" dirty="0">
              <a:solidFill>
                <a:srgbClr val="C00000"/>
              </a:solidFill>
              <a:latin typeface="Segoe UI" panose="020B0502040204020203" pitchFamily="34" charset="0"/>
            </a:endParaRPr>
          </a:p>
        </p:txBody>
      </p:sp>
      <p:sp>
        <p:nvSpPr>
          <p:cNvPr id="389" name="Фигура 389"/>
          <p:cNvSpPr/>
          <p:nvPr/>
        </p:nvSpPr>
        <p:spPr>
          <a:xfrm>
            <a:off x="7620000" y="26924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6350" rIns="25400" bIns="635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>
                <a:solidFill>
                  <a:srgbClr val="464646"/>
                </a:solidFill>
                <a:latin typeface="Segoe UI" panose="020B0502040204020203" pitchFamily="34" charset="0"/>
              </a:rPr>
              <a:t>Зам. руководителя ПО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390" name="Фигура 390"/>
          <p:cNvSpPr/>
          <p:nvPr/>
        </p:nvSpPr>
        <p:spPr>
          <a:xfrm>
            <a:off x="9601200" y="23368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Юрист (МФЦА)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91" name="Фигура 391"/>
          <p:cNvSpPr/>
          <p:nvPr/>
        </p:nvSpPr>
        <p:spPr>
          <a:xfrm>
            <a:off x="7620000" y="1905000"/>
            <a:ext cx="1854200" cy="508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750" b="1" kern="1200">
                <a:solidFill>
                  <a:srgbClr val="FFFFFF"/>
                </a:solidFill>
                <a:latin typeface="Segoe UI" panose="020B0502040204020203" pitchFamily="34" charset="0"/>
              </a:rPr>
              <a:t>Проектный офис для Центральной Азии по изменению климата и зеленой энергетике (4)</a:t>
            </a:r>
            <a:endParaRPr lang="ru-RU" sz="750" b="1" kern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92" name="Фигура 392"/>
          <p:cNvSpPr/>
          <p:nvPr/>
        </p:nvSpPr>
        <p:spPr>
          <a:xfrm>
            <a:off x="7620000" y="2362200"/>
            <a:ext cx="18542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руководитель – ГИД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93" name="Фигура 393"/>
          <p:cNvSpPr/>
          <p:nvPr/>
        </p:nvSpPr>
        <p:spPr>
          <a:xfrm>
            <a:off x="4724400" y="26924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Заместитель директора (МЭПР, ЦГО, регионы)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Легенда 2027"/>
          <p:cNvSpPr/>
          <p:nvPr/>
        </p:nvSpPr>
        <p:spPr>
          <a:xfrm>
            <a:off x="9654365" y="6164522"/>
            <a:ext cx="279400" cy="1651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227838"/>
            </a:solidFill>
          </a:ln>
        </p:spPr>
        <p:txBody>
          <a:bodyPr/>
          <a:lstStyle/>
          <a:p>
            <a:endParaRPr lang="ru-RU" sz="800"/>
          </a:p>
        </p:txBody>
      </p:sp>
      <p:sp>
        <p:nvSpPr>
          <p:cNvPr id="5" name="Легенда 2027 текст"/>
          <p:cNvSpPr txBox="1"/>
          <p:nvPr/>
        </p:nvSpPr>
        <p:spPr>
          <a:xfrm>
            <a:off x="10009965" y="6177222"/>
            <a:ext cx="1905000" cy="1524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r>
              <a:rPr lang="ru-RU" sz="9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приход в декабре 2026 года</a:t>
            </a:r>
            <a:endParaRPr lang="ru-RU" sz="9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cxnSp>
        <p:nvCxnSpPr>
          <p:cNvPr id="12" name="Линия 425"/>
          <p:cNvCxnSpPr/>
          <p:nvPr/>
        </p:nvCxnSpPr>
        <p:spPr>
          <a:xfrm>
            <a:off x="9321800" y="42418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62" name="Линия Абулхан"/>
          <p:cNvCxnSpPr/>
          <p:nvPr/>
        </p:nvCxnSpPr>
        <p:spPr>
          <a:xfrm>
            <a:off x="9321800" y="37465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sp>
        <p:nvSpPr>
          <p:cNvPr id="463" name="TextBox 462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kern="1200">
                <a:solidFill>
                  <a:srgbClr val="808080"/>
                </a:solidFill>
                <a:latin typeface="Arial" panose="020B0604020202020204"/>
              </a:rPr>
              <a:t>15</a:t>
            </a:r>
            <a:endParaRPr sz="900" kern="1200">
              <a:solidFill>
                <a:srgbClr val="80808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/>
          <p:nvPr/>
        </p:nvSpPr>
        <p:spPr>
          <a:xfrm>
            <a:off x="2514600" y="465003"/>
            <a:ext cx="8078598" cy="3366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10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НАПРАВЛЕНИЯ</a:t>
            </a:r>
            <a:r>
              <a:rPr sz="1950" b="1" spc="4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100" b="1" spc="11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РЕАЛИЗАЦИИ</a:t>
            </a:r>
            <a:r>
              <a:rPr sz="1950" b="1" spc="5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950" b="1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«ТАЗА</a:t>
            </a:r>
            <a:r>
              <a:rPr sz="1950" b="1" spc="5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950" b="1" spc="7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ҚАЗАҚСТАН»</a:t>
            </a:r>
            <a:endParaRPr sz="19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" y="1825751"/>
            <a:ext cx="3733800" cy="2661285"/>
          </a:xfrm>
          <a:custGeom>
            <a:avLst/>
            <a:gdLst/>
            <a:ahLst/>
            <a:cxnLst/>
            <a:rect l="l" t="t" r="r" b="b"/>
            <a:pathLst>
              <a:path w="3733800" h="2661285">
                <a:moveTo>
                  <a:pt x="3661791" y="0"/>
                </a:moveTo>
                <a:lnTo>
                  <a:pt x="72059" y="0"/>
                </a:lnTo>
                <a:lnTo>
                  <a:pt x="44009" y="5661"/>
                </a:lnTo>
                <a:lnTo>
                  <a:pt x="21104" y="21097"/>
                </a:lnTo>
                <a:lnTo>
                  <a:pt x="5662" y="43987"/>
                </a:lnTo>
                <a:lnTo>
                  <a:pt x="0" y="72009"/>
                </a:lnTo>
                <a:lnTo>
                  <a:pt x="0" y="2588895"/>
                </a:lnTo>
                <a:lnTo>
                  <a:pt x="5662" y="2616916"/>
                </a:lnTo>
                <a:lnTo>
                  <a:pt x="21104" y="2639806"/>
                </a:lnTo>
                <a:lnTo>
                  <a:pt x="44009" y="2655242"/>
                </a:lnTo>
                <a:lnTo>
                  <a:pt x="72059" y="2660904"/>
                </a:lnTo>
                <a:lnTo>
                  <a:pt x="3661791" y="2660904"/>
                </a:lnTo>
                <a:lnTo>
                  <a:pt x="3689812" y="2655242"/>
                </a:lnTo>
                <a:lnTo>
                  <a:pt x="3712702" y="2639806"/>
                </a:lnTo>
                <a:lnTo>
                  <a:pt x="3728138" y="2616916"/>
                </a:lnTo>
                <a:lnTo>
                  <a:pt x="3733800" y="2588895"/>
                </a:lnTo>
                <a:lnTo>
                  <a:pt x="3733800" y="72009"/>
                </a:lnTo>
                <a:lnTo>
                  <a:pt x="3728138" y="43987"/>
                </a:lnTo>
                <a:lnTo>
                  <a:pt x="3712702" y="21097"/>
                </a:lnTo>
                <a:lnTo>
                  <a:pt x="3689812" y="5661"/>
                </a:lnTo>
                <a:lnTo>
                  <a:pt x="3661791" y="0"/>
                </a:lnTo>
                <a:close/>
              </a:path>
            </a:pathLst>
          </a:custGeom>
          <a:solidFill>
            <a:srgbClr val="F3FB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8325611" y="1978151"/>
            <a:ext cx="3733800" cy="2661285"/>
          </a:xfrm>
          <a:custGeom>
            <a:avLst/>
            <a:gdLst/>
            <a:ahLst/>
            <a:cxnLst/>
            <a:rect l="l" t="t" r="r" b="b"/>
            <a:pathLst>
              <a:path w="3733800" h="2661285">
                <a:moveTo>
                  <a:pt x="3534283" y="0"/>
                </a:moveTo>
                <a:lnTo>
                  <a:pt x="199517" y="0"/>
                </a:lnTo>
                <a:lnTo>
                  <a:pt x="153795" y="5273"/>
                </a:lnTo>
                <a:lnTo>
                  <a:pt x="111809" y="20293"/>
                </a:lnTo>
                <a:lnTo>
                  <a:pt x="74763" y="43857"/>
                </a:lnTo>
                <a:lnTo>
                  <a:pt x="43857" y="74763"/>
                </a:lnTo>
                <a:lnTo>
                  <a:pt x="20293" y="111809"/>
                </a:lnTo>
                <a:lnTo>
                  <a:pt x="5273" y="153795"/>
                </a:lnTo>
                <a:lnTo>
                  <a:pt x="0" y="199517"/>
                </a:lnTo>
                <a:lnTo>
                  <a:pt x="0" y="2461387"/>
                </a:lnTo>
                <a:lnTo>
                  <a:pt x="5273" y="2507108"/>
                </a:lnTo>
                <a:lnTo>
                  <a:pt x="20293" y="2549094"/>
                </a:lnTo>
                <a:lnTo>
                  <a:pt x="43857" y="2586140"/>
                </a:lnTo>
                <a:lnTo>
                  <a:pt x="74763" y="2617046"/>
                </a:lnTo>
                <a:lnTo>
                  <a:pt x="111809" y="2640610"/>
                </a:lnTo>
                <a:lnTo>
                  <a:pt x="153795" y="2655630"/>
                </a:lnTo>
                <a:lnTo>
                  <a:pt x="199517" y="2660904"/>
                </a:lnTo>
                <a:lnTo>
                  <a:pt x="3534283" y="2660904"/>
                </a:lnTo>
                <a:lnTo>
                  <a:pt x="3580004" y="2655630"/>
                </a:lnTo>
                <a:lnTo>
                  <a:pt x="3621990" y="2640610"/>
                </a:lnTo>
                <a:lnTo>
                  <a:pt x="3659036" y="2617046"/>
                </a:lnTo>
                <a:lnTo>
                  <a:pt x="3689942" y="2586140"/>
                </a:lnTo>
                <a:lnTo>
                  <a:pt x="3713506" y="2549094"/>
                </a:lnTo>
                <a:lnTo>
                  <a:pt x="3728526" y="2507108"/>
                </a:lnTo>
                <a:lnTo>
                  <a:pt x="3733800" y="2461387"/>
                </a:lnTo>
                <a:lnTo>
                  <a:pt x="3733800" y="199517"/>
                </a:lnTo>
                <a:lnTo>
                  <a:pt x="3728526" y="153795"/>
                </a:lnTo>
                <a:lnTo>
                  <a:pt x="3713506" y="111809"/>
                </a:lnTo>
                <a:lnTo>
                  <a:pt x="3689942" y="74763"/>
                </a:lnTo>
                <a:lnTo>
                  <a:pt x="3659036" y="43857"/>
                </a:lnTo>
                <a:lnTo>
                  <a:pt x="3621990" y="20293"/>
                </a:lnTo>
                <a:lnTo>
                  <a:pt x="3580004" y="5273"/>
                </a:lnTo>
                <a:lnTo>
                  <a:pt x="3534283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589532" y="946403"/>
            <a:ext cx="8574405" cy="5911850"/>
            <a:chOff x="1589532" y="946403"/>
            <a:chExt cx="8574405" cy="5911850"/>
          </a:xfrm>
        </p:grpSpPr>
        <p:sp>
          <p:nvSpPr>
            <p:cNvPr id="5" name="object 5"/>
            <p:cNvSpPr/>
            <p:nvPr/>
          </p:nvSpPr>
          <p:spPr>
            <a:xfrm>
              <a:off x="3973067" y="946403"/>
              <a:ext cx="3733800" cy="2687320"/>
            </a:xfrm>
            <a:custGeom>
              <a:avLst/>
              <a:gdLst/>
              <a:ahLst/>
              <a:cxnLst/>
              <a:rect l="l" t="t" r="r" b="b"/>
              <a:pathLst>
                <a:path w="3733800" h="2687320">
                  <a:moveTo>
                    <a:pt x="3661029" y="0"/>
                  </a:moveTo>
                  <a:lnTo>
                    <a:pt x="72771" y="0"/>
                  </a:lnTo>
                  <a:lnTo>
                    <a:pt x="44416" y="5709"/>
                  </a:lnTo>
                  <a:lnTo>
                    <a:pt x="21288" y="21288"/>
                  </a:lnTo>
                  <a:lnTo>
                    <a:pt x="5709" y="44416"/>
                  </a:lnTo>
                  <a:lnTo>
                    <a:pt x="0" y="72771"/>
                  </a:lnTo>
                  <a:lnTo>
                    <a:pt x="0" y="2614041"/>
                  </a:lnTo>
                  <a:lnTo>
                    <a:pt x="5709" y="2642395"/>
                  </a:lnTo>
                  <a:lnTo>
                    <a:pt x="21288" y="2665523"/>
                  </a:lnTo>
                  <a:lnTo>
                    <a:pt x="44416" y="2681102"/>
                  </a:lnTo>
                  <a:lnTo>
                    <a:pt x="72771" y="2686812"/>
                  </a:lnTo>
                  <a:lnTo>
                    <a:pt x="3661029" y="2686812"/>
                  </a:lnTo>
                  <a:lnTo>
                    <a:pt x="3689383" y="2681102"/>
                  </a:lnTo>
                  <a:lnTo>
                    <a:pt x="3712511" y="2665523"/>
                  </a:lnTo>
                  <a:lnTo>
                    <a:pt x="3728090" y="2642395"/>
                  </a:lnTo>
                  <a:lnTo>
                    <a:pt x="3733800" y="2614041"/>
                  </a:lnTo>
                  <a:lnTo>
                    <a:pt x="3733800" y="72771"/>
                  </a:lnTo>
                  <a:lnTo>
                    <a:pt x="3728090" y="44416"/>
                  </a:lnTo>
                  <a:lnTo>
                    <a:pt x="3712511" y="21288"/>
                  </a:lnTo>
                  <a:lnTo>
                    <a:pt x="3689383" y="5709"/>
                  </a:lnTo>
                  <a:lnTo>
                    <a:pt x="3661029" y="0"/>
                  </a:lnTo>
                  <a:close/>
                </a:path>
              </a:pathLst>
            </a:custGeom>
            <a:solidFill>
              <a:srgbClr val="FCF8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051304" y="3064763"/>
              <a:ext cx="7630668" cy="37932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9532" y="6219469"/>
              <a:ext cx="3249168" cy="6385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2864" y="6219469"/>
              <a:ext cx="3250692" cy="638529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4456176" y="1162811"/>
            <a:ext cx="2764790" cy="38100"/>
          </a:xfrm>
          <a:custGeom>
            <a:avLst/>
            <a:gdLst/>
            <a:ahLst/>
            <a:cxnLst/>
            <a:rect l="l" t="t" r="r" b="b"/>
            <a:pathLst>
              <a:path w="2764790" h="38100">
                <a:moveTo>
                  <a:pt x="2764535" y="0"/>
                </a:moveTo>
                <a:lnTo>
                  <a:pt x="0" y="0"/>
                </a:lnTo>
                <a:lnTo>
                  <a:pt x="0" y="38100"/>
                </a:lnTo>
                <a:lnTo>
                  <a:pt x="2764535" y="38100"/>
                </a:lnTo>
                <a:lnTo>
                  <a:pt x="2764535" y="0"/>
                </a:lnTo>
                <a:close/>
              </a:path>
            </a:pathLst>
          </a:custGeom>
          <a:solidFill>
            <a:srgbClr val="C76C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22801" y="1208352"/>
            <a:ext cx="3415665" cy="22885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803910">
              <a:lnSpc>
                <a:spcPct val="100000"/>
              </a:lnSpc>
              <a:spcBef>
                <a:spcPts val="505"/>
              </a:spcBef>
            </a:pPr>
            <a:r>
              <a:rPr sz="1600" b="1" dirty="0">
                <a:solidFill>
                  <a:srgbClr val="B45209"/>
                </a:solidFill>
                <a:latin typeface="Arial" panose="020B0604020202020204"/>
                <a:cs typeface="Arial" panose="020B0604020202020204"/>
              </a:rPr>
              <a:t>ЖАҢА</a:t>
            </a:r>
            <a:r>
              <a:rPr sz="1600" b="1" spc="-20" dirty="0">
                <a:solidFill>
                  <a:srgbClr val="B452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B45209"/>
                </a:solidFill>
                <a:latin typeface="Arial" panose="020B0604020202020204"/>
                <a:cs typeface="Arial" panose="020B0604020202020204"/>
              </a:rPr>
              <a:t>МӘДЕНИЕТ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spcBef>
                <a:spcPts val="370"/>
              </a:spcBef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Исследование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установок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барьеров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Поведенческий</a:t>
            </a:r>
            <a:r>
              <a:rPr sz="14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4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«Ортақ</a:t>
            </a:r>
            <a:r>
              <a:rPr sz="14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мекен»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Коммуникационные</a:t>
            </a:r>
            <a:r>
              <a:rPr sz="14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кампании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Креативные</a:t>
            </a:r>
            <a:r>
              <a:rPr sz="1400" spc="-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проекты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Измерение</a:t>
            </a:r>
            <a:r>
              <a:rPr sz="14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изменений</a:t>
            </a:r>
            <a:r>
              <a:rPr sz="14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поведения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marR="269240" indent="-17145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</a:t>
            </a:r>
            <a:r>
              <a:rPr sz="14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формированию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культуры 	повторного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использования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marR="276860" indent="-17145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Upcycling-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проекты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</a:t>
            </a:r>
            <a:r>
              <a:rPr sz="1400" spc="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дизайнерами</a:t>
            </a:r>
            <a:r>
              <a:rPr sz="1400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креаторами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363" y="2425064"/>
            <a:ext cx="2952115" cy="1910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6139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66434"/>
                </a:solidFill>
                <a:latin typeface="Arial" panose="020B0604020202020204"/>
                <a:cs typeface="Arial" panose="020B0604020202020204"/>
              </a:rPr>
              <a:t>ТА3А</a:t>
            </a:r>
            <a:r>
              <a:rPr sz="1600" b="1" spc="-80" dirty="0">
                <a:solidFill>
                  <a:srgbClr val="1664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35" dirty="0">
                <a:solidFill>
                  <a:srgbClr val="166434"/>
                </a:solidFill>
                <a:latin typeface="Arial" panose="020B0604020202020204"/>
                <a:cs typeface="Arial" panose="020B0604020202020204"/>
              </a:rPr>
              <a:t>ЕЛ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spcBef>
                <a:spcPts val="1155"/>
              </a:spcBef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Национальный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marR="403225" indent="-17145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Единые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метрики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«Тазалық 	индексі»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AI /</a:t>
            </a: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GIS</a:t>
            </a:r>
            <a:r>
              <a:rPr sz="1400" spc="-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400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Интеллектуальный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мониторинг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marR="179705" indent="-17145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Классификация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общественных 	пространств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1091" y="5812332"/>
            <a:ext cx="1528445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ts val="2305"/>
              </a:lnSpc>
              <a:spcBef>
                <a:spcPts val="100"/>
              </a:spcBef>
            </a:pPr>
            <a:r>
              <a:rPr sz="2000" b="1" spc="-20" dirty="0">
                <a:solidFill>
                  <a:srgbClr val="0F2C58"/>
                </a:solidFill>
                <a:latin typeface="Arial" panose="020B0604020202020204"/>
                <a:cs typeface="Arial" panose="020B0604020202020204"/>
              </a:rPr>
              <a:t>ТАЗА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2305"/>
              </a:lnSpc>
            </a:pPr>
            <a:r>
              <a:rPr sz="2000" b="1" spc="-30" dirty="0">
                <a:solidFill>
                  <a:srgbClr val="0F2C58"/>
                </a:solidFill>
                <a:latin typeface="Arial" panose="020B0604020202020204"/>
                <a:cs typeface="Arial" panose="020B0604020202020204"/>
              </a:rPr>
              <a:t>ҚАЗАҚСТАН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2246376"/>
            <a:ext cx="12192000" cy="4612005"/>
            <a:chOff x="0" y="2246376"/>
            <a:chExt cx="12192000" cy="4612005"/>
          </a:xfrm>
        </p:grpSpPr>
        <p:sp>
          <p:nvSpPr>
            <p:cNvPr id="14" name="object 14"/>
            <p:cNvSpPr/>
            <p:nvPr/>
          </p:nvSpPr>
          <p:spPr>
            <a:xfrm>
              <a:off x="9171431" y="2246376"/>
              <a:ext cx="2360930" cy="38100"/>
            </a:xfrm>
            <a:custGeom>
              <a:avLst/>
              <a:gdLst/>
              <a:ahLst/>
              <a:cxnLst/>
              <a:rect l="l" t="t" r="r" b="b"/>
              <a:pathLst>
                <a:path w="2360929" h="38100">
                  <a:moveTo>
                    <a:pt x="236067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60676" y="38100"/>
                  </a:lnTo>
                  <a:lnTo>
                    <a:pt x="2360676" y="0"/>
                  </a:lnTo>
                  <a:close/>
                </a:path>
              </a:pathLst>
            </a:custGeom>
            <a:solidFill>
              <a:srgbClr val="0560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12063" y="2249424"/>
              <a:ext cx="2764790" cy="38100"/>
            </a:xfrm>
            <a:custGeom>
              <a:avLst/>
              <a:gdLst/>
              <a:ahLst/>
              <a:cxnLst/>
              <a:rect l="l" t="t" r="r" b="b"/>
              <a:pathLst>
                <a:path w="2764790" h="38100">
                  <a:moveTo>
                    <a:pt x="276453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764536" y="38100"/>
                  </a:lnTo>
                  <a:lnTo>
                    <a:pt x="2764536" y="0"/>
                  </a:lnTo>
                  <a:close/>
                </a:path>
              </a:pathLst>
            </a:custGeom>
            <a:solidFill>
              <a:srgbClr val="0D88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2028" y="5300472"/>
              <a:ext cx="1004315" cy="9189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6781799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192000" y="762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4376" y="4069080"/>
              <a:ext cx="1088136" cy="8321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10271" y="5166360"/>
              <a:ext cx="725424" cy="84429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526271" y="2419349"/>
            <a:ext cx="3295650" cy="1702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587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369A0"/>
                </a:solidFill>
                <a:latin typeface="Arial" panose="020B0604020202020204"/>
                <a:cs typeface="Arial" panose="020B0604020202020204"/>
              </a:rPr>
              <a:t>ТАЗА</a:t>
            </a:r>
            <a:r>
              <a:rPr sz="1600" b="1" spc="-90" dirty="0">
                <a:solidFill>
                  <a:srgbClr val="0369A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0369A0"/>
                </a:solidFill>
                <a:latin typeface="Arial" panose="020B0604020202020204"/>
                <a:cs typeface="Arial" panose="020B0604020202020204"/>
              </a:rPr>
              <a:t>САНА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83515" marR="189230" indent="-171450">
              <a:lnSpc>
                <a:spcPct val="100000"/>
              </a:lnSpc>
              <a:spcBef>
                <a:spcPts val="1205"/>
              </a:spcBef>
              <a:buChar char="•"/>
              <a:tabLst>
                <a:tab pos="18478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Стандарты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бережного</a:t>
            </a:r>
            <a:r>
              <a:rPr sz="14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отношения</a:t>
            </a:r>
            <a:r>
              <a:rPr sz="14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 	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окружающей</a:t>
            </a:r>
            <a:r>
              <a:rPr sz="14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среде</a:t>
            </a:r>
            <a:r>
              <a:rPr sz="1400" spc="-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</a:t>
            </a:r>
            <a:r>
              <a:rPr sz="1400" b="1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Mektep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Площадка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обмена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идеями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</a:t>
            </a:r>
            <a:r>
              <a:rPr sz="1400" b="1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talqy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Симуляционная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игра</a:t>
            </a:r>
            <a:r>
              <a:rPr sz="14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</a:t>
            </a:r>
            <a:r>
              <a:rPr sz="1400" b="1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oi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Молодежный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лагерь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YouTube-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«Құндылық 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елшісі»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914083" y="415141"/>
            <a:ext cx="10138282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6255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ТА3А</a:t>
            </a:r>
            <a:r>
              <a:rPr sz="2100" spc="-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ЕЛ</a:t>
            </a:r>
            <a:r>
              <a:rPr sz="2100" spc="-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</a:t>
            </a:r>
            <a:r>
              <a:rPr sz="2100" spc="-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НАЦИОНАЛЬНЫЙ</a:t>
            </a:r>
            <a:r>
              <a:rPr sz="2100" spc="-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СТАНДАРТ</a:t>
            </a:r>
            <a:r>
              <a:rPr sz="21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ЧИСТОТЫ</a:t>
            </a:r>
            <a:endParaRPr sz="21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484" y="1254252"/>
            <a:ext cx="35560" cy="5148580"/>
          </a:xfrm>
          <a:custGeom>
            <a:avLst/>
            <a:gdLst/>
            <a:ahLst/>
            <a:cxnLst/>
            <a:rect l="l" t="t" r="r" b="b"/>
            <a:pathLst>
              <a:path w="35560" h="5148580">
                <a:moveTo>
                  <a:pt x="35052" y="0"/>
                </a:moveTo>
                <a:lnTo>
                  <a:pt x="0" y="0"/>
                </a:lnTo>
                <a:lnTo>
                  <a:pt x="0" y="5148072"/>
                </a:lnTo>
                <a:lnTo>
                  <a:pt x="35052" y="5148072"/>
                </a:lnTo>
                <a:lnTo>
                  <a:pt x="35052" y="0"/>
                </a:lnTo>
                <a:close/>
              </a:path>
            </a:pathLst>
          </a:custGeom>
          <a:solidFill>
            <a:srgbClr val="2F45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0020" y="1351788"/>
            <a:ext cx="390525" cy="334010"/>
          </a:xfrm>
          <a:custGeom>
            <a:avLst/>
            <a:gdLst/>
            <a:ahLst/>
            <a:cxnLst/>
            <a:rect l="l" t="t" r="r" b="b"/>
            <a:pathLst>
              <a:path w="390525" h="334010">
                <a:moveTo>
                  <a:pt x="336740" y="0"/>
                </a:moveTo>
                <a:lnTo>
                  <a:pt x="53403" y="0"/>
                </a:lnTo>
                <a:lnTo>
                  <a:pt x="32618" y="4191"/>
                </a:lnTo>
                <a:lnTo>
                  <a:pt x="15643" y="15621"/>
                </a:lnTo>
                <a:lnTo>
                  <a:pt x="4197" y="32575"/>
                </a:lnTo>
                <a:lnTo>
                  <a:pt x="0" y="53339"/>
                </a:lnTo>
                <a:lnTo>
                  <a:pt x="0" y="280415"/>
                </a:lnTo>
                <a:lnTo>
                  <a:pt x="4197" y="301180"/>
                </a:lnTo>
                <a:lnTo>
                  <a:pt x="15643" y="318135"/>
                </a:lnTo>
                <a:lnTo>
                  <a:pt x="32618" y="329565"/>
                </a:lnTo>
                <a:lnTo>
                  <a:pt x="53403" y="333756"/>
                </a:lnTo>
                <a:lnTo>
                  <a:pt x="336740" y="333756"/>
                </a:lnTo>
                <a:lnTo>
                  <a:pt x="357525" y="329565"/>
                </a:lnTo>
                <a:lnTo>
                  <a:pt x="374500" y="318135"/>
                </a:lnTo>
                <a:lnTo>
                  <a:pt x="385946" y="301180"/>
                </a:lnTo>
                <a:lnTo>
                  <a:pt x="390144" y="280415"/>
                </a:lnTo>
                <a:lnTo>
                  <a:pt x="390144" y="53339"/>
                </a:lnTo>
                <a:lnTo>
                  <a:pt x="385946" y="32575"/>
                </a:lnTo>
                <a:lnTo>
                  <a:pt x="374500" y="15620"/>
                </a:lnTo>
                <a:lnTo>
                  <a:pt x="357525" y="4190"/>
                </a:lnTo>
                <a:lnTo>
                  <a:pt x="33674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42112" y="137350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9416" y="1311656"/>
            <a:ext cx="181165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Единые</a:t>
            </a:r>
            <a:r>
              <a:rPr sz="1400" spc="-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требования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чистоте</a:t>
            </a:r>
            <a:r>
              <a:rPr sz="14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территорий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79089" y="1329055"/>
            <a:ext cx="26041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Классификация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общественных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пространств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44030" y="1311656"/>
            <a:ext cx="20796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572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Мониторинг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</a:t>
            </a: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помощью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цифровых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инструментов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20453" y="1329689"/>
            <a:ext cx="23088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985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Оценка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территорий</a:t>
            </a:r>
            <a:r>
              <a:rPr sz="14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r>
              <a:rPr sz="14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</a:t>
            </a: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шкале</a:t>
            </a:r>
            <a:r>
              <a:rPr sz="14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0–</a:t>
            </a:r>
            <a:r>
              <a:rPr sz="14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100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601" y="2310764"/>
            <a:ext cx="1874520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Font typeface="Segoe UI Symbol" panose="020B0502040204020203"/>
              <a:buChar char="✓"/>
              <a:tabLst>
                <a:tab pos="19558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Чистота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95580" indent="-182880">
              <a:lnSpc>
                <a:spcPct val="100000"/>
              </a:lnSpc>
              <a:buFont typeface="Segoe UI Symbol" panose="020B0502040204020203"/>
              <a:buChar char="✓"/>
              <a:tabLst>
                <a:tab pos="19558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Содержание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95580" indent="-182880">
              <a:lnSpc>
                <a:spcPct val="100000"/>
              </a:lnSpc>
              <a:buFont typeface="Segoe UI Symbol" panose="020B0502040204020203"/>
              <a:buChar char="✓"/>
              <a:tabLst>
                <a:tab pos="19558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Озеленение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96215" indent="-183515">
              <a:lnSpc>
                <a:spcPct val="100000"/>
              </a:lnSpc>
              <a:buFont typeface="Segoe UI Symbol" panose="020B0502040204020203"/>
              <a:buChar char="✓"/>
              <a:tabLst>
                <a:tab pos="19621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Инфраструктура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95580" indent="-182880">
              <a:lnSpc>
                <a:spcPct val="100000"/>
              </a:lnSpc>
              <a:buFont typeface="Segoe UI Symbol" panose="020B0502040204020203"/>
              <a:buChar char="✓"/>
              <a:tabLst>
                <a:tab pos="195580" algn="l"/>
              </a:tabLst>
            </a:pP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Культура</a:t>
            </a:r>
            <a:r>
              <a:rPr sz="14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поведения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4073" y="3759708"/>
            <a:ext cx="1537606" cy="201013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758439" y="1269491"/>
            <a:ext cx="3075940" cy="5306695"/>
            <a:chOff x="2758439" y="1269491"/>
            <a:chExt cx="3075940" cy="530669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0255" y="2042159"/>
              <a:ext cx="3023616" cy="4533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58440" y="1269491"/>
              <a:ext cx="546100" cy="5148580"/>
            </a:xfrm>
            <a:custGeom>
              <a:avLst/>
              <a:gdLst/>
              <a:ahLst/>
              <a:cxnLst/>
              <a:rect l="l" t="t" r="r" b="b"/>
              <a:pathLst>
                <a:path w="546100" h="5148580">
                  <a:moveTo>
                    <a:pt x="35039" y="0"/>
                  </a:moveTo>
                  <a:lnTo>
                    <a:pt x="0" y="0"/>
                  </a:lnTo>
                  <a:lnTo>
                    <a:pt x="0" y="5148072"/>
                  </a:lnTo>
                  <a:lnTo>
                    <a:pt x="35039" y="5148072"/>
                  </a:lnTo>
                  <a:lnTo>
                    <a:pt x="35039" y="0"/>
                  </a:lnTo>
                  <a:close/>
                </a:path>
                <a:path w="546100" h="5148580">
                  <a:moveTo>
                    <a:pt x="545592" y="135636"/>
                  </a:moveTo>
                  <a:lnTo>
                    <a:pt x="541401" y="114871"/>
                  </a:lnTo>
                  <a:lnTo>
                    <a:pt x="529971" y="97917"/>
                  </a:lnTo>
                  <a:lnTo>
                    <a:pt x="513016" y="86487"/>
                  </a:lnTo>
                  <a:lnTo>
                    <a:pt x="492252" y="82296"/>
                  </a:lnTo>
                  <a:lnTo>
                    <a:pt x="175260" y="82296"/>
                  </a:lnTo>
                  <a:lnTo>
                    <a:pt x="154495" y="86499"/>
                  </a:lnTo>
                  <a:lnTo>
                    <a:pt x="137541" y="97917"/>
                  </a:lnTo>
                  <a:lnTo>
                    <a:pt x="126111" y="114871"/>
                  </a:lnTo>
                  <a:lnTo>
                    <a:pt x="121920" y="135636"/>
                  </a:lnTo>
                  <a:lnTo>
                    <a:pt x="121920" y="362712"/>
                  </a:lnTo>
                  <a:lnTo>
                    <a:pt x="126111" y="383476"/>
                  </a:lnTo>
                  <a:lnTo>
                    <a:pt x="137541" y="400431"/>
                  </a:lnTo>
                  <a:lnTo>
                    <a:pt x="154495" y="411873"/>
                  </a:lnTo>
                  <a:lnTo>
                    <a:pt x="175260" y="416052"/>
                  </a:lnTo>
                  <a:lnTo>
                    <a:pt x="492252" y="416052"/>
                  </a:lnTo>
                  <a:lnTo>
                    <a:pt x="513016" y="411873"/>
                  </a:lnTo>
                  <a:lnTo>
                    <a:pt x="529971" y="400431"/>
                  </a:lnTo>
                  <a:lnTo>
                    <a:pt x="541401" y="383476"/>
                  </a:lnTo>
                  <a:lnTo>
                    <a:pt x="545592" y="362712"/>
                  </a:lnTo>
                  <a:lnTo>
                    <a:pt x="545592" y="135636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963672" y="137350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19800" y="1269491"/>
            <a:ext cx="35560" cy="5148580"/>
          </a:xfrm>
          <a:custGeom>
            <a:avLst/>
            <a:gdLst/>
            <a:ahLst/>
            <a:cxnLst/>
            <a:rect l="l" t="t" r="r" b="b"/>
            <a:pathLst>
              <a:path w="35560" h="5148580">
                <a:moveTo>
                  <a:pt x="35051" y="0"/>
                </a:moveTo>
                <a:lnTo>
                  <a:pt x="0" y="0"/>
                </a:lnTo>
                <a:lnTo>
                  <a:pt x="0" y="5148072"/>
                </a:lnTo>
                <a:lnTo>
                  <a:pt x="35051" y="5148072"/>
                </a:lnTo>
                <a:lnTo>
                  <a:pt x="35051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35623" y="1367027"/>
            <a:ext cx="429895" cy="334010"/>
          </a:xfrm>
          <a:custGeom>
            <a:avLst/>
            <a:gdLst/>
            <a:ahLst/>
            <a:cxnLst/>
            <a:rect l="l" t="t" r="r" b="b"/>
            <a:pathLst>
              <a:path w="429895" h="334010">
                <a:moveTo>
                  <a:pt x="376427" y="0"/>
                </a:moveTo>
                <a:lnTo>
                  <a:pt x="53339" y="0"/>
                </a:lnTo>
                <a:lnTo>
                  <a:pt x="32575" y="4191"/>
                </a:lnTo>
                <a:lnTo>
                  <a:pt x="15620" y="15621"/>
                </a:lnTo>
                <a:lnTo>
                  <a:pt x="4190" y="32575"/>
                </a:lnTo>
                <a:lnTo>
                  <a:pt x="0" y="53339"/>
                </a:lnTo>
                <a:lnTo>
                  <a:pt x="0" y="280416"/>
                </a:lnTo>
                <a:lnTo>
                  <a:pt x="4191" y="301180"/>
                </a:lnTo>
                <a:lnTo>
                  <a:pt x="15621" y="318135"/>
                </a:lnTo>
                <a:lnTo>
                  <a:pt x="32575" y="329565"/>
                </a:lnTo>
                <a:lnTo>
                  <a:pt x="53339" y="333756"/>
                </a:lnTo>
                <a:lnTo>
                  <a:pt x="376427" y="333756"/>
                </a:lnTo>
                <a:lnTo>
                  <a:pt x="397192" y="329564"/>
                </a:lnTo>
                <a:lnTo>
                  <a:pt x="414147" y="318135"/>
                </a:lnTo>
                <a:lnTo>
                  <a:pt x="425576" y="301180"/>
                </a:lnTo>
                <a:lnTo>
                  <a:pt x="429768" y="280416"/>
                </a:lnTo>
                <a:lnTo>
                  <a:pt x="429768" y="53339"/>
                </a:lnTo>
                <a:lnTo>
                  <a:pt x="425576" y="32575"/>
                </a:lnTo>
                <a:lnTo>
                  <a:pt x="414147" y="15620"/>
                </a:lnTo>
                <a:lnTo>
                  <a:pt x="397192" y="4190"/>
                </a:lnTo>
                <a:lnTo>
                  <a:pt x="376427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219571" y="138874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9067" y="2619755"/>
            <a:ext cx="2715767" cy="4073652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2560318"/>
            <a:ext cx="12192000" cy="4297680"/>
            <a:chOff x="0" y="2560318"/>
            <a:chExt cx="12192000" cy="429768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8864" y="2560318"/>
              <a:ext cx="2796539" cy="41970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781799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192000" y="762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/>
          <p:nvPr/>
        </p:nvSpPr>
        <p:spPr>
          <a:xfrm>
            <a:off x="9078468" y="1271016"/>
            <a:ext cx="36830" cy="5148580"/>
          </a:xfrm>
          <a:custGeom>
            <a:avLst/>
            <a:gdLst/>
            <a:ahLst/>
            <a:cxnLst/>
            <a:rect l="l" t="t" r="r" b="b"/>
            <a:pathLst>
              <a:path w="36829" h="5148580">
                <a:moveTo>
                  <a:pt x="36575" y="0"/>
                </a:moveTo>
                <a:lnTo>
                  <a:pt x="0" y="0"/>
                </a:lnTo>
                <a:lnTo>
                  <a:pt x="0" y="5148072"/>
                </a:lnTo>
                <a:lnTo>
                  <a:pt x="36575" y="5148072"/>
                </a:lnTo>
                <a:lnTo>
                  <a:pt x="36575" y="0"/>
                </a:lnTo>
                <a:close/>
              </a:path>
            </a:pathLst>
          </a:custGeom>
          <a:solidFill>
            <a:srgbClr val="539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185147" y="1351788"/>
            <a:ext cx="429895" cy="334010"/>
          </a:xfrm>
          <a:custGeom>
            <a:avLst/>
            <a:gdLst/>
            <a:ahLst/>
            <a:cxnLst/>
            <a:rect l="l" t="t" r="r" b="b"/>
            <a:pathLst>
              <a:path w="429895" h="334010">
                <a:moveTo>
                  <a:pt x="376427" y="0"/>
                </a:moveTo>
                <a:lnTo>
                  <a:pt x="53340" y="0"/>
                </a:lnTo>
                <a:lnTo>
                  <a:pt x="32575" y="4191"/>
                </a:lnTo>
                <a:lnTo>
                  <a:pt x="15621" y="15621"/>
                </a:lnTo>
                <a:lnTo>
                  <a:pt x="4191" y="32575"/>
                </a:lnTo>
                <a:lnTo>
                  <a:pt x="0" y="53339"/>
                </a:lnTo>
                <a:lnTo>
                  <a:pt x="0" y="280415"/>
                </a:lnTo>
                <a:lnTo>
                  <a:pt x="4191" y="301180"/>
                </a:lnTo>
                <a:lnTo>
                  <a:pt x="15621" y="318135"/>
                </a:lnTo>
                <a:lnTo>
                  <a:pt x="32575" y="329565"/>
                </a:lnTo>
                <a:lnTo>
                  <a:pt x="53340" y="333756"/>
                </a:lnTo>
                <a:lnTo>
                  <a:pt x="376427" y="333756"/>
                </a:lnTo>
                <a:lnTo>
                  <a:pt x="397192" y="329565"/>
                </a:lnTo>
                <a:lnTo>
                  <a:pt x="414147" y="318135"/>
                </a:lnTo>
                <a:lnTo>
                  <a:pt x="425576" y="301180"/>
                </a:lnTo>
                <a:lnTo>
                  <a:pt x="429768" y="280415"/>
                </a:lnTo>
                <a:lnTo>
                  <a:pt x="429768" y="53339"/>
                </a:lnTo>
                <a:lnTo>
                  <a:pt x="425576" y="32575"/>
                </a:lnTo>
                <a:lnTo>
                  <a:pt x="414147" y="15620"/>
                </a:lnTo>
                <a:lnTo>
                  <a:pt x="397192" y="4190"/>
                </a:lnTo>
                <a:lnTo>
                  <a:pt x="376427" y="0"/>
                </a:lnTo>
                <a:close/>
              </a:path>
            </a:pathLst>
          </a:custGeom>
          <a:solidFill>
            <a:srgbClr val="539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269348" y="137350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04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596900" y="407923"/>
            <a:ext cx="3616452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НАПРАВЛЕНИЕ «</a:t>
            </a:r>
            <a:r>
              <a:rPr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ТА3А</a:t>
            </a:r>
            <a:r>
              <a:rPr sz="2100" spc="-1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ЕЛ</a:t>
            </a:r>
            <a:r>
              <a:rPr lang="ru-RU" sz="21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»</a:t>
            </a:r>
            <a:endParaRPr sz="2100" spc="-25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6008" y="1080516"/>
            <a:ext cx="4053840" cy="629920"/>
            <a:chOff x="826008" y="1080516"/>
            <a:chExt cx="4053840" cy="629920"/>
          </a:xfrm>
        </p:grpSpPr>
        <p:sp>
          <p:nvSpPr>
            <p:cNvPr id="5" name="object 5"/>
            <p:cNvSpPr/>
            <p:nvPr/>
          </p:nvSpPr>
          <p:spPr>
            <a:xfrm>
              <a:off x="830580" y="1085088"/>
              <a:ext cx="4044950" cy="620395"/>
            </a:xfrm>
            <a:custGeom>
              <a:avLst/>
              <a:gdLst/>
              <a:ahLst/>
              <a:cxnLst/>
              <a:rect l="l" t="t" r="r" b="b"/>
              <a:pathLst>
                <a:path w="4044950" h="620394">
                  <a:moveTo>
                    <a:pt x="3998214" y="0"/>
                  </a:moveTo>
                  <a:lnTo>
                    <a:pt x="46520" y="0"/>
                  </a:lnTo>
                  <a:lnTo>
                    <a:pt x="28412" y="3655"/>
                  </a:lnTo>
                  <a:lnTo>
                    <a:pt x="13625" y="13620"/>
                  </a:lnTo>
                  <a:lnTo>
                    <a:pt x="3655" y="28396"/>
                  </a:lnTo>
                  <a:lnTo>
                    <a:pt x="0" y="46482"/>
                  </a:lnTo>
                  <a:lnTo>
                    <a:pt x="0" y="573786"/>
                  </a:lnTo>
                  <a:lnTo>
                    <a:pt x="3655" y="591871"/>
                  </a:lnTo>
                  <a:lnTo>
                    <a:pt x="13625" y="606647"/>
                  </a:lnTo>
                  <a:lnTo>
                    <a:pt x="28412" y="616612"/>
                  </a:lnTo>
                  <a:lnTo>
                    <a:pt x="46520" y="620267"/>
                  </a:lnTo>
                  <a:lnTo>
                    <a:pt x="3998214" y="620267"/>
                  </a:lnTo>
                  <a:lnTo>
                    <a:pt x="4016299" y="616612"/>
                  </a:lnTo>
                  <a:lnTo>
                    <a:pt x="4031075" y="606647"/>
                  </a:lnTo>
                  <a:lnTo>
                    <a:pt x="4041040" y="591871"/>
                  </a:lnTo>
                  <a:lnTo>
                    <a:pt x="4044696" y="573786"/>
                  </a:lnTo>
                  <a:lnTo>
                    <a:pt x="4044696" y="46482"/>
                  </a:lnTo>
                  <a:lnTo>
                    <a:pt x="4041040" y="28396"/>
                  </a:lnTo>
                  <a:lnTo>
                    <a:pt x="4031075" y="13620"/>
                  </a:lnTo>
                  <a:lnTo>
                    <a:pt x="4016299" y="3655"/>
                  </a:lnTo>
                  <a:lnTo>
                    <a:pt x="399821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30580" y="1085088"/>
              <a:ext cx="4044950" cy="620395"/>
            </a:xfrm>
            <a:custGeom>
              <a:avLst/>
              <a:gdLst/>
              <a:ahLst/>
              <a:cxnLst/>
              <a:rect l="l" t="t" r="r" b="b"/>
              <a:pathLst>
                <a:path w="4044950" h="620394">
                  <a:moveTo>
                    <a:pt x="0" y="46482"/>
                  </a:moveTo>
                  <a:lnTo>
                    <a:pt x="3655" y="28396"/>
                  </a:lnTo>
                  <a:lnTo>
                    <a:pt x="13625" y="13620"/>
                  </a:lnTo>
                  <a:lnTo>
                    <a:pt x="28412" y="3655"/>
                  </a:lnTo>
                  <a:lnTo>
                    <a:pt x="46520" y="0"/>
                  </a:lnTo>
                  <a:lnTo>
                    <a:pt x="3998214" y="0"/>
                  </a:lnTo>
                  <a:lnTo>
                    <a:pt x="4016299" y="3655"/>
                  </a:lnTo>
                  <a:lnTo>
                    <a:pt x="4031075" y="13620"/>
                  </a:lnTo>
                  <a:lnTo>
                    <a:pt x="4041040" y="28396"/>
                  </a:lnTo>
                  <a:lnTo>
                    <a:pt x="4044696" y="46482"/>
                  </a:lnTo>
                  <a:lnTo>
                    <a:pt x="4044696" y="573786"/>
                  </a:lnTo>
                  <a:lnTo>
                    <a:pt x="4041040" y="591871"/>
                  </a:lnTo>
                  <a:lnTo>
                    <a:pt x="4031075" y="606647"/>
                  </a:lnTo>
                  <a:lnTo>
                    <a:pt x="4016299" y="616612"/>
                  </a:lnTo>
                  <a:lnTo>
                    <a:pt x="3998214" y="620267"/>
                  </a:lnTo>
                  <a:lnTo>
                    <a:pt x="46520" y="620267"/>
                  </a:lnTo>
                  <a:lnTo>
                    <a:pt x="28412" y="616612"/>
                  </a:lnTo>
                  <a:lnTo>
                    <a:pt x="13625" y="606647"/>
                  </a:lnTo>
                  <a:lnTo>
                    <a:pt x="3655" y="591871"/>
                  </a:lnTo>
                  <a:lnTo>
                    <a:pt x="0" y="573786"/>
                  </a:lnTo>
                  <a:lnTo>
                    <a:pt x="0" y="46482"/>
                  </a:lnTo>
                  <a:close/>
                </a:path>
              </a:pathLst>
            </a:custGeom>
            <a:ln w="9143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30580" y="1085088"/>
            <a:ext cx="4044950" cy="62039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3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Счетчик</a:t>
            </a:r>
            <a:r>
              <a:rPr sz="1600" b="1" spc="-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48044" y="1080516"/>
            <a:ext cx="4055745" cy="629920"/>
            <a:chOff x="6448044" y="1080516"/>
            <a:chExt cx="4055745" cy="629920"/>
          </a:xfrm>
        </p:grpSpPr>
        <p:sp>
          <p:nvSpPr>
            <p:cNvPr id="13" name="object 13"/>
            <p:cNvSpPr/>
            <p:nvPr/>
          </p:nvSpPr>
          <p:spPr>
            <a:xfrm>
              <a:off x="6452616" y="1085088"/>
              <a:ext cx="4046220" cy="620395"/>
            </a:xfrm>
            <a:custGeom>
              <a:avLst/>
              <a:gdLst/>
              <a:ahLst/>
              <a:cxnLst/>
              <a:rect l="l" t="t" r="r" b="b"/>
              <a:pathLst>
                <a:path w="4046220" h="620394">
                  <a:moveTo>
                    <a:pt x="3999738" y="0"/>
                  </a:moveTo>
                  <a:lnTo>
                    <a:pt x="46482" y="0"/>
                  </a:lnTo>
                  <a:lnTo>
                    <a:pt x="28396" y="3655"/>
                  </a:lnTo>
                  <a:lnTo>
                    <a:pt x="13620" y="13620"/>
                  </a:lnTo>
                  <a:lnTo>
                    <a:pt x="3655" y="28396"/>
                  </a:lnTo>
                  <a:lnTo>
                    <a:pt x="0" y="46482"/>
                  </a:lnTo>
                  <a:lnTo>
                    <a:pt x="0" y="573786"/>
                  </a:lnTo>
                  <a:lnTo>
                    <a:pt x="3655" y="591871"/>
                  </a:lnTo>
                  <a:lnTo>
                    <a:pt x="13620" y="606647"/>
                  </a:lnTo>
                  <a:lnTo>
                    <a:pt x="28396" y="616612"/>
                  </a:lnTo>
                  <a:lnTo>
                    <a:pt x="46482" y="620267"/>
                  </a:lnTo>
                  <a:lnTo>
                    <a:pt x="3999738" y="620267"/>
                  </a:lnTo>
                  <a:lnTo>
                    <a:pt x="4017823" y="616612"/>
                  </a:lnTo>
                  <a:lnTo>
                    <a:pt x="4032599" y="606647"/>
                  </a:lnTo>
                  <a:lnTo>
                    <a:pt x="4042564" y="591871"/>
                  </a:lnTo>
                  <a:lnTo>
                    <a:pt x="4046219" y="573786"/>
                  </a:lnTo>
                  <a:lnTo>
                    <a:pt x="4046219" y="46482"/>
                  </a:lnTo>
                  <a:lnTo>
                    <a:pt x="4042564" y="28396"/>
                  </a:lnTo>
                  <a:lnTo>
                    <a:pt x="4032599" y="13620"/>
                  </a:lnTo>
                  <a:lnTo>
                    <a:pt x="4017823" y="3655"/>
                  </a:lnTo>
                  <a:lnTo>
                    <a:pt x="399973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52616" y="1085088"/>
              <a:ext cx="4046220" cy="620395"/>
            </a:xfrm>
            <a:custGeom>
              <a:avLst/>
              <a:gdLst/>
              <a:ahLst/>
              <a:cxnLst/>
              <a:rect l="l" t="t" r="r" b="b"/>
              <a:pathLst>
                <a:path w="4046220" h="620394">
                  <a:moveTo>
                    <a:pt x="0" y="46482"/>
                  </a:moveTo>
                  <a:lnTo>
                    <a:pt x="3655" y="28396"/>
                  </a:lnTo>
                  <a:lnTo>
                    <a:pt x="13620" y="13620"/>
                  </a:lnTo>
                  <a:lnTo>
                    <a:pt x="28396" y="3655"/>
                  </a:lnTo>
                  <a:lnTo>
                    <a:pt x="46482" y="0"/>
                  </a:lnTo>
                  <a:lnTo>
                    <a:pt x="3999738" y="0"/>
                  </a:lnTo>
                  <a:lnTo>
                    <a:pt x="4017823" y="3655"/>
                  </a:lnTo>
                  <a:lnTo>
                    <a:pt x="4032599" y="13620"/>
                  </a:lnTo>
                  <a:lnTo>
                    <a:pt x="4042564" y="28396"/>
                  </a:lnTo>
                  <a:lnTo>
                    <a:pt x="4046219" y="46482"/>
                  </a:lnTo>
                  <a:lnTo>
                    <a:pt x="4046219" y="573786"/>
                  </a:lnTo>
                  <a:lnTo>
                    <a:pt x="4042564" y="591871"/>
                  </a:lnTo>
                  <a:lnTo>
                    <a:pt x="4032599" y="606647"/>
                  </a:lnTo>
                  <a:lnTo>
                    <a:pt x="4017823" y="616612"/>
                  </a:lnTo>
                  <a:lnTo>
                    <a:pt x="3999738" y="620267"/>
                  </a:lnTo>
                  <a:lnTo>
                    <a:pt x="46482" y="620267"/>
                  </a:lnTo>
                  <a:lnTo>
                    <a:pt x="28396" y="616612"/>
                  </a:lnTo>
                  <a:lnTo>
                    <a:pt x="13620" y="606647"/>
                  </a:lnTo>
                  <a:lnTo>
                    <a:pt x="3655" y="591871"/>
                  </a:lnTo>
                  <a:lnTo>
                    <a:pt x="0" y="573786"/>
                  </a:lnTo>
                  <a:lnTo>
                    <a:pt x="0" y="46482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452615" y="1085088"/>
            <a:ext cx="4046220" cy="62039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3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«Тазалық</a:t>
            </a:r>
            <a:r>
              <a:rPr sz="1600" b="1" spc="-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белгісі»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585216" y="1450847"/>
            <a:ext cx="45720" cy="3811904"/>
          </a:xfrm>
          <a:custGeom>
            <a:avLst/>
            <a:gdLst/>
            <a:ahLst/>
            <a:cxnLst/>
            <a:rect l="l" t="t" r="r" b="b"/>
            <a:pathLst>
              <a:path w="45720" h="3811904">
                <a:moveTo>
                  <a:pt x="45720" y="0"/>
                </a:moveTo>
                <a:lnTo>
                  <a:pt x="0" y="0"/>
                </a:lnTo>
                <a:lnTo>
                  <a:pt x="0" y="3811524"/>
                </a:lnTo>
                <a:lnTo>
                  <a:pt x="45720" y="3811524"/>
                </a:lnTo>
                <a:lnTo>
                  <a:pt x="4572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56894" y="1831339"/>
            <a:ext cx="3990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51355" algn="l"/>
                <a:tab pos="2696210" algn="l"/>
                <a:tab pos="3013710" algn="l"/>
                <a:tab pos="386397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Информационный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стенд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парках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6894" y="2075179"/>
            <a:ext cx="27209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710565" algn="l"/>
                <a:tab pos="1002665" algn="l"/>
                <a:tab pos="1141730" algn="l"/>
                <a:tab pos="1710055" algn="l"/>
                <a:tab pos="194500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скверах,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показывающий дней,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течение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которых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сохраняется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чистой.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36085" y="2075179"/>
            <a:ext cx="111125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685" algn="just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количество территория Формирует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6894" y="2806954"/>
            <a:ext cx="398970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ощущение</a:t>
            </a:r>
            <a:r>
              <a:rPr sz="1600" spc="3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общего</a:t>
            </a:r>
            <a:r>
              <a:rPr sz="1600" spc="3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результата</a:t>
            </a:r>
            <a:r>
              <a:rPr sz="1600" spc="3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3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личной ответственности</a:t>
            </a:r>
            <a:r>
              <a:rPr sz="16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посетителей.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25540" y="1450847"/>
            <a:ext cx="45720" cy="3811904"/>
          </a:xfrm>
          <a:custGeom>
            <a:avLst/>
            <a:gdLst/>
            <a:ahLst/>
            <a:cxnLst/>
            <a:rect l="l" t="t" r="r" b="b"/>
            <a:pathLst>
              <a:path w="45720" h="3811904">
                <a:moveTo>
                  <a:pt x="45720" y="0"/>
                </a:moveTo>
                <a:lnTo>
                  <a:pt x="0" y="0"/>
                </a:lnTo>
                <a:lnTo>
                  <a:pt x="0" y="3811524"/>
                </a:lnTo>
                <a:lnTo>
                  <a:pt x="45720" y="3811524"/>
                </a:lnTo>
                <a:lnTo>
                  <a:pt x="4572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441185" y="1878279"/>
            <a:ext cx="5077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Узнаваемый</a:t>
            </a:r>
            <a:r>
              <a:rPr sz="1600" spc="1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знак</a:t>
            </a:r>
            <a:r>
              <a:rPr sz="1600" spc="1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«ТАЗА»</a:t>
            </a:r>
            <a:r>
              <a:rPr sz="1600" b="1" spc="1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присваивается</a:t>
            </a:r>
            <a:r>
              <a:rPr sz="1600" spc="1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бизнесу</a:t>
            </a:r>
            <a:r>
              <a:rPr sz="1600" spc="1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1185" y="2122677"/>
            <a:ext cx="15043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организациям, установленным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35188" y="2122677"/>
            <a:ext cx="32823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1790">
              <a:lnSpc>
                <a:spcPct val="100000"/>
              </a:lnSpc>
              <a:spcBef>
                <a:spcPts val="95"/>
              </a:spcBef>
              <a:tabLst>
                <a:tab pos="1431290" algn="l"/>
                <a:tab pos="190690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которые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соответствуют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стандартам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1185" y="2610357"/>
            <a:ext cx="415162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0145" algn="l"/>
                <a:tab pos="2299970" algn="l"/>
                <a:tab pos="2691765" algn="l"/>
                <a:tab pos="348932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учитывает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состояние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только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самого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1185" y="2854198"/>
            <a:ext cx="4182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  <a:tab pos="1897380" algn="l"/>
                <a:tab pos="2530475" algn="l"/>
                <a:tab pos="3339465" algn="l"/>
                <a:tab pos="382270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(кафе,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магазина,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АЗС,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рынка,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ЖК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или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36326" y="2366517"/>
            <a:ext cx="78359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3340" algn="just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Оценка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объекта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бизнес-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6675" y="3578352"/>
            <a:ext cx="3616452" cy="241096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441185" y="3098037"/>
            <a:ext cx="50787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центра,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но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прилегающей</a:t>
            </a:r>
            <a:r>
              <a:rPr sz="1600" spc="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территории.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Знак</a:t>
            </a:r>
            <a:r>
              <a:rPr sz="1600" spc="2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может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размещаться</a:t>
            </a:r>
            <a:r>
              <a:rPr sz="1600" spc="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600" spc="4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фасаде,</a:t>
            </a:r>
            <a:r>
              <a:rPr sz="1600" spc="4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входе</a:t>
            </a:r>
            <a:r>
              <a:rPr sz="1600" spc="409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или</a:t>
            </a:r>
            <a:r>
              <a:rPr sz="1600" spc="4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spc="409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виде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специальной</a:t>
            </a:r>
            <a:r>
              <a:rPr sz="1600" spc="3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информационной</a:t>
            </a:r>
            <a:r>
              <a:rPr sz="1600" spc="3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таблички</a:t>
            </a:r>
            <a:r>
              <a:rPr sz="1600" spc="3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становится</a:t>
            </a:r>
            <a:r>
              <a:rPr sz="1600" spc="4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визуальным</a:t>
            </a:r>
            <a:r>
              <a:rPr sz="1600" spc="4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подтверждением</a:t>
            </a:r>
            <a:r>
              <a:rPr sz="1600" spc="4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культуры чистоты.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368" y="4344923"/>
            <a:ext cx="2793492" cy="235610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504301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9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8088" y="4245864"/>
            <a:ext cx="1795272" cy="2455164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28" name="object 28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598422" y="403986"/>
            <a:ext cx="5497577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100" dirty="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НАПРАВЛЕНИЕ «</a:t>
            </a:r>
            <a:r>
              <a:rPr sz="2100" dirty="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ЖАҢА</a:t>
            </a:r>
            <a:r>
              <a:rPr sz="2100" spc="-75" dirty="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МӘДЕНИЕТ</a:t>
            </a:r>
            <a:r>
              <a:rPr lang="ru-RU" sz="2100" spc="-10" dirty="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»</a:t>
            </a:r>
            <a:endParaRPr sz="2100" spc="-10" dirty="0">
              <a:solidFill>
                <a:srgbClr val="B4520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5216" y="1450847"/>
            <a:ext cx="45720" cy="3811904"/>
          </a:xfrm>
          <a:custGeom>
            <a:avLst/>
            <a:gdLst/>
            <a:ahLst/>
            <a:cxnLst/>
            <a:rect l="l" t="t" r="r" b="b"/>
            <a:pathLst>
              <a:path w="45720" h="3811904">
                <a:moveTo>
                  <a:pt x="45720" y="0"/>
                </a:moveTo>
                <a:lnTo>
                  <a:pt x="0" y="0"/>
                </a:lnTo>
                <a:lnTo>
                  <a:pt x="0" y="3811524"/>
                </a:lnTo>
                <a:lnTo>
                  <a:pt x="45720" y="3811524"/>
                </a:lnTo>
                <a:lnTo>
                  <a:pt x="4572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903541" y="1136713"/>
            <a:ext cx="5873750" cy="4126229"/>
            <a:chOff x="903541" y="1136713"/>
            <a:chExt cx="5873750" cy="4126229"/>
          </a:xfrm>
        </p:grpSpPr>
        <p:sp>
          <p:nvSpPr>
            <p:cNvPr id="5" name="object 5"/>
            <p:cNvSpPr/>
            <p:nvPr/>
          </p:nvSpPr>
          <p:spPr>
            <a:xfrm>
              <a:off x="6731507" y="1450847"/>
              <a:ext cx="45720" cy="3811904"/>
            </a:xfrm>
            <a:custGeom>
              <a:avLst/>
              <a:gdLst/>
              <a:ahLst/>
              <a:cxnLst/>
              <a:rect l="l" t="t" r="r" b="b"/>
              <a:pathLst>
                <a:path w="45720" h="3811904">
                  <a:moveTo>
                    <a:pt x="45720" y="0"/>
                  </a:moveTo>
                  <a:lnTo>
                    <a:pt x="0" y="0"/>
                  </a:lnTo>
                  <a:lnTo>
                    <a:pt x="0" y="3811524"/>
                  </a:lnTo>
                  <a:lnTo>
                    <a:pt x="45720" y="381152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08303" y="1141475"/>
              <a:ext cx="4044950" cy="619125"/>
            </a:xfrm>
            <a:custGeom>
              <a:avLst/>
              <a:gdLst/>
              <a:ahLst/>
              <a:cxnLst/>
              <a:rect l="l" t="t" r="r" b="b"/>
              <a:pathLst>
                <a:path w="4044950" h="619125">
                  <a:moveTo>
                    <a:pt x="3998341" y="0"/>
                  </a:moveTo>
                  <a:lnTo>
                    <a:pt x="46405" y="0"/>
                  </a:lnTo>
                  <a:lnTo>
                    <a:pt x="28342" y="3653"/>
                  </a:lnTo>
                  <a:lnTo>
                    <a:pt x="13592" y="13604"/>
                  </a:lnTo>
                  <a:lnTo>
                    <a:pt x="3646" y="28342"/>
                  </a:lnTo>
                  <a:lnTo>
                    <a:pt x="0" y="46354"/>
                  </a:lnTo>
                  <a:lnTo>
                    <a:pt x="0" y="572388"/>
                  </a:lnTo>
                  <a:lnTo>
                    <a:pt x="3646" y="590401"/>
                  </a:lnTo>
                  <a:lnTo>
                    <a:pt x="13592" y="605139"/>
                  </a:lnTo>
                  <a:lnTo>
                    <a:pt x="28342" y="615090"/>
                  </a:lnTo>
                  <a:lnTo>
                    <a:pt x="46405" y="618744"/>
                  </a:lnTo>
                  <a:lnTo>
                    <a:pt x="3998341" y="618744"/>
                  </a:lnTo>
                  <a:lnTo>
                    <a:pt x="4016353" y="615090"/>
                  </a:lnTo>
                  <a:lnTo>
                    <a:pt x="4031091" y="605139"/>
                  </a:lnTo>
                  <a:lnTo>
                    <a:pt x="4041042" y="590401"/>
                  </a:lnTo>
                  <a:lnTo>
                    <a:pt x="4044696" y="572388"/>
                  </a:lnTo>
                  <a:lnTo>
                    <a:pt x="4044696" y="46354"/>
                  </a:lnTo>
                  <a:lnTo>
                    <a:pt x="4041042" y="28342"/>
                  </a:lnTo>
                  <a:lnTo>
                    <a:pt x="4031091" y="13604"/>
                  </a:lnTo>
                  <a:lnTo>
                    <a:pt x="4016353" y="3653"/>
                  </a:lnTo>
                  <a:lnTo>
                    <a:pt x="3998341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08303" y="1141475"/>
              <a:ext cx="4044950" cy="619125"/>
            </a:xfrm>
            <a:custGeom>
              <a:avLst/>
              <a:gdLst/>
              <a:ahLst/>
              <a:cxnLst/>
              <a:rect l="l" t="t" r="r" b="b"/>
              <a:pathLst>
                <a:path w="4044950" h="619125">
                  <a:moveTo>
                    <a:pt x="0" y="46354"/>
                  </a:moveTo>
                  <a:lnTo>
                    <a:pt x="3646" y="28342"/>
                  </a:lnTo>
                  <a:lnTo>
                    <a:pt x="13592" y="13604"/>
                  </a:lnTo>
                  <a:lnTo>
                    <a:pt x="28342" y="3653"/>
                  </a:lnTo>
                  <a:lnTo>
                    <a:pt x="46405" y="0"/>
                  </a:lnTo>
                  <a:lnTo>
                    <a:pt x="3998341" y="0"/>
                  </a:lnTo>
                  <a:lnTo>
                    <a:pt x="4016353" y="3653"/>
                  </a:lnTo>
                  <a:lnTo>
                    <a:pt x="4031091" y="13604"/>
                  </a:lnTo>
                  <a:lnTo>
                    <a:pt x="4041042" y="28342"/>
                  </a:lnTo>
                  <a:lnTo>
                    <a:pt x="4044696" y="46354"/>
                  </a:lnTo>
                  <a:lnTo>
                    <a:pt x="4044696" y="572388"/>
                  </a:lnTo>
                  <a:lnTo>
                    <a:pt x="4041042" y="590401"/>
                  </a:lnTo>
                  <a:lnTo>
                    <a:pt x="4031091" y="605139"/>
                  </a:lnTo>
                  <a:lnTo>
                    <a:pt x="4016353" y="615090"/>
                  </a:lnTo>
                  <a:lnTo>
                    <a:pt x="3998341" y="618744"/>
                  </a:lnTo>
                  <a:lnTo>
                    <a:pt x="46405" y="618744"/>
                  </a:lnTo>
                  <a:lnTo>
                    <a:pt x="28342" y="615090"/>
                  </a:lnTo>
                  <a:lnTo>
                    <a:pt x="13592" y="605139"/>
                  </a:lnTo>
                  <a:lnTo>
                    <a:pt x="3646" y="590401"/>
                  </a:lnTo>
                  <a:lnTo>
                    <a:pt x="0" y="572388"/>
                  </a:lnTo>
                  <a:lnTo>
                    <a:pt x="0" y="46354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012952" y="1259840"/>
            <a:ext cx="3861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Поведенческий</a:t>
            </a:r>
            <a:r>
              <a:rPr sz="1600" b="1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600" b="1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«Ортақ</a:t>
            </a:r>
            <a:r>
              <a:rPr sz="1600" b="1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мекен»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194804" y="1095755"/>
            <a:ext cx="4055745" cy="628015"/>
            <a:chOff x="7194804" y="1095755"/>
            <a:chExt cx="4055745" cy="628015"/>
          </a:xfrm>
        </p:grpSpPr>
        <p:sp>
          <p:nvSpPr>
            <p:cNvPr id="9" name="object 9"/>
            <p:cNvSpPr/>
            <p:nvPr/>
          </p:nvSpPr>
          <p:spPr>
            <a:xfrm>
              <a:off x="7199376" y="1100327"/>
              <a:ext cx="4046220" cy="619125"/>
            </a:xfrm>
            <a:custGeom>
              <a:avLst/>
              <a:gdLst/>
              <a:ahLst/>
              <a:cxnLst/>
              <a:rect l="l" t="t" r="r" b="b"/>
              <a:pathLst>
                <a:path w="4046220" h="619125">
                  <a:moveTo>
                    <a:pt x="3999865" y="0"/>
                  </a:moveTo>
                  <a:lnTo>
                    <a:pt x="46354" y="0"/>
                  </a:lnTo>
                  <a:lnTo>
                    <a:pt x="28342" y="3653"/>
                  </a:lnTo>
                  <a:lnTo>
                    <a:pt x="13604" y="13604"/>
                  </a:lnTo>
                  <a:lnTo>
                    <a:pt x="3653" y="28342"/>
                  </a:lnTo>
                  <a:lnTo>
                    <a:pt x="0" y="46355"/>
                  </a:lnTo>
                  <a:lnTo>
                    <a:pt x="0" y="572388"/>
                  </a:lnTo>
                  <a:lnTo>
                    <a:pt x="3653" y="590401"/>
                  </a:lnTo>
                  <a:lnTo>
                    <a:pt x="13604" y="605139"/>
                  </a:lnTo>
                  <a:lnTo>
                    <a:pt x="28342" y="615090"/>
                  </a:lnTo>
                  <a:lnTo>
                    <a:pt x="46354" y="618744"/>
                  </a:lnTo>
                  <a:lnTo>
                    <a:pt x="3999865" y="618744"/>
                  </a:lnTo>
                  <a:lnTo>
                    <a:pt x="4017877" y="615090"/>
                  </a:lnTo>
                  <a:lnTo>
                    <a:pt x="4032615" y="605139"/>
                  </a:lnTo>
                  <a:lnTo>
                    <a:pt x="4042566" y="590401"/>
                  </a:lnTo>
                  <a:lnTo>
                    <a:pt x="4046220" y="572388"/>
                  </a:lnTo>
                  <a:lnTo>
                    <a:pt x="4046220" y="46355"/>
                  </a:lnTo>
                  <a:lnTo>
                    <a:pt x="4042566" y="28342"/>
                  </a:lnTo>
                  <a:lnTo>
                    <a:pt x="4032615" y="13604"/>
                  </a:lnTo>
                  <a:lnTo>
                    <a:pt x="4017877" y="3653"/>
                  </a:lnTo>
                  <a:lnTo>
                    <a:pt x="3999865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99376" y="1100327"/>
              <a:ext cx="4046220" cy="619125"/>
            </a:xfrm>
            <a:custGeom>
              <a:avLst/>
              <a:gdLst/>
              <a:ahLst/>
              <a:cxnLst/>
              <a:rect l="l" t="t" r="r" b="b"/>
              <a:pathLst>
                <a:path w="4046220" h="619125">
                  <a:moveTo>
                    <a:pt x="0" y="46355"/>
                  </a:moveTo>
                  <a:lnTo>
                    <a:pt x="3653" y="28342"/>
                  </a:lnTo>
                  <a:lnTo>
                    <a:pt x="13604" y="13604"/>
                  </a:lnTo>
                  <a:lnTo>
                    <a:pt x="28342" y="3653"/>
                  </a:lnTo>
                  <a:lnTo>
                    <a:pt x="46354" y="0"/>
                  </a:lnTo>
                  <a:lnTo>
                    <a:pt x="3999865" y="0"/>
                  </a:lnTo>
                  <a:lnTo>
                    <a:pt x="4017877" y="3653"/>
                  </a:lnTo>
                  <a:lnTo>
                    <a:pt x="4032615" y="13604"/>
                  </a:lnTo>
                  <a:lnTo>
                    <a:pt x="4042566" y="28342"/>
                  </a:lnTo>
                  <a:lnTo>
                    <a:pt x="4046220" y="46355"/>
                  </a:lnTo>
                  <a:lnTo>
                    <a:pt x="4046220" y="572388"/>
                  </a:lnTo>
                  <a:lnTo>
                    <a:pt x="4042566" y="590401"/>
                  </a:lnTo>
                  <a:lnTo>
                    <a:pt x="4032615" y="605139"/>
                  </a:lnTo>
                  <a:lnTo>
                    <a:pt x="4017877" y="615090"/>
                  </a:lnTo>
                  <a:lnTo>
                    <a:pt x="3999865" y="618744"/>
                  </a:lnTo>
                  <a:lnTo>
                    <a:pt x="46354" y="618744"/>
                  </a:lnTo>
                  <a:lnTo>
                    <a:pt x="28342" y="615090"/>
                  </a:lnTo>
                  <a:lnTo>
                    <a:pt x="13604" y="605139"/>
                  </a:lnTo>
                  <a:lnTo>
                    <a:pt x="3653" y="590401"/>
                  </a:lnTo>
                  <a:lnTo>
                    <a:pt x="0" y="572388"/>
                  </a:lnTo>
                  <a:lnTo>
                    <a:pt x="0" y="46355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199376" y="1100327"/>
            <a:ext cx="4046220" cy="61912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1025"/>
              </a:spcBef>
            </a:pPr>
            <a:r>
              <a:rPr sz="16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Социологические</a:t>
            </a:r>
            <a:r>
              <a:rPr sz="1600" b="1" spc="-3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исследования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52315" y="1658111"/>
            <a:ext cx="2647188" cy="490880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94994" y="2330576"/>
            <a:ext cx="3169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Вовлечение</a:t>
            </a:r>
            <a:r>
              <a:rPr sz="1600" spc="3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</a:t>
            </a:r>
            <a:r>
              <a:rPr sz="1600" spc="3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3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семей</a:t>
            </a:r>
            <a:r>
              <a:rPr sz="1600" spc="3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995" y="2331894"/>
            <a:ext cx="406167" cy="44770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94994" y="2574417"/>
            <a:ext cx="14173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совместное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общественных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71166" y="2574417"/>
            <a:ext cx="15932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8305" marR="5080" indent="-39624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благоустройство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пространств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4994" y="3062097"/>
            <a:ext cx="317182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через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платформу</a:t>
            </a:r>
            <a:r>
              <a:rPr sz="16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TAZA.KZ.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Участники</a:t>
            </a:r>
            <a:r>
              <a:rPr sz="1600" spc="3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смогут</a:t>
            </a:r>
            <a:r>
              <a:rPr sz="1600" spc="3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выбирать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мероприятия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2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участвовать</a:t>
            </a:r>
            <a:r>
              <a:rPr sz="1600" spc="2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посадке</a:t>
            </a:r>
            <a:r>
              <a:rPr sz="1600" spc="4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деревьев,</a:t>
            </a:r>
            <a:r>
              <a:rPr sz="1600" spc="2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уборке,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озеленении</a:t>
            </a:r>
            <a:r>
              <a:rPr sz="1600" spc="3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3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уходе</a:t>
            </a:r>
            <a:r>
              <a:rPr sz="1600" spc="3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территориями.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9138" y="3264623"/>
            <a:ext cx="383940" cy="36081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73907" y="3979603"/>
            <a:ext cx="386217" cy="38621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628890" y="2273045"/>
            <a:ext cx="3992245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Изучение</a:t>
            </a:r>
            <a:r>
              <a:rPr sz="1600" spc="2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отношения</a:t>
            </a:r>
            <a:r>
              <a:rPr sz="1600" spc="2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</a:t>
            </a:r>
            <a:r>
              <a:rPr sz="1600" spc="2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</a:t>
            </a:r>
            <a:r>
              <a:rPr sz="1600" spc="2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чистоте,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благоустройству</a:t>
            </a:r>
            <a:r>
              <a:rPr sz="1600" spc="3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3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общественному пространству.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6985" algn="just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Выявление</a:t>
            </a:r>
            <a:r>
              <a:rPr sz="1600" spc="4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факторов,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влияющих</a:t>
            </a:r>
            <a:r>
              <a:rPr sz="1600" spc="4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участие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ответственное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поведение.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Измерение</a:t>
            </a:r>
            <a:r>
              <a:rPr sz="1600" spc="459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уровня</a:t>
            </a:r>
            <a:r>
              <a:rPr sz="1600" spc="4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вовлеченности</a:t>
            </a:r>
            <a:r>
              <a:rPr sz="1600" spc="4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динамики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поведенческих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практик.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728195" y="644479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19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364236" y="1197863"/>
            <a:ext cx="47625" cy="2586355"/>
          </a:xfrm>
          <a:custGeom>
            <a:avLst/>
            <a:gdLst/>
            <a:ahLst/>
            <a:cxnLst/>
            <a:rect l="l" t="t" r="r" b="b"/>
            <a:pathLst>
              <a:path w="47625" h="2586354">
                <a:moveTo>
                  <a:pt x="47243" y="0"/>
                </a:moveTo>
                <a:lnTo>
                  <a:pt x="0" y="0"/>
                </a:lnTo>
                <a:lnTo>
                  <a:pt x="0" y="2586227"/>
                </a:lnTo>
                <a:lnTo>
                  <a:pt x="47243" y="2586227"/>
                </a:lnTo>
                <a:lnTo>
                  <a:pt x="47243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59536" y="1054608"/>
            <a:ext cx="2982595" cy="797560"/>
            <a:chOff x="859536" y="1054608"/>
            <a:chExt cx="2982595" cy="797560"/>
          </a:xfrm>
        </p:grpSpPr>
        <p:sp>
          <p:nvSpPr>
            <p:cNvPr id="6" name="object 6"/>
            <p:cNvSpPr/>
            <p:nvPr/>
          </p:nvSpPr>
          <p:spPr>
            <a:xfrm>
              <a:off x="864108" y="1059180"/>
              <a:ext cx="2973705" cy="788035"/>
            </a:xfrm>
            <a:custGeom>
              <a:avLst/>
              <a:gdLst/>
              <a:ahLst/>
              <a:cxnLst/>
              <a:rect l="l" t="t" r="r" b="b"/>
              <a:pathLst>
                <a:path w="2973704" h="788035">
                  <a:moveTo>
                    <a:pt x="2914268" y="0"/>
                  </a:moveTo>
                  <a:lnTo>
                    <a:pt x="59093" y="0"/>
                  </a:lnTo>
                  <a:lnTo>
                    <a:pt x="36090" y="4637"/>
                  </a:lnTo>
                  <a:lnTo>
                    <a:pt x="17306" y="17287"/>
                  </a:lnTo>
                  <a:lnTo>
                    <a:pt x="4643" y="36058"/>
                  </a:lnTo>
                  <a:lnTo>
                    <a:pt x="0" y="59055"/>
                  </a:lnTo>
                  <a:lnTo>
                    <a:pt x="0" y="728853"/>
                  </a:lnTo>
                  <a:lnTo>
                    <a:pt x="4643" y="751849"/>
                  </a:lnTo>
                  <a:lnTo>
                    <a:pt x="17306" y="770620"/>
                  </a:lnTo>
                  <a:lnTo>
                    <a:pt x="36090" y="783270"/>
                  </a:lnTo>
                  <a:lnTo>
                    <a:pt x="59093" y="787908"/>
                  </a:lnTo>
                  <a:lnTo>
                    <a:pt x="2914268" y="787908"/>
                  </a:lnTo>
                  <a:lnTo>
                    <a:pt x="2937265" y="783270"/>
                  </a:lnTo>
                  <a:lnTo>
                    <a:pt x="2956036" y="770620"/>
                  </a:lnTo>
                  <a:lnTo>
                    <a:pt x="2968686" y="751849"/>
                  </a:lnTo>
                  <a:lnTo>
                    <a:pt x="2973324" y="728853"/>
                  </a:lnTo>
                  <a:lnTo>
                    <a:pt x="2973324" y="59055"/>
                  </a:lnTo>
                  <a:lnTo>
                    <a:pt x="2968686" y="36058"/>
                  </a:lnTo>
                  <a:lnTo>
                    <a:pt x="2956036" y="17287"/>
                  </a:lnTo>
                  <a:lnTo>
                    <a:pt x="2937265" y="4637"/>
                  </a:lnTo>
                  <a:lnTo>
                    <a:pt x="291426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64108" y="1059180"/>
              <a:ext cx="2973705" cy="788035"/>
            </a:xfrm>
            <a:custGeom>
              <a:avLst/>
              <a:gdLst/>
              <a:ahLst/>
              <a:cxnLst/>
              <a:rect l="l" t="t" r="r" b="b"/>
              <a:pathLst>
                <a:path w="2973704" h="788035">
                  <a:moveTo>
                    <a:pt x="0" y="59055"/>
                  </a:moveTo>
                  <a:lnTo>
                    <a:pt x="4643" y="36058"/>
                  </a:lnTo>
                  <a:lnTo>
                    <a:pt x="17306" y="17287"/>
                  </a:lnTo>
                  <a:lnTo>
                    <a:pt x="36090" y="4637"/>
                  </a:lnTo>
                  <a:lnTo>
                    <a:pt x="59093" y="0"/>
                  </a:lnTo>
                  <a:lnTo>
                    <a:pt x="2914268" y="0"/>
                  </a:lnTo>
                  <a:lnTo>
                    <a:pt x="2937265" y="4637"/>
                  </a:lnTo>
                  <a:lnTo>
                    <a:pt x="2956036" y="17287"/>
                  </a:lnTo>
                  <a:lnTo>
                    <a:pt x="2968686" y="36058"/>
                  </a:lnTo>
                  <a:lnTo>
                    <a:pt x="2973324" y="59055"/>
                  </a:lnTo>
                  <a:lnTo>
                    <a:pt x="2973324" y="728853"/>
                  </a:lnTo>
                  <a:lnTo>
                    <a:pt x="2968686" y="751849"/>
                  </a:lnTo>
                  <a:lnTo>
                    <a:pt x="2956036" y="770620"/>
                  </a:lnTo>
                  <a:lnTo>
                    <a:pt x="2937265" y="783270"/>
                  </a:lnTo>
                  <a:lnTo>
                    <a:pt x="2914268" y="787908"/>
                  </a:lnTo>
                  <a:lnTo>
                    <a:pt x="59093" y="787908"/>
                  </a:lnTo>
                  <a:lnTo>
                    <a:pt x="36090" y="783270"/>
                  </a:lnTo>
                  <a:lnTo>
                    <a:pt x="17306" y="770620"/>
                  </a:lnTo>
                  <a:lnTo>
                    <a:pt x="4643" y="751849"/>
                  </a:lnTo>
                  <a:lnTo>
                    <a:pt x="0" y="728853"/>
                  </a:lnTo>
                  <a:lnTo>
                    <a:pt x="0" y="59055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48892" y="1244346"/>
            <a:ext cx="24612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«Қалдықсыз</a:t>
            </a:r>
            <a:r>
              <a:rPr sz="1600" b="1" spc="-3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4841747" y="1054608"/>
            <a:ext cx="2982595" cy="797560"/>
            <a:chOff x="4841747" y="1054608"/>
            <a:chExt cx="2982595" cy="797560"/>
          </a:xfrm>
        </p:grpSpPr>
        <p:sp>
          <p:nvSpPr>
            <p:cNvPr id="3" name="object 3"/>
            <p:cNvSpPr/>
            <p:nvPr/>
          </p:nvSpPr>
          <p:spPr>
            <a:xfrm>
              <a:off x="4846319" y="1059180"/>
              <a:ext cx="2973705" cy="788035"/>
            </a:xfrm>
            <a:custGeom>
              <a:avLst/>
              <a:gdLst/>
              <a:ahLst/>
              <a:cxnLst/>
              <a:rect l="l" t="t" r="r" b="b"/>
              <a:pathLst>
                <a:path w="2973704" h="788035">
                  <a:moveTo>
                    <a:pt x="2914269" y="0"/>
                  </a:moveTo>
                  <a:lnTo>
                    <a:pt x="59054" y="0"/>
                  </a:lnTo>
                  <a:lnTo>
                    <a:pt x="36058" y="4637"/>
                  </a:lnTo>
                  <a:lnTo>
                    <a:pt x="17287" y="17287"/>
                  </a:lnTo>
                  <a:lnTo>
                    <a:pt x="4637" y="36058"/>
                  </a:lnTo>
                  <a:lnTo>
                    <a:pt x="0" y="59055"/>
                  </a:lnTo>
                  <a:lnTo>
                    <a:pt x="0" y="728853"/>
                  </a:lnTo>
                  <a:lnTo>
                    <a:pt x="4637" y="751849"/>
                  </a:lnTo>
                  <a:lnTo>
                    <a:pt x="17287" y="770620"/>
                  </a:lnTo>
                  <a:lnTo>
                    <a:pt x="36058" y="783270"/>
                  </a:lnTo>
                  <a:lnTo>
                    <a:pt x="59054" y="787908"/>
                  </a:lnTo>
                  <a:lnTo>
                    <a:pt x="2914269" y="787908"/>
                  </a:lnTo>
                  <a:lnTo>
                    <a:pt x="2937265" y="783270"/>
                  </a:lnTo>
                  <a:lnTo>
                    <a:pt x="2956036" y="770620"/>
                  </a:lnTo>
                  <a:lnTo>
                    <a:pt x="2968686" y="751849"/>
                  </a:lnTo>
                  <a:lnTo>
                    <a:pt x="2973324" y="728853"/>
                  </a:lnTo>
                  <a:lnTo>
                    <a:pt x="2973324" y="59055"/>
                  </a:lnTo>
                  <a:lnTo>
                    <a:pt x="2968686" y="36058"/>
                  </a:lnTo>
                  <a:lnTo>
                    <a:pt x="2956036" y="17287"/>
                  </a:lnTo>
                  <a:lnTo>
                    <a:pt x="2937265" y="4637"/>
                  </a:lnTo>
                  <a:lnTo>
                    <a:pt x="2914269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846319" y="1059180"/>
              <a:ext cx="2973705" cy="788035"/>
            </a:xfrm>
            <a:custGeom>
              <a:avLst/>
              <a:gdLst/>
              <a:ahLst/>
              <a:cxnLst/>
              <a:rect l="l" t="t" r="r" b="b"/>
              <a:pathLst>
                <a:path w="2973704" h="788035">
                  <a:moveTo>
                    <a:pt x="0" y="59055"/>
                  </a:moveTo>
                  <a:lnTo>
                    <a:pt x="4637" y="36058"/>
                  </a:lnTo>
                  <a:lnTo>
                    <a:pt x="17287" y="17287"/>
                  </a:lnTo>
                  <a:lnTo>
                    <a:pt x="36058" y="4637"/>
                  </a:lnTo>
                  <a:lnTo>
                    <a:pt x="59054" y="0"/>
                  </a:lnTo>
                  <a:lnTo>
                    <a:pt x="2914269" y="0"/>
                  </a:lnTo>
                  <a:lnTo>
                    <a:pt x="2937265" y="4637"/>
                  </a:lnTo>
                  <a:lnTo>
                    <a:pt x="2956036" y="17287"/>
                  </a:lnTo>
                  <a:lnTo>
                    <a:pt x="2968686" y="36058"/>
                  </a:lnTo>
                  <a:lnTo>
                    <a:pt x="2973324" y="59055"/>
                  </a:lnTo>
                  <a:lnTo>
                    <a:pt x="2973324" y="728853"/>
                  </a:lnTo>
                  <a:lnTo>
                    <a:pt x="2968686" y="751849"/>
                  </a:lnTo>
                  <a:lnTo>
                    <a:pt x="2956036" y="770620"/>
                  </a:lnTo>
                  <a:lnTo>
                    <a:pt x="2937265" y="783270"/>
                  </a:lnTo>
                  <a:lnTo>
                    <a:pt x="2914269" y="787908"/>
                  </a:lnTo>
                  <a:lnTo>
                    <a:pt x="59054" y="787908"/>
                  </a:lnTo>
                  <a:lnTo>
                    <a:pt x="36058" y="783270"/>
                  </a:lnTo>
                  <a:lnTo>
                    <a:pt x="17287" y="770620"/>
                  </a:lnTo>
                  <a:lnTo>
                    <a:pt x="4637" y="751849"/>
                  </a:lnTo>
                  <a:lnTo>
                    <a:pt x="0" y="728853"/>
                  </a:lnTo>
                  <a:lnTo>
                    <a:pt x="0" y="59055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423408" y="1133602"/>
            <a:ext cx="19132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1940" marR="5080" indent="-26987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Upcycling-проекты </a:t>
            </a:r>
            <a:r>
              <a:rPr sz="16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с</a:t>
            </a:r>
            <a:r>
              <a:rPr sz="1600" b="1" spc="-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креаторами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646" y="1994661"/>
            <a:ext cx="2203450" cy="1068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076325" algn="l"/>
              </a:tabLst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600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направлен</a:t>
            </a:r>
            <a:r>
              <a:rPr sz="1600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культуры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повторного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вещей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материалов.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45085">
              <a:lnSpc>
                <a:spcPct val="100000"/>
              </a:lnSpc>
              <a:spcBef>
                <a:spcPts val="535"/>
              </a:spcBef>
              <a:tabLst>
                <a:tab pos="116078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Создание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площадок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69463" y="1994661"/>
            <a:ext cx="1480185" cy="1068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35" marR="5080" indent="-1397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формирование использования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tabLst>
                <a:tab pos="559435" algn="l"/>
              </a:tabLst>
            </a:pP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обмена,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0564" y="3038093"/>
            <a:ext cx="359219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передачи,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ремонта и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восстановления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вещей,</a:t>
            </a:r>
            <a:r>
              <a:rPr sz="1600" spc="204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сокращающих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образование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отходов</a:t>
            </a:r>
            <a:r>
              <a:rPr sz="1600" spc="1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1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продлевающих</a:t>
            </a:r>
            <a:r>
              <a:rPr sz="1600" spc="1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срок</a:t>
            </a:r>
            <a:r>
              <a:rPr sz="1600" spc="1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их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использования.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36947" y="1150619"/>
            <a:ext cx="47625" cy="2633980"/>
          </a:xfrm>
          <a:custGeom>
            <a:avLst/>
            <a:gdLst/>
            <a:ahLst/>
            <a:cxnLst/>
            <a:rect l="l" t="t" r="r" b="b"/>
            <a:pathLst>
              <a:path w="47625" h="2633979">
                <a:moveTo>
                  <a:pt x="47244" y="0"/>
                </a:moveTo>
                <a:lnTo>
                  <a:pt x="0" y="0"/>
                </a:lnTo>
                <a:lnTo>
                  <a:pt x="0" y="2633472"/>
                </a:lnTo>
                <a:lnTo>
                  <a:pt x="47244" y="2633472"/>
                </a:lnTo>
                <a:lnTo>
                  <a:pt x="47244" y="0"/>
                </a:lnTo>
                <a:close/>
              </a:path>
            </a:pathLst>
          </a:custGeom>
          <a:solidFill>
            <a:srgbClr val="04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33873" y="2043175"/>
            <a:ext cx="299847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Совместное</a:t>
            </a:r>
            <a:r>
              <a:rPr sz="1600" spc="2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создание</a:t>
            </a:r>
            <a:r>
              <a:rPr sz="1600" spc="2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новых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изделий</a:t>
            </a:r>
            <a:r>
              <a:rPr sz="1600" spc="3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</a:t>
            </a:r>
            <a:r>
              <a:rPr sz="1600" spc="3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использованных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материалов</a:t>
            </a:r>
            <a:r>
              <a:rPr sz="1600" spc="459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</a:t>
            </a:r>
            <a:r>
              <a:rPr sz="1600" spc="4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дизайнерами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креаторами,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популяризирующее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ответственное</a:t>
            </a:r>
            <a:r>
              <a:rPr sz="1600" spc="4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потребление</a:t>
            </a:r>
            <a:r>
              <a:rPr sz="1600" spc="4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повторное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использование.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64652" y="1150619"/>
            <a:ext cx="45720" cy="2633980"/>
          </a:xfrm>
          <a:custGeom>
            <a:avLst/>
            <a:gdLst/>
            <a:ahLst/>
            <a:cxnLst/>
            <a:rect l="l" t="t" r="r" b="b"/>
            <a:pathLst>
              <a:path w="45720" h="2633979">
                <a:moveTo>
                  <a:pt x="45720" y="0"/>
                </a:moveTo>
                <a:lnTo>
                  <a:pt x="0" y="0"/>
                </a:lnTo>
                <a:lnTo>
                  <a:pt x="0" y="2633472"/>
                </a:lnTo>
                <a:lnTo>
                  <a:pt x="45720" y="2633472"/>
                </a:lnTo>
                <a:lnTo>
                  <a:pt x="45720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8514588" y="1068324"/>
            <a:ext cx="2984500" cy="798830"/>
            <a:chOff x="8514588" y="1068324"/>
            <a:chExt cx="2984500" cy="798830"/>
          </a:xfrm>
        </p:grpSpPr>
        <p:sp>
          <p:nvSpPr>
            <p:cNvPr id="21" name="object 21"/>
            <p:cNvSpPr/>
            <p:nvPr/>
          </p:nvSpPr>
          <p:spPr>
            <a:xfrm>
              <a:off x="8519160" y="1072896"/>
              <a:ext cx="2974975" cy="789940"/>
            </a:xfrm>
            <a:custGeom>
              <a:avLst/>
              <a:gdLst/>
              <a:ahLst/>
              <a:cxnLst/>
              <a:rect l="l" t="t" r="r" b="b"/>
              <a:pathLst>
                <a:path w="2974975" h="789939">
                  <a:moveTo>
                    <a:pt x="2915666" y="0"/>
                  </a:moveTo>
                  <a:lnTo>
                    <a:pt x="59182" y="0"/>
                  </a:lnTo>
                  <a:lnTo>
                    <a:pt x="36165" y="4657"/>
                  </a:lnTo>
                  <a:lnTo>
                    <a:pt x="17351" y="17351"/>
                  </a:lnTo>
                  <a:lnTo>
                    <a:pt x="4657" y="36165"/>
                  </a:lnTo>
                  <a:lnTo>
                    <a:pt x="0" y="59181"/>
                  </a:lnTo>
                  <a:lnTo>
                    <a:pt x="0" y="730250"/>
                  </a:lnTo>
                  <a:lnTo>
                    <a:pt x="4657" y="753266"/>
                  </a:lnTo>
                  <a:lnTo>
                    <a:pt x="17351" y="772080"/>
                  </a:lnTo>
                  <a:lnTo>
                    <a:pt x="36165" y="784774"/>
                  </a:lnTo>
                  <a:lnTo>
                    <a:pt x="59182" y="789431"/>
                  </a:lnTo>
                  <a:lnTo>
                    <a:pt x="2915666" y="789431"/>
                  </a:lnTo>
                  <a:lnTo>
                    <a:pt x="2938682" y="784774"/>
                  </a:lnTo>
                  <a:lnTo>
                    <a:pt x="2957496" y="772080"/>
                  </a:lnTo>
                  <a:lnTo>
                    <a:pt x="2970190" y="753266"/>
                  </a:lnTo>
                  <a:lnTo>
                    <a:pt x="2974848" y="730250"/>
                  </a:lnTo>
                  <a:lnTo>
                    <a:pt x="2974848" y="59181"/>
                  </a:lnTo>
                  <a:lnTo>
                    <a:pt x="2970190" y="36165"/>
                  </a:lnTo>
                  <a:lnTo>
                    <a:pt x="2957496" y="17351"/>
                  </a:lnTo>
                  <a:lnTo>
                    <a:pt x="2938682" y="4657"/>
                  </a:lnTo>
                  <a:lnTo>
                    <a:pt x="2915666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519160" y="1072896"/>
              <a:ext cx="2974975" cy="789940"/>
            </a:xfrm>
            <a:custGeom>
              <a:avLst/>
              <a:gdLst/>
              <a:ahLst/>
              <a:cxnLst/>
              <a:rect l="l" t="t" r="r" b="b"/>
              <a:pathLst>
                <a:path w="2974975" h="789939">
                  <a:moveTo>
                    <a:pt x="0" y="59181"/>
                  </a:moveTo>
                  <a:lnTo>
                    <a:pt x="4657" y="36165"/>
                  </a:lnTo>
                  <a:lnTo>
                    <a:pt x="17351" y="17351"/>
                  </a:lnTo>
                  <a:lnTo>
                    <a:pt x="36165" y="4657"/>
                  </a:lnTo>
                  <a:lnTo>
                    <a:pt x="59182" y="0"/>
                  </a:lnTo>
                  <a:lnTo>
                    <a:pt x="2915666" y="0"/>
                  </a:lnTo>
                  <a:lnTo>
                    <a:pt x="2938682" y="4657"/>
                  </a:lnTo>
                  <a:lnTo>
                    <a:pt x="2957496" y="17351"/>
                  </a:lnTo>
                  <a:lnTo>
                    <a:pt x="2970190" y="36165"/>
                  </a:lnTo>
                  <a:lnTo>
                    <a:pt x="2974848" y="59181"/>
                  </a:lnTo>
                  <a:lnTo>
                    <a:pt x="2974848" y="730250"/>
                  </a:lnTo>
                  <a:lnTo>
                    <a:pt x="2970190" y="753266"/>
                  </a:lnTo>
                  <a:lnTo>
                    <a:pt x="2957496" y="772080"/>
                  </a:lnTo>
                  <a:lnTo>
                    <a:pt x="2938682" y="784774"/>
                  </a:lnTo>
                  <a:lnTo>
                    <a:pt x="2915666" y="789431"/>
                  </a:lnTo>
                  <a:lnTo>
                    <a:pt x="59182" y="789431"/>
                  </a:lnTo>
                  <a:lnTo>
                    <a:pt x="36165" y="784774"/>
                  </a:lnTo>
                  <a:lnTo>
                    <a:pt x="17351" y="772080"/>
                  </a:lnTo>
                  <a:lnTo>
                    <a:pt x="4657" y="753266"/>
                  </a:lnTo>
                  <a:lnTo>
                    <a:pt x="0" y="730250"/>
                  </a:lnTo>
                  <a:lnTo>
                    <a:pt x="0" y="59181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392539" y="1327785"/>
            <a:ext cx="12299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b="1" spc="-4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алаң»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07983" y="2057222"/>
            <a:ext cx="34937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600" spc="1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</a:t>
            </a:r>
            <a:r>
              <a:rPr sz="1600" spc="1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формированию</a:t>
            </a:r>
            <a:r>
              <a:rPr sz="1600" spc="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культуры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600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спортивных,</a:t>
            </a:r>
            <a:r>
              <a:rPr sz="1600" spc="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культурных,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07983" y="2545461"/>
            <a:ext cx="349694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городских</a:t>
            </a:r>
            <a:r>
              <a:rPr sz="1600" spc="3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3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фестивальных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мероприятиях.</a:t>
            </a:r>
            <a:r>
              <a:rPr sz="1600" spc="3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Маскот</a:t>
            </a:r>
            <a:r>
              <a:rPr sz="1600" spc="3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Тазабек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своим</a:t>
            </a:r>
            <a:r>
              <a:rPr sz="1600" spc="3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примером</a:t>
            </a:r>
            <a:r>
              <a:rPr sz="1600" spc="3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показывает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правила</a:t>
            </a:r>
            <a:r>
              <a:rPr sz="1600" spc="4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поведения,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напоминает</a:t>
            </a:r>
            <a:r>
              <a:rPr sz="1600" spc="4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чистоте</a:t>
            </a:r>
            <a:r>
              <a:rPr sz="1600" spc="2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2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вовлекает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посетителей</a:t>
            </a:r>
            <a:r>
              <a:rPr sz="1600" spc="2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поддержание</a:t>
            </a:r>
            <a:r>
              <a:rPr sz="16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порядка.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25780" y="4396740"/>
            <a:ext cx="3857244" cy="20878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8679" y="4174235"/>
            <a:ext cx="3192779" cy="2310384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0" y="4178802"/>
            <a:ext cx="12192000" cy="2679700"/>
            <a:chOff x="0" y="4178802"/>
            <a:chExt cx="12192000" cy="267970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7123" y="4178802"/>
              <a:ext cx="2062750" cy="258090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0" y="6781799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192000" y="762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715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2" name="object 19" descr="$PPTXTitle"/>
          <p:cNvSpPr txBox="1"/>
          <p:nvPr/>
        </p:nvSpPr>
        <p:spPr>
          <a:xfrm>
            <a:off x="598422" y="403986"/>
            <a:ext cx="5497577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210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НАПРАВЛЕНИЕ «ЖАҢА</a:t>
            </a:r>
            <a:r>
              <a:rPr lang="ru-RU" sz="2100" spc="-75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spc="-1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МӘДЕНИЕТ»</a:t>
            </a:r>
            <a:endParaRPr lang="ru-RU" sz="2100" spc="-10" dirty="0">
              <a:solidFill>
                <a:srgbClr val="B4520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596900" y="434162"/>
            <a:ext cx="10138282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</a:pPr>
            <a:r>
              <a:rPr lang="ru-RU" sz="2100" spc="-20" dirty="0">
                <a:solidFill>
                  <a:srgbClr val="0369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НАПРАВЛЕНИЕ «</a:t>
            </a:r>
            <a:r>
              <a:rPr sz="2100" spc="-20" dirty="0">
                <a:solidFill>
                  <a:srgbClr val="0369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ТАЗА</a:t>
            </a:r>
            <a:r>
              <a:rPr sz="2100" spc="-130" dirty="0">
                <a:solidFill>
                  <a:srgbClr val="0369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20" dirty="0">
                <a:solidFill>
                  <a:srgbClr val="0369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САНА</a:t>
            </a:r>
            <a:r>
              <a:rPr lang="ru-RU" sz="2100" spc="-20" dirty="0">
                <a:solidFill>
                  <a:srgbClr val="0369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»</a:t>
            </a:r>
            <a:endParaRPr sz="2100" spc="-20" dirty="0">
              <a:solidFill>
                <a:srgbClr val="0369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9787" y="1219200"/>
            <a:ext cx="2139950" cy="64135"/>
          </a:xfrm>
          <a:custGeom>
            <a:avLst/>
            <a:gdLst/>
            <a:ahLst/>
            <a:cxnLst/>
            <a:rect l="l" t="t" r="r" b="b"/>
            <a:pathLst>
              <a:path w="2139950" h="64134">
                <a:moveTo>
                  <a:pt x="2139696" y="0"/>
                </a:moveTo>
                <a:lnTo>
                  <a:pt x="0" y="0"/>
                </a:lnTo>
                <a:lnTo>
                  <a:pt x="0" y="64008"/>
                </a:lnTo>
                <a:lnTo>
                  <a:pt x="2139696" y="64008"/>
                </a:lnTo>
                <a:lnTo>
                  <a:pt x="2139696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58540" y="1219200"/>
            <a:ext cx="2141220" cy="64135"/>
          </a:xfrm>
          <a:custGeom>
            <a:avLst/>
            <a:gdLst/>
            <a:ahLst/>
            <a:cxnLst/>
            <a:rect l="l" t="t" r="r" b="b"/>
            <a:pathLst>
              <a:path w="2141220" h="64134">
                <a:moveTo>
                  <a:pt x="2141219" y="0"/>
                </a:moveTo>
                <a:lnTo>
                  <a:pt x="0" y="0"/>
                </a:lnTo>
                <a:lnTo>
                  <a:pt x="0" y="64008"/>
                </a:lnTo>
                <a:lnTo>
                  <a:pt x="2141219" y="64008"/>
                </a:lnTo>
                <a:lnTo>
                  <a:pt x="2141219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38315" y="1219200"/>
            <a:ext cx="2141220" cy="64135"/>
          </a:xfrm>
          <a:custGeom>
            <a:avLst/>
            <a:gdLst/>
            <a:ahLst/>
            <a:cxnLst/>
            <a:rect l="l" t="t" r="r" b="b"/>
            <a:pathLst>
              <a:path w="2141220" h="64134">
                <a:moveTo>
                  <a:pt x="2141219" y="0"/>
                </a:moveTo>
                <a:lnTo>
                  <a:pt x="0" y="0"/>
                </a:lnTo>
                <a:lnTo>
                  <a:pt x="0" y="64008"/>
                </a:lnTo>
                <a:lnTo>
                  <a:pt x="2141219" y="64008"/>
                </a:lnTo>
                <a:lnTo>
                  <a:pt x="2141219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368028" y="1219200"/>
            <a:ext cx="2141220" cy="64135"/>
          </a:xfrm>
          <a:custGeom>
            <a:avLst/>
            <a:gdLst/>
            <a:ahLst/>
            <a:cxnLst/>
            <a:rect l="l" t="t" r="r" b="b"/>
            <a:pathLst>
              <a:path w="2141220" h="64134">
                <a:moveTo>
                  <a:pt x="2141220" y="0"/>
                </a:moveTo>
                <a:lnTo>
                  <a:pt x="0" y="0"/>
                </a:lnTo>
                <a:lnTo>
                  <a:pt x="0" y="64008"/>
                </a:lnTo>
                <a:lnTo>
                  <a:pt x="2141220" y="64008"/>
                </a:lnTo>
                <a:lnTo>
                  <a:pt x="2141220" y="0"/>
                </a:lnTo>
                <a:close/>
              </a:path>
            </a:pathLst>
          </a:custGeom>
          <a:solidFill>
            <a:srgbClr val="539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 txBox="1"/>
          <p:nvPr/>
        </p:nvSpPr>
        <p:spPr>
          <a:xfrm>
            <a:off x="1131214" y="1443685"/>
            <a:ext cx="12274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 panose="020B0604020202020204"/>
                <a:cs typeface="Arial" panose="020B0604020202020204"/>
              </a:rPr>
              <a:t>Taza</a:t>
            </a:r>
            <a:r>
              <a:rPr sz="16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latin typeface="Arial" panose="020B0604020202020204"/>
                <a:cs typeface="Arial" panose="020B0604020202020204"/>
              </a:rPr>
              <a:t>mektep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514" y="1761820"/>
            <a:ext cx="1233170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Внедрение бережного окружающей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8829" y="1761820"/>
            <a:ext cx="1096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стандартов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4217" y="2006345"/>
            <a:ext cx="10648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отношения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56870">
              <a:lnSpc>
                <a:spcPct val="100000"/>
              </a:lnSpc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среде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9617" y="1325593"/>
            <a:ext cx="2926080" cy="11938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336675" algn="just">
              <a:lnSpc>
                <a:spcPct val="100000"/>
              </a:lnSpc>
              <a:spcBef>
                <a:spcPts val="855"/>
              </a:spcBef>
            </a:pPr>
            <a:r>
              <a:rPr sz="1600" b="1" spc="-20" dirty="0">
                <a:latin typeface="Arial" panose="020B0604020202020204"/>
                <a:cs typeface="Arial" panose="020B0604020202020204"/>
              </a:rPr>
              <a:t>Taza</a:t>
            </a:r>
            <a:r>
              <a:rPr sz="16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25" dirty="0">
                <a:latin typeface="Arial" panose="020B0604020202020204"/>
                <a:cs typeface="Arial" panose="020B0604020202020204"/>
              </a:rPr>
              <a:t>oi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 indent="419100" algn="just">
              <a:lnSpc>
                <a:spcPct val="100000"/>
              </a:lnSpc>
              <a:spcBef>
                <a:spcPts val="755"/>
              </a:spcBef>
              <a:tabLst>
                <a:tab pos="2687320" algn="l"/>
              </a:tabLst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Симуляционная</a:t>
            </a:r>
            <a:r>
              <a:rPr sz="1600" spc="2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игра</a:t>
            </a:r>
            <a:r>
              <a:rPr sz="1600" spc="2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</a:t>
            </a:r>
            <a:r>
              <a:rPr sz="1600" spc="3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школьников</a:t>
            </a:r>
            <a:r>
              <a:rPr sz="1600" spc="4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студентов,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</a:t>
            </a:r>
            <a:r>
              <a:rPr sz="1600" spc="3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направленная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7445" y="1369146"/>
            <a:ext cx="1773555" cy="66167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795020">
              <a:lnSpc>
                <a:spcPct val="100000"/>
              </a:lnSpc>
              <a:spcBef>
                <a:spcPts val="685"/>
              </a:spcBef>
            </a:pPr>
            <a:r>
              <a:rPr sz="1600" b="1" spc="-10" dirty="0">
                <a:latin typeface="Arial" panose="020B0604020202020204"/>
                <a:cs typeface="Arial" panose="020B0604020202020204"/>
              </a:rPr>
              <a:t>Taza</a:t>
            </a:r>
            <a:r>
              <a:rPr sz="16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latin typeface="Arial" panose="020B0604020202020204"/>
                <a:cs typeface="Arial" panose="020B0604020202020204"/>
              </a:rPr>
              <a:t>talqy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Площадка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5953" y="1761820"/>
            <a:ext cx="7270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обмена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94140" y="1354988"/>
            <a:ext cx="2870200" cy="6826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0320" algn="ctr">
              <a:lnSpc>
                <a:spcPct val="100000"/>
              </a:lnSpc>
              <a:spcBef>
                <a:spcPts val="765"/>
              </a:spcBef>
            </a:pPr>
            <a:r>
              <a:rPr sz="1600" b="1" spc="-10" dirty="0">
                <a:latin typeface="Arial" panose="020B0604020202020204"/>
                <a:cs typeface="Arial" panose="020B0604020202020204"/>
              </a:rPr>
              <a:t>Молодежный</a:t>
            </a:r>
            <a:r>
              <a:rPr sz="16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latin typeface="Arial" panose="020B0604020202020204"/>
                <a:cs typeface="Arial" panose="020B0604020202020204"/>
              </a:rPr>
              <a:t>лагерь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  <a:tabLst>
                <a:tab pos="189865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Образовательная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площадка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3514" y="2494025"/>
            <a:ext cx="25088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школьников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1–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11</a:t>
            </a:r>
            <a:r>
              <a:rPr sz="16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классов.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27445" y="2006345"/>
            <a:ext cx="90424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идеями вопросов культуры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6708" y="2006345"/>
            <a:ext cx="153670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marR="5080" indent="-147955" algn="r">
              <a:lnSpc>
                <a:spcPct val="100000"/>
              </a:lnSpc>
              <a:spcBef>
                <a:spcPts val="95"/>
              </a:spcBef>
              <a:tabLst>
                <a:tab pos="385445" algn="l"/>
              </a:tabLst>
            </a:pP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обсуждения экологической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</a:pP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94140" y="2012695"/>
            <a:ext cx="2872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019810" algn="l"/>
                <a:tab pos="1984375" algn="l"/>
                <a:tab pos="2637155" algn="l"/>
              </a:tabLst>
            </a:pP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молодежи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экологической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культуре,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58971" y="2494025"/>
            <a:ext cx="25050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развитие</a:t>
            </a:r>
            <a:r>
              <a:rPr sz="1600" spc="2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экологического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мышления</a:t>
            </a:r>
            <a:r>
              <a:rPr sz="1600" spc="2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2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навыков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принятия</a:t>
            </a:r>
            <a:r>
              <a:rPr sz="16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решений.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27445" y="2737866"/>
            <a:ext cx="25076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ответственности</a:t>
            </a:r>
            <a:r>
              <a:rPr sz="1600" spc="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</a:t>
            </a:r>
            <a:r>
              <a:rPr sz="1600" spc="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всех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регионах.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94140" y="2500375"/>
            <a:ext cx="28733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ответственности</a:t>
            </a:r>
            <a:r>
              <a:rPr sz="1600" spc="1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1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практикам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бережного</a:t>
            </a:r>
            <a:r>
              <a:rPr sz="1600" spc="4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отношения</a:t>
            </a:r>
            <a:r>
              <a:rPr sz="1600" spc="4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окружающей</a:t>
            </a:r>
            <a:r>
              <a:rPr sz="16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среде.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06187" y="3482334"/>
            <a:ext cx="2113042" cy="317374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8823" y="3432042"/>
            <a:ext cx="2113042" cy="317374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1751" y="3482334"/>
            <a:ext cx="2113042" cy="317374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55831" y="3482334"/>
            <a:ext cx="2114559" cy="3173740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715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6" name="object 26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97687" y="450857"/>
            <a:ext cx="10138282" cy="501855"/>
          </a:xfrm>
          <a:prstGeom prst="rect">
            <a:avLst/>
          </a:prstGeom>
        </p:spPr>
        <p:txBody>
          <a:bodyPr vert="horz" wrap="square" lIns="0" tIns="176961" rIns="0" bIns="0" rtlCol="0">
            <a:spAutoFit/>
          </a:bodyPr>
          <a:lstStyle/>
          <a:p>
            <a:pPr marL="237744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YOUTUBE-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</a:t>
            </a:r>
            <a:r>
              <a:rPr sz="21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«ҚҰНДЫЛЫҚ</a:t>
            </a:r>
            <a:r>
              <a:rPr sz="210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ЕЛШІСІ»</a:t>
            </a:r>
            <a:endParaRPr sz="21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2731" y="1310386"/>
            <a:ext cx="96881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Проект,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направленный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6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формирование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экологической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культуры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через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личный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пример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людей,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которые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своим</a:t>
            </a:r>
            <a:r>
              <a:rPr sz="16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ежедневным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трудом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деятельностью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вносят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вклад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сохранение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окружающей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среды.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9955" y="2045207"/>
            <a:ext cx="45720" cy="1988820"/>
          </a:xfrm>
          <a:custGeom>
            <a:avLst/>
            <a:gdLst/>
            <a:ahLst/>
            <a:cxnLst/>
            <a:rect l="l" t="t" r="r" b="b"/>
            <a:pathLst>
              <a:path w="45720" h="1988820">
                <a:moveTo>
                  <a:pt x="45720" y="0"/>
                </a:moveTo>
                <a:lnTo>
                  <a:pt x="0" y="0"/>
                </a:lnTo>
                <a:lnTo>
                  <a:pt x="0" y="1988820"/>
                </a:lnTo>
                <a:lnTo>
                  <a:pt x="45720" y="1988820"/>
                </a:lnTo>
                <a:lnTo>
                  <a:pt x="4572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4068" y="2066544"/>
            <a:ext cx="424180" cy="315595"/>
          </a:xfrm>
          <a:custGeom>
            <a:avLst/>
            <a:gdLst/>
            <a:ahLst/>
            <a:cxnLst/>
            <a:rect l="l" t="t" r="r" b="b"/>
            <a:pathLst>
              <a:path w="424180" h="315594">
                <a:moveTo>
                  <a:pt x="360578" y="0"/>
                </a:moveTo>
                <a:lnTo>
                  <a:pt x="63093" y="0"/>
                </a:lnTo>
                <a:lnTo>
                  <a:pt x="38533" y="4951"/>
                </a:lnTo>
                <a:lnTo>
                  <a:pt x="18478" y="18462"/>
                </a:lnTo>
                <a:lnTo>
                  <a:pt x="4957" y="38522"/>
                </a:lnTo>
                <a:lnTo>
                  <a:pt x="0" y="63118"/>
                </a:lnTo>
                <a:lnTo>
                  <a:pt x="0" y="252348"/>
                </a:lnTo>
                <a:lnTo>
                  <a:pt x="4957" y="276945"/>
                </a:lnTo>
                <a:lnTo>
                  <a:pt x="18478" y="297005"/>
                </a:lnTo>
                <a:lnTo>
                  <a:pt x="38533" y="310516"/>
                </a:lnTo>
                <a:lnTo>
                  <a:pt x="63093" y="315467"/>
                </a:lnTo>
                <a:lnTo>
                  <a:pt x="360578" y="315467"/>
                </a:lnTo>
                <a:lnTo>
                  <a:pt x="385138" y="310516"/>
                </a:lnTo>
                <a:lnTo>
                  <a:pt x="405193" y="297005"/>
                </a:lnTo>
                <a:lnTo>
                  <a:pt x="418714" y="276945"/>
                </a:lnTo>
                <a:lnTo>
                  <a:pt x="423672" y="252348"/>
                </a:lnTo>
                <a:lnTo>
                  <a:pt x="423672" y="63118"/>
                </a:lnTo>
                <a:lnTo>
                  <a:pt x="418714" y="38522"/>
                </a:lnTo>
                <a:lnTo>
                  <a:pt x="405193" y="18462"/>
                </a:lnTo>
                <a:lnTo>
                  <a:pt x="385138" y="4951"/>
                </a:lnTo>
                <a:lnTo>
                  <a:pt x="360578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16712" y="2068448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79976" y="2049779"/>
            <a:ext cx="384175" cy="332740"/>
          </a:xfrm>
          <a:custGeom>
            <a:avLst/>
            <a:gdLst/>
            <a:ahLst/>
            <a:cxnLst/>
            <a:rect l="l" t="t" r="r" b="b"/>
            <a:pathLst>
              <a:path w="384175" h="332739">
                <a:moveTo>
                  <a:pt x="317626" y="0"/>
                </a:moveTo>
                <a:lnTo>
                  <a:pt x="66421" y="0"/>
                </a:lnTo>
                <a:lnTo>
                  <a:pt x="40558" y="5216"/>
                </a:lnTo>
                <a:lnTo>
                  <a:pt x="19446" y="19446"/>
                </a:lnTo>
                <a:lnTo>
                  <a:pt x="5216" y="40558"/>
                </a:lnTo>
                <a:lnTo>
                  <a:pt x="0" y="66421"/>
                </a:lnTo>
                <a:lnTo>
                  <a:pt x="0" y="265811"/>
                </a:lnTo>
                <a:lnTo>
                  <a:pt x="5216" y="291673"/>
                </a:lnTo>
                <a:lnTo>
                  <a:pt x="19446" y="312785"/>
                </a:lnTo>
                <a:lnTo>
                  <a:pt x="40558" y="327015"/>
                </a:lnTo>
                <a:lnTo>
                  <a:pt x="66421" y="332232"/>
                </a:lnTo>
                <a:lnTo>
                  <a:pt x="317626" y="332232"/>
                </a:lnTo>
                <a:lnTo>
                  <a:pt x="343489" y="327015"/>
                </a:lnTo>
                <a:lnTo>
                  <a:pt x="364601" y="312785"/>
                </a:lnTo>
                <a:lnTo>
                  <a:pt x="378831" y="291673"/>
                </a:lnTo>
                <a:lnTo>
                  <a:pt x="384048" y="265811"/>
                </a:lnTo>
                <a:lnTo>
                  <a:pt x="384048" y="66421"/>
                </a:lnTo>
                <a:lnTo>
                  <a:pt x="378831" y="40558"/>
                </a:lnTo>
                <a:lnTo>
                  <a:pt x="364601" y="19446"/>
                </a:lnTo>
                <a:lnTo>
                  <a:pt x="343489" y="5216"/>
                </a:lnTo>
                <a:lnTo>
                  <a:pt x="317626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86434" y="2582621"/>
            <a:ext cx="3117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4688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Сотрудники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заповедников,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6434" y="2827147"/>
            <a:ext cx="8464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лесники, местные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8057" y="2827147"/>
            <a:ext cx="21183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860">
              <a:lnSpc>
                <a:spcPct val="100000"/>
              </a:lnSpc>
              <a:spcBef>
                <a:spcPts val="95"/>
              </a:spcBef>
              <a:tabLst>
                <a:tab pos="1022985" algn="l"/>
                <a:tab pos="1173480" algn="l"/>
                <a:tab pos="147066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волонтеры, активисты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другие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62983" y="2619882"/>
            <a:ext cx="103886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Короткие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истории</a:t>
            </a:r>
            <a:r>
              <a:rPr sz="1600" spc="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вкладе,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8175" y="2619882"/>
            <a:ext cx="190690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92100" algn="r">
              <a:lnSpc>
                <a:spcPct val="100000"/>
              </a:lnSpc>
              <a:spcBef>
                <a:spcPts val="95"/>
              </a:spcBef>
              <a:tabLst>
                <a:tab pos="83248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документальные героях,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их</a:t>
            </a:r>
            <a:r>
              <a:rPr sz="1600" spc="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личном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конкретных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6434" y="3314827"/>
            <a:ext cx="311912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люди,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чья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деятельность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связана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</a:t>
            </a:r>
            <a:r>
              <a:rPr sz="1600" spc="3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заботой</a:t>
            </a:r>
            <a:r>
              <a:rPr sz="1600" spc="3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</a:t>
            </a:r>
            <a:r>
              <a:rPr sz="1600" spc="3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природе</a:t>
            </a:r>
            <a:r>
              <a:rPr sz="1600" spc="3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общественном</a:t>
            </a:r>
            <a:r>
              <a:rPr sz="16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пространстве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29100" y="2066544"/>
            <a:ext cx="45720" cy="1967864"/>
          </a:xfrm>
          <a:custGeom>
            <a:avLst/>
            <a:gdLst/>
            <a:ahLst/>
            <a:cxnLst/>
            <a:rect l="l" t="t" r="r" b="b"/>
            <a:pathLst>
              <a:path w="45720" h="1967864">
                <a:moveTo>
                  <a:pt x="45720" y="0"/>
                </a:moveTo>
                <a:lnTo>
                  <a:pt x="0" y="0"/>
                </a:lnTo>
                <a:lnTo>
                  <a:pt x="0" y="1967483"/>
                </a:lnTo>
                <a:lnTo>
                  <a:pt x="45720" y="1967483"/>
                </a:lnTo>
                <a:lnTo>
                  <a:pt x="45720" y="0"/>
                </a:lnTo>
                <a:close/>
              </a:path>
            </a:pathLst>
          </a:custGeom>
          <a:solidFill>
            <a:srgbClr val="04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435221" y="206057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8338" y="2020951"/>
            <a:ext cx="539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4570" algn="l"/>
              </a:tabLst>
            </a:pP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Герои</a:t>
            </a:r>
            <a:r>
              <a:rPr sz="1800" b="1" spc="-9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проекта</a:t>
            </a: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700" b="1" baseline="200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Формат</a:t>
            </a:r>
            <a:r>
              <a:rPr sz="2700" b="1" spc="-165" baseline="200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5" baseline="200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проекта</a:t>
            </a:r>
            <a:endParaRPr sz="2700" baseline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62983" y="3351403"/>
            <a:ext cx="30613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402080" algn="l"/>
                <a:tab pos="169735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инициативах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повседневных практиках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688580" y="2092451"/>
            <a:ext cx="45720" cy="1941830"/>
          </a:xfrm>
          <a:custGeom>
            <a:avLst/>
            <a:gdLst/>
            <a:ahLst/>
            <a:cxnLst/>
            <a:rect l="l" t="t" r="r" b="b"/>
            <a:pathLst>
              <a:path w="45720" h="1941829">
                <a:moveTo>
                  <a:pt x="45720" y="0"/>
                </a:moveTo>
                <a:lnTo>
                  <a:pt x="0" y="0"/>
                </a:lnTo>
                <a:lnTo>
                  <a:pt x="0" y="1941576"/>
                </a:lnTo>
                <a:lnTo>
                  <a:pt x="45720" y="1941576"/>
                </a:lnTo>
                <a:lnTo>
                  <a:pt x="45720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786116" y="2066544"/>
            <a:ext cx="410209" cy="332740"/>
          </a:xfrm>
          <a:custGeom>
            <a:avLst/>
            <a:gdLst/>
            <a:ahLst/>
            <a:cxnLst/>
            <a:rect l="l" t="t" r="r" b="b"/>
            <a:pathLst>
              <a:path w="410209" h="332739">
                <a:moveTo>
                  <a:pt x="343534" y="0"/>
                </a:moveTo>
                <a:lnTo>
                  <a:pt x="66420" y="0"/>
                </a:lnTo>
                <a:lnTo>
                  <a:pt x="40558" y="5216"/>
                </a:lnTo>
                <a:lnTo>
                  <a:pt x="19446" y="19446"/>
                </a:lnTo>
                <a:lnTo>
                  <a:pt x="5216" y="40558"/>
                </a:lnTo>
                <a:lnTo>
                  <a:pt x="0" y="66420"/>
                </a:lnTo>
                <a:lnTo>
                  <a:pt x="0" y="265810"/>
                </a:lnTo>
                <a:lnTo>
                  <a:pt x="5216" y="291673"/>
                </a:lnTo>
                <a:lnTo>
                  <a:pt x="19446" y="312785"/>
                </a:lnTo>
                <a:lnTo>
                  <a:pt x="40558" y="327015"/>
                </a:lnTo>
                <a:lnTo>
                  <a:pt x="66420" y="332231"/>
                </a:lnTo>
                <a:lnTo>
                  <a:pt x="343534" y="332231"/>
                </a:lnTo>
                <a:lnTo>
                  <a:pt x="369397" y="327015"/>
                </a:lnTo>
                <a:lnTo>
                  <a:pt x="390509" y="312785"/>
                </a:lnTo>
                <a:lnTo>
                  <a:pt x="404739" y="291673"/>
                </a:lnTo>
                <a:lnTo>
                  <a:pt x="409955" y="265810"/>
                </a:lnTo>
                <a:lnTo>
                  <a:pt x="409955" y="66420"/>
                </a:lnTo>
                <a:lnTo>
                  <a:pt x="404739" y="40558"/>
                </a:lnTo>
                <a:lnTo>
                  <a:pt x="390509" y="19446"/>
                </a:lnTo>
                <a:lnTo>
                  <a:pt x="369397" y="5216"/>
                </a:lnTo>
                <a:lnTo>
                  <a:pt x="343534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823454" y="2066925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36381" y="2827147"/>
            <a:ext cx="27813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6563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расширенные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истории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tabLst>
                <a:tab pos="951230" algn="l"/>
                <a:tab pos="2169160" algn="l"/>
              </a:tabLst>
            </a:pP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TikTok,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Instagram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Reels,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140567" y="2827147"/>
            <a:ext cx="8623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героев.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</a:pP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YouTube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36381" y="2013330"/>
            <a:ext cx="3867150" cy="8388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50875" marR="1024890" indent="-96520">
              <a:lnSpc>
                <a:spcPts val="1800"/>
              </a:lnSpc>
              <a:spcBef>
                <a:spcPts val="460"/>
              </a:spcBef>
            </a:pPr>
            <a:r>
              <a:rPr sz="1800" b="1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YouTube </a:t>
            </a: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18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основная </a:t>
            </a: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площадка</a:t>
            </a:r>
            <a:r>
              <a:rPr sz="1800" b="1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проекта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2564130" algn="l"/>
                <a:tab pos="374015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Мини-документальные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фильмы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36381" y="3314827"/>
            <a:ext cx="38652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Shorts</a:t>
            </a:r>
            <a:r>
              <a:rPr sz="1600" b="1" spc="2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1600" b="1" spc="2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короткие</a:t>
            </a:r>
            <a:r>
              <a:rPr sz="1600" spc="2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видеофрагменты,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истории,</a:t>
            </a:r>
            <a:r>
              <a:rPr sz="1600" spc="4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факты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4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отдельные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эпизоды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выпусков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широкого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охвата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59052" y="4123944"/>
            <a:ext cx="4315968" cy="242620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0107" y="4165091"/>
            <a:ext cx="4143755" cy="2450592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874500" y="643808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22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1026859" y="434003"/>
            <a:ext cx="10138282" cy="431965"/>
          </a:xfrm>
          <a:prstGeom prst="rect">
            <a:avLst/>
          </a:prstGeom>
        </p:spPr>
        <p:txBody>
          <a:bodyPr vert="horz" wrap="square" lIns="0" tIns="107747" rIns="0" bIns="0" rtlCol="0">
            <a:spAutoFit/>
          </a:bodyPr>
          <a:lstStyle/>
          <a:p>
            <a:pPr marL="92837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ЕДИНАЯ</a:t>
            </a:r>
            <a:r>
              <a:rPr sz="2100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КОММУНИКАЦИОННАЯ</a:t>
            </a:r>
            <a:r>
              <a:rPr sz="2100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СРЕДА</a:t>
            </a:r>
            <a:r>
              <a:rPr sz="2100" spc="-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100" spc="-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endParaRPr sz="21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03249" y="1247012"/>
            <a:ext cx="3571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ТЕМАТИЧЕСКИЕ</a:t>
            </a:r>
            <a:r>
              <a:rPr sz="16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МЕДИА-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1914" y="1286002"/>
            <a:ext cx="2592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КРЕАТИВНЫЕ</a:t>
            </a:r>
            <a:r>
              <a:rPr sz="1600" b="1" spc="-1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ФОРМАТЫ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8055" y="1956816"/>
            <a:ext cx="390525" cy="334010"/>
          </a:xfrm>
          <a:custGeom>
            <a:avLst/>
            <a:gdLst/>
            <a:ahLst/>
            <a:cxnLst/>
            <a:rect l="l" t="t" r="r" b="b"/>
            <a:pathLst>
              <a:path w="390525" h="334010">
                <a:moveTo>
                  <a:pt x="336740" y="0"/>
                </a:moveTo>
                <a:lnTo>
                  <a:pt x="53403" y="0"/>
                </a:lnTo>
                <a:lnTo>
                  <a:pt x="32618" y="4191"/>
                </a:lnTo>
                <a:lnTo>
                  <a:pt x="15643" y="15621"/>
                </a:lnTo>
                <a:lnTo>
                  <a:pt x="4197" y="32575"/>
                </a:lnTo>
                <a:lnTo>
                  <a:pt x="0" y="53339"/>
                </a:lnTo>
                <a:lnTo>
                  <a:pt x="0" y="280416"/>
                </a:lnTo>
                <a:lnTo>
                  <a:pt x="4197" y="301180"/>
                </a:lnTo>
                <a:lnTo>
                  <a:pt x="15643" y="318135"/>
                </a:lnTo>
                <a:lnTo>
                  <a:pt x="32618" y="329565"/>
                </a:lnTo>
                <a:lnTo>
                  <a:pt x="53403" y="333756"/>
                </a:lnTo>
                <a:lnTo>
                  <a:pt x="336740" y="333756"/>
                </a:lnTo>
                <a:lnTo>
                  <a:pt x="357525" y="329564"/>
                </a:lnTo>
                <a:lnTo>
                  <a:pt x="374500" y="318135"/>
                </a:lnTo>
                <a:lnTo>
                  <a:pt x="385946" y="301180"/>
                </a:lnTo>
                <a:lnTo>
                  <a:pt x="390144" y="280416"/>
                </a:lnTo>
                <a:lnTo>
                  <a:pt x="390144" y="53339"/>
                </a:lnTo>
                <a:lnTo>
                  <a:pt x="385946" y="32575"/>
                </a:lnTo>
                <a:lnTo>
                  <a:pt x="374500" y="15620"/>
                </a:lnTo>
                <a:lnTo>
                  <a:pt x="357525" y="4190"/>
                </a:lnTo>
                <a:lnTo>
                  <a:pt x="33674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30758" y="1977898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0844" y="1927986"/>
            <a:ext cx="21304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004060" algn="l"/>
              </a:tabLst>
            </a:pP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Эко-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привычки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– экологичные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практики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58285" y="1927986"/>
            <a:ext cx="1388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повседневные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34418" y="1633727"/>
            <a:ext cx="1880235" cy="1187450"/>
            <a:chOff x="5234418" y="1633727"/>
            <a:chExt cx="1880235" cy="1187450"/>
          </a:xfrm>
        </p:grpSpPr>
        <p:pic>
          <p:nvPicPr>
            <p:cNvPr id="12" name="object 1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34418" y="1691639"/>
              <a:ext cx="1871993" cy="9144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078980" y="1633727"/>
              <a:ext cx="35560" cy="1187450"/>
            </a:xfrm>
            <a:custGeom>
              <a:avLst/>
              <a:gdLst/>
              <a:ahLst/>
              <a:cxnLst/>
              <a:rect l="l" t="t" r="r" b="b"/>
              <a:pathLst>
                <a:path w="35559" h="1187450">
                  <a:moveTo>
                    <a:pt x="35051" y="0"/>
                  </a:moveTo>
                  <a:lnTo>
                    <a:pt x="0" y="0"/>
                  </a:lnTo>
                  <a:lnTo>
                    <a:pt x="0" y="1187196"/>
                  </a:lnTo>
                  <a:lnTo>
                    <a:pt x="35051" y="1187196"/>
                  </a:lnTo>
                  <a:lnTo>
                    <a:pt x="35051" y="0"/>
                  </a:lnTo>
                  <a:close/>
                </a:path>
              </a:pathLst>
            </a:custGeom>
            <a:solidFill>
              <a:srgbClr val="2F45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" name="object 4"/>
          <p:cNvSpPr txBox="1"/>
          <p:nvPr/>
        </p:nvSpPr>
        <p:spPr>
          <a:xfrm>
            <a:off x="7382382" y="1607210"/>
            <a:ext cx="4516120" cy="9702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652145">
              <a:lnSpc>
                <a:spcPct val="100000"/>
              </a:lnSpc>
              <a:spcBef>
                <a:spcPts val="935"/>
              </a:spcBef>
            </a:pPr>
            <a:r>
              <a:rPr sz="1600" b="1" spc="-1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Документальные фильмы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840"/>
              </a:spcBef>
              <a:tabLst>
                <a:tab pos="767080" algn="l"/>
                <a:tab pos="1410335" algn="l"/>
                <a:tab pos="1713230" algn="l"/>
                <a:tab pos="1795780" algn="l"/>
                <a:tab pos="2068195" algn="l"/>
                <a:tab pos="3134360" algn="l"/>
                <a:tab pos="438848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Серия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фильмов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значимых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3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экологических инициативах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достижениях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Казахстана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–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3483" y="2737104"/>
            <a:ext cx="422275" cy="332740"/>
          </a:xfrm>
          <a:custGeom>
            <a:avLst/>
            <a:gdLst/>
            <a:ahLst/>
            <a:cxnLst/>
            <a:rect l="l" t="t" r="r" b="b"/>
            <a:pathLst>
              <a:path w="422275" h="332739">
                <a:moveTo>
                  <a:pt x="368985" y="0"/>
                </a:moveTo>
                <a:lnTo>
                  <a:pt x="53162" y="0"/>
                </a:lnTo>
                <a:lnTo>
                  <a:pt x="32468" y="4171"/>
                </a:lnTo>
                <a:lnTo>
                  <a:pt x="15570" y="15557"/>
                </a:lnTo>
                <a:lnTo>
                  <a:pt x="4177" y="32468"/>
                </a:lnTo>
                <a:lnTo>
                  <a:pt x="0" y="53212"/>
                </a:lnTo>
                <a:lnTo>
                  <a:pt x="0" y="279019"/>
                </a:lnTo>
                <a:lnTo>
                  <a:pt x="4177" y="299763"/>
                </a:lnTo>
                <a:lnTo>
                  <a:pt x="15570" y="316674"/>
                </a:lnTo>
                <a:lnTo>
                  <a:pt x="32468" y="328060"/>
                </a:lnTo>
                <a:lnTo>
                  <a:pt x="53162" y="332232"/>
                </a:lnTo>
                <a:lnTo>
                  <a:pt x="368985" y="332232"/>
                </a:lnTo>
                <a:lnTo>
                  <a:pt x="389679" y="328060"/>
                </a:lnTo>
                <a:lnTo>
                  <a:pt x="406577" y="316674"/>
                </a:lnTo>
                <a:lnTo>
                  <a:pt x="417970" y="299763"/>
                </a:lnTo>
                <a:lnTo>
                  <a:pt x="422147" y="279019"/>
                </a:lnTo>
                <a:lnTo>
                  <a:pt x="422147" y="53212"/>
                </a:lnTo>
                <a:lnTo>
                  <a:pt x="417970" y="32468"/>
                </a:lnTo>
                <a:lnTo>
                  <a:pt x="406577" y="15557"/>
                </a:lnTo>
                <a:lnTo>
                  <a:pt x="389679" y="4171"/>
                </a:lnTo>
                <a:lnTo>
                  <a:pt x="368985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26186" y="2758186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0844" y="2659506"/>
            <a:ext cx="403415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10665" algn="l"/>
                <a:tab pos="1975485" algn="l"/>
                <a:tab pos="3338195" algn="l"/>
              </a:tabLst>
            </a:pP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Эко-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жастар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–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молодёжь,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школы,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конкурсы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36402" y="2551887"/>
            <a:ext cx="1063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Зелёного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природных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82382" y="2551887"/>
            <a:ext cx="3456304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07415" algn="l"/>
                <a:tab pos="1728470" algn="l"/>
                <a:tab pos="2010410" algn="l"/>
                <a:tab pos="256667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восстановлении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Арала,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создании пояса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Астаны,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сохранении территорий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1104" y="3514344"/>
            <a:ext cx="410209" cy="332740"/>
          </a:xfrm>
          <a:custGeom>
            <a:avLst/>
            <a:gdLst/>
            <a:ahLst/>
            <a:cxnLst/>
            <a:rect l="l" t="t" r="r" b="b"/>
            <a:pathLst>
              <a:path w="410209" h="332739">
                <a:moveTo>
                  <a:pt x="343509" y="0"/>
                </a:moveTo>
                <a:lnTo>
                  <a:pt x="66446" y="0"/>
                </a:lnTo>
                <a:lnTo>
                  <a:pt x="40580" y="5216"/>
                </a:lnTo>
                <a:lnTo>
                  <a:pt x="19459" y="19446"/>
                </a:lnTo>
                <a:lnTo>
                  <a:pt x="5220" y="40558"/>
                </a:lnTo>
                <a:lnTo>
                  <a:pt x="0" y="66420"/>
                </a:lnTo>
                <a:lnTo>
                  <a:pt x="0" y="265810"/>
                </a:lnTo>
                <a:lnTo>
                  <a:pt x="5220" y="291673"/>
                </a:lnTo>
                <a:lnTo>
                  <a:pt x="19459" y="312785"/>
                </a:lnTo>
                <a:lnTo>
                  <a:pt x="40580" y="327015"/>
                </a:lnTo>
                <a:lnTo>
                  <a:pt x="66446" y="332231"/>
                </a:lnTo>
                <a:lnTo>
                  <a:pt x="343509" y="332231"/>
                </a:lnTo>
                <a:lnTo>
                  <a:pt x="369375" y="327015"/>
                </a:lnTo>
                <a:lnTo>
                  <a:pt x="390496" y="312785"/>
                </a:lnTo>
                <a:lnTo>
                  <a:pt x="404735" y="291673"/>
                </a:lnTo>
                <a:lnTo>
                  <a:pt x="409955" y="265810"/>
                </a:lnTo>
                <a:lnTo>
                  <a:pt x="409955" y="66420"/>
                </a:lnTo>
                <a:lnTo>
                  <a:pt x="404735" y="40558"/>
                </a:lnTo>
                <a:lnTo>
                  <a:pt x="390496" y="19446"/>
                </a:lnTo>
                <a:lnTo>
                  <a:pt x="369375" y="5216"/>
                </a:lnTo>
                <a:lnTo>
                  <a:pt x="343509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7476" y="3515105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0844" y="3391280"/>
            <a:ext cx="403669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«Менің</a:t>
            </a:r>
            <a:r>
              <a:rPr sz="16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таза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әдетім»</a:t>
            </a:r>
            <a:r>
              <a:rPr sz="1600" b="1" spc="-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короткие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видео,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spc="3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которых</a:t>
            </a:r>
            <a:r>
              <a:rPr sz="1600" spc="3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блогеры</a:t>
            </a:r>
            <a:r>
              <a:rPr sz="1600" spc="3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показывают</a:t>
            </a:r>
            <a:r>
              <a:rPr sz="1600" spc="3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свои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ежедневные</a:t>
            </a:r>
            <a:r>
              <a:rPr sz="1600" spc="3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«чистые</a:t>
            </a:r>
            <a:r>
              <a:rPr sz="1600" spc="3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привычки»,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запускают</a:t>
            </a:r>
            <a:r>
              <a:rPr sz="1600" spc="114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челлендж</a:t>
            </a:r>
            <a:r>
              <a:rPr sz="1600" spc="1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spc="1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аудитории,</a:t>
            </a:r>
            <a:r>
              <a:rPr sz="1600" spc="114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затем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школьников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студентов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34418" y="3328415"/>
            <a:ext cx="1889125" cy="1187450"/>
            <a:chOff x="5234418" y="3328415"/>
            <a:chExt cx="1889125" cy="118745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4418" y="3328415"/>
              <a:ext cx="1871993" cy="9159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88124" y="3328415"/>
              <a:ext cx="35560" cy="1187450"/>
            </a:xfrm>
            <a:custGeom>
              <a:avLst/>
              <a:gdLst/>
              <a:ahLst/>
              <a:cxnLst/>
              <a:rect l="l" t="t" r="r" b="b"/>
              <a:pathLst>
                <a:path w="35559" h="1187450">
                  <a:moveTo>
                    <a:pt x="35051" y="0"/>
                  </a:moveTo>
                  <a:lnTo>
                    <a:pt x="0" y="0"/>
                  </a:lnTo>
                  <a:lnTo>
                    <a:pt x="0" y="1187196"/>
                  </a:lnTo>
                  <a:lnTo>
                    <a:pt x="35051" y="1187196"/>
                  </a:lnTo>
                  <a:lnTo>
                    <a:pt x="35051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507985" y="3416960"/>
            <a:ext cx="4270375" cy="92646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659130">
              <a:lnSpc>
                <a:spcPct val="100000"/>
              </a:lnSpc>
              <a:spcBef>
                <a:spcPts val="765"/>
              </a:spcBef>
            </a:pP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Музыкальные</a:t>
            </a:r>
            <a:r>
              <a:rPr sz="16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проекты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670"/>
              </a:spcBef>
              <a:tabLst>
                <a:tab pos="1624965" algn="l"/>
                <a:tab pos="285813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Музыкальные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форматы,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продвигающие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ценности</a:t>
            </a:r>
            <a:r>
              <a:rPr sz="1600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spc="-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96461" y="5470347"/>
            <a:ext cx="685545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Tazabek –</a:t>
            </a:r>
            <a:r>
              <a:rPr sz="1600" b="1" spc="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единый</a:t>
            </a:r>
            <a:r>
              <a:rPr sz="1600" spc="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узнаваемый</a:t>
            </a:r>
            <a:r>
              <a:rPr sz="1600" spc="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образ</a:t>
            </a:r>
            <a:r>
              <a:rPr sz="1600" spc="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spc="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Қазақстан»,</a:t>
            </a:r>
            <a:r>
              <a:rPr sz="1600" spc="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который</a:t>
            </a:r>
            <a:r>
              <a:rPr sz="1600" spc="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через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медиа,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визуальную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коммуникацию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живое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взаимодействие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формирует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привычку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чистоте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ответственному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поведению.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0011" y="4712208"/>
            <a:ext cx="2133600" cy="1969008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7" name="object 27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897270" y="415209"/>
            <a:ext cx="10138282" cy="536351"/>
          </a:xfrm>
          <a:prstGeom prst="rect">
            <a:avLst/>
          </a:prstGeom>
        </p:spPr>
        <p:txBody>
          <a:bodyPr vert="horz" wrap="square" lIns="0" tIns="211124" rIns="0" bIns="0" rtlCol="0">
            <a:spAutoFit/>
          </a:bodyPr>
          <a:lstStyle/>
          <a:p>
            <a:pPr marL="1974215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ЦИФРОВАЯ</a:t>
            </a:r>
            <a:r>
              <a:rPr sz="2100" spc="-1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ПЛАТФОРМА</a:t>
            </a:r>
            <a:r>
              <a:rPr sz="2100" spc="-1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100" spc="-11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endParaRPr sz="21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9955" y="1580388"/>
            <a:ext cx="768350" cy="1685925"/>
            <a:chOff x="409955" y="1580388"/>
            <a:chExt cx="768350" cy="1685925"/>
          </a:xfrm>
        </p:grpSpPr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9099" y="1580388"/>
              <a:ext cx="749807" cy="1676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14527" y="2499360"/>
              <a:ext cx="759460" cy="762000"/>
            </a:xfrm>
            <a:custGeom>
              <a:avLst/>
              <a:gdLst/>
              <a:ahLst/>
              <a:cxnLst/>
              <a:rect l="l" t="t" r="r" b="b"/>
              <a:pathLst>
                <a:path w="759460" h="762000">
                  <a:moveTo>
                    <a:pt x="0" y="762000"/>
                  </a:moveTo>
                  <a:lnTo>
                    <a:pt x="758952" y="762000"/>
                  </a:lnTo>
                  <a:lnTo>
                    <a:pt x="758952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047" y="3479496"/>
            <a:ext cx="740664" cy="7023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100" y="4427851"/>
            <a:ext cx="749807" cy="5921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99794" y="1914524"/>
            <a:ext cx="4001770" cy="3119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ЕДИНЫЙ</a:t>
            </a:r>
            <a:r>
              <a:rPr sz="1600" b="1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РЕЕСТР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Экологических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проблем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АФИША</a:t>
            </a:r>
            <a:r>
              <a:rPr sz="1600" b="1" spc="-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Возможность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найти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зарегистрироваться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МОНИТОРИНГ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Статус,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сроки</a:t>
            </a:r>
            <a:r>
              <a:rPr sz="16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фактический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результат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УЧАСТИЕ</a:t>
            </a:r>
            <a:r>
              <a:rPr sz="1600" b="1" spc="-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Обратная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связь,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идеи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предложения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01781" y="1576604"/>
            <a:ext cx="6488097" cy="360956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1664" y="5539963"/>
            <a:ext cx="625606" cy="6025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5507" y="5659323"/>
            <a:ext cx="258699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Участие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акциях,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подача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инициатив,</a:t>
            </a:r>
            <a:r>
              <a:rPr sz="1600" spc="-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обратная</a:t>
            </a:r>
            <a:r>
              <a:rPr sz="16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связь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2812" y="5533644"/>
            <a:ext cx="726807" cy="7497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59248" y="5659323"/>
            <a:ext cx="24415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БИЗНЕСА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Поддержка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проектов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и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общественной</a:t>
            </a:r>
            <a:r>
              <a:rPr sz="1600" spc="-1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21579" y="5503164"/>
            <a:ext cx="740607" cy="7451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68665" y="5659323"/>
            <a:ext cx="251396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ГОСОРГАНОВ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Координация,</a:t>
            </a:r>
            <a:r>
              <a:rPr sz="16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мониторинг,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аналитика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6" name="object 16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596900" y="434162"/>
            <a:ext cx="10138282" cy="456970"/>
          </a:xfrm>
          <a:prstGeom prst="rect">
            <a:avLst/>
          </a:prstGeom>
        </p:spPr>
        <p:txBody>
          <a:bodyPr vert="horz" wrap="square" lIns="0" tIns="132511" rIns="0" bIns="0" rtlCol="0">
            <a:spAutoFit/>
          </a:bodyPr>
          <a:lstStyle/>
          <a:p>
            <a:pPr marL="4083050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АМБАССАДОРЫ</a:t>
            </a:r>
            <a:endParaRPr sz="2100" spc="-2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4527" y="1400555"/>
            <a:ext cx="1118616" cy="1144524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701545" y="1373145"/>
            <a:ext cx="2387600" cy="146494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67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Дастан</a:t>
            </a:r>
            <a:r>
              <a:rPr sz="1600" b="1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Мұхамедрахым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41910">
              <a:lnSpc>
                <a:spcPct val="100000"/>
              </a:lnSpc>
              <a:spcBef>
                <a:spcPts val="505"/>
              </a:spcBef>
            </a:pPr>
            <a:r>
              <a:rPr sz="14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Тревел-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блогер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319405" algn="just">
              <a:lnSpc>
                <a:spcPct val="100000"/>
              </a:lnSpc>
              <a:spcBef>
                <a:spcPts val="895"/>
              </a:spcBef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Победитель</a:t>
            </a:r>
            <a:r>
              <a:rPr sz="12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международной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премии</a:t>
            </a:r>
            <a:r>
              <a:rPr sz="1200" spc="-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WIBA</a:t>
            </a:r>
            <a:r>
              <a:rPr sz="12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Awards 2026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номинации</a:t>
            </a:r>
            <a:r>
              <a:rPr sz="12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«Лучший</a:t>
            </a:r>
            <a:r>
              <a:rPr sz="12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тревел-блогер</a:t>
            </a:r>
            <a:r>
              <a:rPr sz="12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мира»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5676" y="1420367"/>
            <a:ext cx="1176527" cy="11445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51989" y="2967609"/>
            <a:ext cx="1998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2,1</a:t>
            </a:r>
            <a:r>
              <a:rPr sz="12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млн</a:t>
            </a:r>
            <a:r>
              <a:rPr sz="12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(каз)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9523" y="1385733"/>
            <a:ext cx="2268220" cy="199072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85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Енлик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Курарбек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3335">
              <a:lnSpc>
                <a:spcPct val="100000"/>
              </a:lnSpc>
              <a:spcBef>
                <a:spcPts val="670"/>
              </a:spcBef>
            </a:pPr>
            <a:r>
              <a:rPr sz="14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Певица</a:t>
            </a:r>
            <a:r>
              <a:rPr sz="14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автор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песен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217170">
              <a:lnSpc>
                <a:spcPct val="100000"/>
              </a:lnSpc>
              <a:spcBef>
                <a:spcPts val="820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Автор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альбома</a:t>
            </a:r>
            <a:r>
              <a:rPr sz="12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BIPL,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первая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казахстанская</a:t>
            </a:r>
            <a:r>
              <a:rPr sz="12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участница международного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 marR="65659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музыкального</a:t>
            </a:r>
            <a:r>
              <a:rPr sz="12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проекта COLORS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53365">
              <a:lnSpc>
                <a:spcPct val="100000"/>
              </a:lnSpc>
              <a:spcBef>
                <a:spcPts val="990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223</a:t>
            </a:r>
            <a:r>
              <a:rPr sz="1200" b="1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тыс</a:t>
            </a:r>
            <a:r>
              <a:rPr sz="12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r>
              <a:rPr sz="1200" b="1" spc="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(каз)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1123" y="1411224"/>
            <a:ext cx="1110996" cy="1144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2561" y="2961132"/>
            <a:ext cx="236652" cy="2377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38761" y="3156383"/>
            <a:ext cx="236652" cy="2389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425178" y="1474897"/>
            <a:ext cx="2292985" cy="209359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36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Аскар</a:t>
            </a:r>
            <a:r>
              <a:rPr sz="1600" b="1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Уразбаев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60325">
              <a:lnSpc>
                <a:spcPct val="100000"/>
              </a:lnSpc>
              <a:spcBef>
                <a:spcPts val="235"/>
              </a:spcBef>
            </a:pP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Актер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1045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Автор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соавтор</a:t>
            </a:r>
            <a:r>
              <a:rPr sz="12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казахоязычных digital-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проектов</a:t>
            </a:r>
            <a:r>
              <a:rPr sz="12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«Сыныптас»</a:t>
            </a:r>
            <a:r>
              <a:rPr sz="12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 marR="557530">
              <a:lnSpc>
                <a:spcPct val="100000"/>
              </a:lnSpc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«Комната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209»,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ориентированных</a:t>
            </a:r>
            <a:r>
              <a:rPr sz="1200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молодёжную</a:t>
            </a:r>
            <a:r>
              <a:rPr sz="12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аудиторию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42570">
              <a:lnSpc>
                <a:spcPct val="100000"/>
              </a:lnSpc>
              <a:spcBef>
                <a:spcPts val="1065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572</a:t>
            </a:r>
            <a:r>
              <a:rPr sz="12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тыс</a:t>
            </a:r>
            <a:r>
              <a:rPr sz="1200" b="1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42570">
              <a:lnSpc>
                <a:spcPct val="100000"/>
              </a:lnSpc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135</a:t>
            </a:r>
            <a:r>
              <a:rPr sz="12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тыс</a:t>
            </a:r>
            <a:r>
              <a:rPr sz="1200" b="1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73145" y="3151632"/>
            <a:ext cx="236854" cy="429895"/>
            <a:chOff x="9373145" y="3151632"/>
            <a:chExt cx="236854" cy="42989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73145" y="3151632"/>
              <a:ext cx="236652" cy="2377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90887" y="3380232"/>
              <a:ext cx="201167" cy="201167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0331" y="4158996"/>
            <a:ext cx="1162812" cy="12283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76780" y="4047134"/>
            <a:ext cx="1813560" cy="1256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40740" indent="12700">
              <a:lnSpc>
                <a:spcPct val="13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Алпамыс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Блогер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29210" marR="5080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Автор</a:t>
            </a:r>
            <a:r>
              <a:rPr sz="12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мотивационного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контента</a:t>
            </a:r>
            <a:r>
              <a:rPr sz="12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</a:t>
            </a:r>
            <a:r>
              <a:rPr sz="12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дисциплине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саморазвитии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65676" y="4073652"/>
            <a:ext cx="1176527" cy="12496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32177" y="5569102"/>
            <a:ext cx="1638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279</a:t>
            </a:r>
            <a:r>
              <a:rPr sz="12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тыс</a:t>
            </a:r>
            <a:r>
              <a:rPr sz="1200" b="1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9523" y="4034692"/>
            <a:ext cx="2272030" cy="16732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Алия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Ашим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Документалист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435610">
              <a:lnSpc>
                <a:spcPct val="100000"/>
              </a:lnSpc>
              <a:spcBef>
                <a:spcPts val="725"/>
              </a:spcBef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Специализируется</a:t>
            </a:r>
            <a:r>
              <a:rPr sz="1200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популяризации</a:t>
            </a:r>
            <a:r>
              <a:rPr sz="12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истории</a:t>
            </a:r>
            <a:r>
              <a:rPr sz="12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культурного</a:t>
            </a:r>
            <a:r>
              <a:rPr sz="1200" spc="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наследия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Казахстана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через</a:t>
            </a:r>
            <a:r>
              <a:rPr sz="12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современный медиаконтент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23504" y="4131564"/>
            <a:ext cx="1110996" cy="112776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436354" y="4167113"/>
            <a:ext cx="1935480" cy="111887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Сабира</a:t>
            </a:r>
            <a:r>
              <a:rPr sz="1600" b="1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Жарасова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22860">
              <a:lnSpc>
                <a:spcPct val="100000"/>
              </a:lnSpc>
              <a:spcBef>
                <a:spcPts val="680"/>
              </a:spcBef>
            </a:pP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Блогер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9685">
              <a:lnSpc>
                <a:spcPct val="100000"/>
              </a:lnSpc>
              <a:spcBef>
                <a:spcPts val="685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Автор</a:t>
            </a:r>
            <a:r>
              <a:rPr sz="12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семейного</a:t>
            </a:r>
            <a:r>
              <a:rPr sz="1200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9685">
              <a:lnSpc>
                <a:spcPct val="100000"/>
              </a:lnSpc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юмористического</a:t>
            </a:r>
            <a:r>
              <a:rPr sz="1200" spc="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контента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71621" y="5373623"/>
            <a:ext cx="236652" cy="23774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643618" y="5397500"/>
            <a:ext cx="1610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1,5</a:t>
            </a:r>
            <a:r>
              <a:rPr sz="12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млн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подписчиков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30859" y="5576861"/>
            <a:ext cx="238909" cy="23665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02770" y="5806440"/>
            <a:ext cx="236652" cy="23774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918072" y="5825134"/>
            <a:ext cx="2027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400</a:t>
            </a:r>
            <a:r>
              <a:rPr sz="1200" b="1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тыс</a:t>
            </a:r>
            <a:r>
              <a:rPr sz="12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r>
              <a:rPr sz="1200" b="1" spc="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(каз)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7" name="object 27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503999"/>
            <a:ext cx="9540000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100" b="1">
                <a:solidFill>
                  <a:srgbClr val="0E2C58"/>
                </a:solidFill>
                <a:latin typeface="Tahoma" panose="020B0604030504040204"/>
              </a:rPr>
              <a:t>ПОТРЕБНОСТЬ В ФИНАНСИРОВАНИИ ПРОЕКТНОГО ОФИСА</a:t>
            </a:r>
            <a:endParaRPr sz="2100" b="1">
              <a:solidFill>
                <a:srgbClr val="0E2C58"/>
              </a:solidFill>
              <a:latin typeface="Tahoma" panose="020B0604030504040204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000" y="324000"/>
            <a:ext cx="827999" cy="74567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368000"/>
          <a:ext cx="11124000" cy="36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00"/>
                <a:gridCol w="1404000"/>
                <a:gridCol w="1224000"/>
                <a:gridCol w="1368000"/>
                <a:gridCol w="1332000"/>
                <a:gridCol w="1332000"/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Статья, млн ₸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E2C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Октябрь–ноябрь 2026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E2C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Декабрь 2026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E2C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Итого 2026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0A8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Январь 2027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E2C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Февраль 2027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E2C58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Численность, чел.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22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23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23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23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30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1. Оплата труда и отчисления, аутсорс, командировки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65,7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46,4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112,1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37,0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44,6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2. Офис и оснащение: аренда, мебель и техника, хозрасходы, связь, цифровые инструменты, медиа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26,5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8,3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34,8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6,6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7,2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3. Ивенты, социологические исследования и другие проекты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38,2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31,8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70,1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17,2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29,1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4. Резерв 10%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6,2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5,5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11,6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4,4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5,2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5. НДС 16%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17,1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6,6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23,7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3,9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5,9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45900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ВСЕГО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153,8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98,6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252,4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69,1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92,0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0000" y="5364000"/>
            <a:ext cx="3600000" cy="1152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5364000"/>
            <a:ext cx="43200" cy="1152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5436000"/>
            <a:ext cx="33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0A895"/>
                </a:solidFill>
                <a:latin typeface="Tahoma" panose="020B0604030504040204"/>
              </a:rPr>
              <a:t>252,4 млн ₸</a:t>
            </a:r>
            <a:endParaRPr sz="2600" b="1">
              <a:solidFill>
                <a:srgbClr val="00A895"/>
              </a:solidFill>
              <a:latin typeface="Tahoma" panose="020B060403050404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0000" y="5976000"/>
            <a:ext cx="3348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октябрь–декабрь 2026 года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84000" y="5364000"/>
            <a:ext cx="3600000" cy="1152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4000" y="5364000"/>
            <a:ext cx="43200" cy="1152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4000" y="5436000"/>
            <a:ext cx="33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E2C58"/>
                </a:solidFill>
                <a:latin typeface="Tahoma" panose="020B0604030504040204"/>
              </a:rPr>
              <a:t>161,1 млн ₸</a:t>
            </a:r>
            <a:endParaRPr sz="2600" b="1">
              <a:solidFill>
                <a:srgbClr val="0E2C58"/>
              </a:solidFill>
              <a:latin typeface="Tahoma" panose="020B060403050404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64000" y="5976000"/>
            <a:ext cx="3348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январь–февраль 2027 года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28000" y="5364000"/>
            <a:ext cx="3600000" cy="1152000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000" y="5364000"/>
            <a:ext cx="43200" cy="11520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8000" y="5436000"/>
            <a:ext cx="33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D3AE37"/>
                </a:solidFill>
                <a:latin typeface="Tahoma" panose="020B0604030504040204"/>
              </a:rPr>
              <a:t>22 → 30 чел.</a:t>
            </a:r>
            <a:endParaRPr sz="2600" b="1">
              <a:solidFill>
                <a:srgbClr val="D3AE37"/>
              </a:solidFill>
              <a:latin typeface="Tahoma" panose="020B060403050404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8000" y="5976000"/>
            <a:ext cx="3348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команда к февралю 2027 года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 panose="020B0604020202020204"/>
              </a:rPr>
              <a:t>26</a:t>
            </a:r>
            <a:endParaRPr sz="900">
              <a:solidFill>
                <a:srgbClr val="80808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503999"/>
            <a:ext cx="9540000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100" b="1">
                <a:solidFill>
                  <a:srgbClr val="0E2C58"/>
                </a:solidFill>
                <a:latin typeface="Tahoma" panose="020B0604030504040204"/>
              </a:rPr>
              <a:t>ЧТО ВХОДИТ В БЮДЖЕТ</a:t>
            </a:r>
            <a:endParaRPr sz="2100" b="1">
              <a:solidFill>
                <a:srgbClr val="0E2C58"/>
              </a:solidFill>
              <a:latin typeface="Tahoma" panose="020B0604030504040204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000" y="324000"/>
            <a:ext cx="827999" cy="745670"/>
          </a:xfrm>
          <a:prstGeom prst="rect">
            <a:avLst/>
          </a:prstGeom>
        </p:spPr>
      </p:pic>
      <p:sp>
        <p:nvSpPr>
          <p:cNvPr id="4" name="Rounded Rectangle 3"/>
          <p:cNvSpPr/>
          <p:nvPr>
            <p:custDataLst>
              <p:tags r:id="rId2"/>
            </p:custDataLst>
          </p:nvPr>
        </p:nvSpPr>
        <p:spPr>
          <a:xfrm>
            <a:off x="540000" y="1368000"/>
            <a:ext cx="2664000" cy="3816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>
            <p:custDataLst>
              <p:tags r:id="rId3"/>
            </p:custDataLst>
          </p:nvPr>
        </p:nvSpPr>
        <p:spPr>
          <a:xfrm>
            <a:off x="540000" y="1368000"/>
            <a:ext cx="2664000" cy="432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666000" y="1475999"/>
            <a:ext cx="2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Октябрь–ноябрь 2026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666000" y="1800000"/>
            <a:ext cx="244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E2C58"/>
                </a:solidFill>
                <a:latin typeface="Tahoma" panose="020B0604030504040204"/>
              </a:rPr>
              <a:t>153,8 млн ₸</a:t>
            </a:r>
            <a:endParaRPr sz="2200" b="1">
              <a:solidFill>
                <a:srgbClr val="0E2C58"/>
              </a:solidFill>
              <a:latin typeface="Tahoma" panose="020B0604030504040204"/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666000" y="2340000"/>
            <a:ext cx="2448000" cy="21691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Запуск офиса: аренда с 21 октября, гарантийный депозит, оснащение рабочих мест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Команда 22 человека, страхование работников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Презентация </a:t>
            </a:r>
            <a:r>
              <a:rPr lang="ru-RU" altLang="" sz="1200" b="0">
                <a:solidFill>
                  <a:srgbClr val="465469"/>
                </a:solidFill>
                <a:latin typeface="Arial" panose="020B0604020202020204"/>
              </a:rPr>
              <a:t>и</a:t>
            </a: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 старт TAZA TALQY, креативных проектов, информационного сопровождения, социологического исследования и цифровой платформы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>
            <p:custDataLst>
              <p:tags r:id="rId7"/>
            </p:custDataLst>
          </p:nvPr>
        </p:nvSpPr>
        <p:spPr>
          <a:xfrm>
            <a:off x="3348000" y="1368000"/>
            <a:ext cx="2664000" cy="3816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8"/>
            </p:custDataLst>
          </p:nvPr>
        </p:nvSpPr>
        <p:spPr>
          <a:xfrm>
            <a:off x="3348000" y="1368000"/>
            <a:ext cx="2664000" cy="432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3474000" y="1475999"/>
            <a:ext cx="2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Декабрь 2026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3474000" y="1800000"/>
            <a:ext cx="244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A895"/>
                </a:solidFill>
                <a:latin typeface="Tahoma" panose="020B0604030504040204"/>
              </a:rPr>
              <a:t>98,6 млн ₸</a:t>
            </a:r>
            <a:endParaRPr sz="2200" b="1">
              <a:solidFill>
                <a:srgbClr val="00A895"/>
              </a:solidFill>
              <a:latin typeface="Tahoma" panose="020B0604030504040204"/>
            </a:endParaRPr>
          </a:p>
        </p:txBody>
      </p:sp>
      <p:sp>
        <p:nvSpPr>
          <p:cNvPr id="13" name="TextBox 12"/>
          <p:cNvSpPr txBox="1"/>
          <p:nvPr>
            <p:custDataLst>
              <p:tags r:id="rId11"/>
            </p:custDataLst>
          </p:nvPr>
        </p:nvSpPr>
        <p:spPr>
          <a:xfrm>
            <a:off x="3474000" y="2340000"/>
            <a:ext cx="2448000" cy="280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Текущие расходы офиса и команды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Команда 23 человека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Вторая часть закупок: оборудование зала совещаний, вывеска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Продолжение проектов, завершение социологического исследования и первого этапа цифровой платформы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>
            <p:custDataLst>
              <p:tags r:id="rId12"/>
            </p:custDataLst>
          </p:nvPr>
        </p:nvSpPr>
        <p:spPr>
          <a:xfrm>
            <a:off x="6156000" y="1368000"/>
            <a:ext cx="2664000" cy="3816000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3"/>
            </p:custDataLst>
          </p:nvPr>
        </p:nvSpPr>
        <p:spPr>
          <a:xfrm>
            <a:off x="6156000" y="1368000"/>
            <a:ext cx="2664000" cy="432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4"/>
            </p:custDataLst>
          </p:nvPr>
        </p:nvSpPr>
        <p:spPr>
          <a:xfrm>
            <a:off x="6282000" y="1475999"/>
            <a:ext cx="2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Январь 2027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>
            <p:custDataLst>
              <p:tags r:id="rId15"/>
            </p:custDataLst>
          </p:nvPr>
        </p:nvSpPr>
        <p:spPr>
          <a:xfrm>
            <a:off x="6282000" y="1800000"/>
            <a:ext cx="244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D3AE37"/>
                </a:solidFill>
                <a:latin typeface="Tahoma" panose="020B0604030504040204"/>
              </a:rPr>
              <a:t>69,1 млн ₸</a:t>
            </a:r>
            <a:endParaRPr sz="2200" b="1">
              <a:solidFill>
                <a:srgbClr val="D3AE37"/>
              </a:solidFill>
              <a:latin typeface="Tahoma" panose="020B0604030504040204"/>
            </a:endParaRPr>
          </a:p>
        </p:txBody>
      </p:sp>
      <p:sp>
        <p:nvSpPr>
          <p:cNvPr id="18" name="TextBox 17"/>
          <p:cNvSpPr txBox="1"/>
          <p:nvPr>
            <p:custDataLst>
              <p:tags r:id="rId16"/>
            </p:custDataLst>
          </p:nvPr>
        </p:nvSpPr>
        <p:spPr>
          <a:xfrm>
            <a:off x="6282000" y="2340000"/>
            <a:ext cx="2448000" cy="280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Ежемесячные расходы: оплата труда, аутсорс, аренда, подписки, командировки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Январская часть TAZA TALQY, креативных проектов и информационного сопровождения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>
            <p:custDataLst>
              <p:tags r:id="rId17"/>
            </p:custDataLst>
          </p:nvPr>
        </p:nvSpPr>
        <p:spPr>
          <a:xfrm>
            <a:off x="8964000" y="1368000"/>
            <a:ext cx="2664000" cy="3816000"/>
          </a:xfrm>
          <a:prstGeom prst="roundRect">
            <a:avLst>
              <a:gd name="adj" fmla="val 6000"/>
            </a:avLst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18"/>
            </p:custDataLst>
          </p:nvPr>
        </p:nvSpPr>
        <p:spPr>
          <a:xfrm>
            <a:off x="8964000" y="1368000"/>
            <a:ext cx="2664000" cy="43200"/>
          </a:xfrm>
          <a:prstGeom prst="rect">
            <a:avLst/>
          </a:prstGeom>
          <a:solidFill>
            <a:srgbClr val="01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9"/>
            </p:custDataLst>
          </p:nvPr>
        </p:nvSpPr>
        <p:spPr>
          <a:xfrm>
            <a:off x="9090000" y="1475999"/>
            <a:ext cx="2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Февраль 2027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>
            <p:custDataLst>
              <p:tags r:id="rId20"/>
            </p:custDataLst>
          </p:nvPr>
        </p:nvSpPr>
        <p:spPr>
          <a:xfrm>
            <a:off x="9090000" y="1800000"/>
            <a:ext cx="244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184C6"/>
                </a:solidFill>
                <a:latin typeface="Tahoma" panose="020B0604030504040204"/>
              </a:rPr>
              <a:t>92,0 млн ₸</a:t>
            </a:r>
            <a:endParaRPr sz="2200" b="1">
              <a:solidFill>
                <a:srgbClr val="0184C6"/>
              </a:solidFill>
              <a:latin typeface="Tahoma" panose="020B0604030504040204"/>
            </a:endParaRPr>
          </a:p>
        </p:txBody>
      </p:sp>
      <p:sp>
        <p:nvSpPr>
          <p:cNvPr id="23" name="TextBox 22"/>
          <p:cNvSpPr txBox="1"/>
          <p:nvPr>
            <p:custDataLst>
              <p:tags r:id="rId21"/>
            </p:custDataLst>
          </p:nvPr>
        </p:nvSpPr>
        <p:spPr>
          <a:xfrm>
            <a:off x="9090000" y="2340000"/>
            <a:ext cx="2448000" cy="143065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Приход ещё 7 сотрудников, команда 30 человек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Докупка рабочих мест: 5 столов, 6 кресел, лицензии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Проекты – </a:t>
            </a:r>
            <a:r>
              <a:rPr lang="ru-RU" altLang="" sz="1200" b="0">
                <a:solidFill>
                  <a:srgbClr val="465469"/>
                </a:solidFill>
                <a:latin typeface="Arial" panose="020B0604020202020204"/>
              </a:rPr>
              <a:t>прогноз </a:t>
            </a: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по среднемесячной оценке</a:t>
            </a:r>
            <a:r>
              <a:rPr lang="ru-RU" altLang="" sz="1200" b="0">
                <a:solidFill>
                  <a:srgbClr val="465469"/>
                </a:solidFill>
                <a:latin typeface="Arial" panose="020B0604020202020204"/>
              </a:rPr>
              <a:t> (требует уточнения)</a:t>
            </a:r>
            <a:endParaRPr lang="ru-RU" altLang="" sz="12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0000" y="5364000"/>
            <a:ext cx="11124000" cy="1188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0000" y="5364000"/>
            <a:ext cx="43200" cy="1188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5418000"/>
            <a:ext cx="107640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E2C58"/>
                </a:solidFill>
                <a:latin typeface="Arial" panose="020B0604020202020204"/>
              </a:rPr>
              <a:t>Первоочередные проекты октября 2026 – января 2027 года – </a:t>
            </a:r>
            <a:r>
              <a:rPr sz="1400" b="1">
                <a:solidFill>
                  <a:srgbClr val="0E2C58"/>
                </a:solidFill>
                <a:latin typeface="Arial" panose="020B0604020202020204"/>
              </a:rPr>
              <a:t>87 млн ₸</a:t>
            </a:r>
            <a:r>
              <a:rPr sz="1400" b="0">
                <a:solidFill>
                  <a:srgbClr val="0E2C58"/>
                </a:solidFill>
                <a:latin typeface="Arial" panose="020B0604020202020204"/>
              </a:rPr>
              <a:t> без НДС; в 2027 году ожидаемый портфель проектов «Таза Қазақстан» – </a:t>
            </a:r>
            <a:r>
              <a:rPr sz="1400" b="1">
                <a:solidFill>
                  <a:srgbClr val="0E2C58"/>
                </a:solidFill>
                <a:latin typeface="Arial" panose="020B0604020202020204"/>
              </a:rPr>
              <a:t>1,5 млрд ₸</a:t>
            </a:r>
            <a:r>
              <a:rPr sz="1400" b="0">
                <a:solidFill>
                  <a:srgbClr val="0E2C58"/>
                </a:solidFill>
                <a:latin typeface="Arial" panose="020B0604020202020204"/>
              </a:rPr>
              <a:t>.</a:t>
            </a:r>
            <a:endParaRPr sz="1400" b="0">
              <a:solidFill>
                <a:srgbClr val="0E2C58"/>
              </a:solidFill>
              <a:latin typeface="Arial" panose="020B0604020202020204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E2C58"/>
                </a:solidFill>
                <a:latin typeface="Arial" panose="020B0604020202020204"/>
              </a:rPr>
              <a:t>С 2027 года работа Проектного офиса будет обеспечиваться преимущественно за счёт спонсорских и иных внебюджетных средств, привлекаемых Фондом, в том числе международных грантов.</a:t>
            </a:r>
            <a:endParaRPr sz="1400" b="0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 panose="020B0604020202020204"/>
              </a:rPr>
              <a:t>27</a:t>
            </a:r>
            <a:endParaRPr sz="900">
              <a:solidFill>
                <a:srgbClr val="80808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_s01_a1a615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1999" y="1080000"/>
            <a:ext cx="2664000" cy="89751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864000"/>
            <a:ext cx="1404000" cy="126439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72000" y="1080000"/>
            <a:ext cx="14400" cy="900000"/>
          </a:xfrm>
          <a:prstGeom prst="rect">
            <a:avLst/>
          </a:prstGeom>
          <a:solidFill>
            <a:srgbClr val="C8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096000"/>
            <a:ext cx="10764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3000" b="1">
                <a:solidFill>
                  <a:srgbClr val="0E2C58"/>
                </a:solidFill>
                <a:latin typeface="Tahoma" panose="020B0604030504040204"/>
              </a:rPr>
              <a:t>СПАСИБО ЗА ВНИМАНИЕ!</a:t>
            </a:r>
            <a:endParaRPr sz="3000" b="1">
              <a:solidFill>
                <a:srgbClr val="0E2C58"/>
              </a:solidFill>
              <a:latin typeface="Tahoma" panose="020B060403050404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3960000"/>
            <a:ext cx="10764000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465469"/>
                </a:solidFill>
                <a:latin typeface="Arial" panose="020B0604020202020204"/>
              </a:rPr>
              <a:t>Центрально-Азиатский климатический фонд</a:t>
            </a:r>
            <a:endParaRPr sz="1500" b="1">
              <a:solidFill>
                <a:srgbClr val="465469"/>
              </a:solidFill>
              <a:latin typeface="Arial" panose="020B0604020202020204"/>
            </a:endParaRP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65469"/>
                </a:solidFill>
                <a:latin typeface="Arial" panose="020B0604020202020204"/>
              </a:rPr>
              <a:t>Астана, пр. Мәңгілік Ел, 11/1</a:t>
            </a:r>
            <a:endParaRPr sz="1500" b="0">
              <a:solidFill>
                <a:srgbClr val="465469"/>
              </a:solidFill>
              <a:latin typeface="Arial" panose="020B0604020202020204"/>
            </a:endParaRP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65469"/>
                </a:solidFill>
                <a:latin typeface="Arial" panose="020B0604020202020204"/>
              </a:rPr>
              <a:t>office@caclimate.fund · caclimate.fund · +7 708 345 7971</a:t>
            </a:r>
            <a:endParaRPr sz="15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2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3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4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5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6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7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8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9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10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11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12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13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14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15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16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17.xml><?xml version="1.0" encoding="utf-8"?>
<p:tagLst xmlns:p="http://schemas.openxmlformats.org/presentationml/2006/main">
  <p:tag name="KSO_WM_DIAGRAM_VIRTUALLY_FRAME" val="{&quot;height&quot;:399.6850393700787,&quot;left&quot;:42.51968503937008,&quot;top&quot;:113.38582677165354,&quot;width&quot;:578.2677165354331}"/>
</p:tagLst>
</file>

<file path=ppt/tags/tag18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19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0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1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2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3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4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5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6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7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8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9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0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1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2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3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4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5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6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7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18138</Words>
  <Application>WPS Presentation</Application>
  <PresentationFormat>Широкоэкранный</PresentationFormat>
  <Paragraphs>1003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SimSun</vt:lpstr>
      <vt:lpstr>Wingdings</vt:lpstr>
      <vt:lpstr>Arial</vt:lpstr>
      <vt:lpstr>Calibri</vt:lpstr>
      <vt:lpstr>Tahoma</vt:lpstr>
      <vt:lpstr>Tahoma</vt:lpstr>
      <vt:lpstr>Microsoft YaHei</vt:lpstr>
      <vt:lpstr>Arial Unicode MS</vt:lpstr>
      <vt:lpstr>Segoe UI</vt:lpstr>
      <vt:lpstr>Segoe UI Symbol</vt:lpstr>
      <vt:lpstr>Calibri Light</vt:lpstr>
      <vt:lpstr>Office Theme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«ТАЗА ҚАЗАҚСТАН» ЖАЛПЫҰЛТТЫҚ ЖОБАСЫ</vt:lpstr>
      <vt:lpstr>ТЕКУЩАЯ МОДЕЛЬ РЕАЛИЗАЦИИ ОБЩЕНАЦИОНАЛЬНОГО ПРОЕКТА «ТАЗА ҚАЗАҚСТАН»</vt:lpstr>
      <vt:lpstr>ПРОГРАММНЫЕ ВЫСТУПЛЕНИЯ ГЛАВЫ ГОСУДАРСТВА</vt:lpstr>
      <vt:lpstr>PowerPoint 演示文稿</vt:lpstr>
      <vt:lpstr>PowerPoint 演示文稿</vt:lpstr>
      <vt:lpstr>НАЦИОНАЛЬНЫЙ ПРОЕКТНЫЙ ОФИС «ТАЗА ҚАЗАҚСТАН»</vt:lpstr>
      <vt:lpstr>PowerPoint 演示文稿</vt:lpstr>
      <vt:lpstr>PowerPoint 演示文稿</vt:lpstr>
      <vt:lpstr>ТА3А ЕЛ – НАЦИОНАЛЬНЫЙ СТАНДАРТ ЧИСТОТЫ</vt:lpstr>
      <vt:lpstr>НАПРАВЛЕНИЕ «ТА3А ЕЛ»</vt:lpstr>
      <vt:lpstr>НАПРАВЛЕНИЕ «ЖАҢА МӘДЕНИЕТ»</vt:lpstr>
      <vt:lpstr>PowerPoint 演示文稿</vt:lpstr>
      <vt:lpstr>НАПРАВЛЕНИЕ «ТАЗА САНА»</vt:lpstr>
      <vt:lpstr>YOUTUBE-ПРОЕКТ «ҚҰНДЫЛЫҚ ЕЛШІСІ»</vt:lpstr>
      <vt:lpstr>ЕДИНАЯ КОММУНИКАЦИОННАЯ СРЕДА «ТАЗА ҚАЗАҚСТАН»</vt:lpstr>
      <vt:lpstr>ЦИФРОВАЯ ПЛАТФОРМА «ТАЗА ҚАЗАҚСТАН»</vt:lpstr>
      <vt:lpstr>АМБАССАДОРЫ</vt:lpstr>
      <vt:lpstr>PowerPoint 演示文稿</vt:lpstr>
      <vt:lpstr>PowerPoint 演示文稿</vt:lpstr>
      <vt:lpstr>PowerPoint 演示文稿</vt:lpstr>
    </vt:vector>
  </TitlesOfParts>
  <Company>CACF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Проектный офис «Таза Қазақстан» на базе ЦАКФ</dc:title>
  <dc:creator>Кабдрахманов Алмаз Ернатулы</dc:creator>
  <cp:lastModifiedBy>User</cp:lastModifiedBy>
  <cp:revision>5</cp:revision>
  <dcterms:created xsi:type="dcterms:W3CDTF">2026-10-10T04:54:00Z</dcterms:created>
  <dcterms:modified xsi:type="dcterms:W3CDTF">2026-10-28T12:08:43Z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2026-10-10T05:00:00Z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2026-10-10T05:00:00Z</vt:filetime>
  </property>
  <property fmtid="{D5CDD505-2E9C-101B-9397-08002B2CF9AE}" pid="6" name="Producer">
    <vt:lpwstr>Microsoft® PowerPoint® 2016</vt:lpwstr>
  </property>
  <property fmtid="{D5CDD505-2E9C-101B-9397-08002B2CF9AE}" pid="7" name="ICV">
    <vt:lpwstr>FF686C1E95D64589B7CD6A9051A43947_12</vt:lpwstr>
  </property>
  <property fmtid="{D5CDD505-2E9C-101B-9397-08002B2CF9AE}" pid="8" name="KSOProductBuildVer">
    <vt:lpwstr>1049-12.2.0.23206</vt:lpwstr>
  </property>
</Properties>
</file>