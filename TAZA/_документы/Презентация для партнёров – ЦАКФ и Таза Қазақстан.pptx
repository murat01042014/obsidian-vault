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sldIdLst>
    <p:sldId id="272" r:id="rId4"/>
    <p:sldId id="273" r:id="rId5"/>
    <p:sldId id="274" r:id="rId6"/>
    <p:sldId id="275" r:id="rId7"/>
    <p:sldId id="276" r:id="rId8"/>
    <p:sldId id="277" r:id="rId9"/>
    <p:sldId id="283" r:id="rId34"/>
    <p:sldId id="278" r:id="rId10"/>
    <p:sldId id="256" r:id="rId11"/>
    <p:sldId id="257" r:id="rId12"/>
    <p:sldId id="258" r:id="rId13"/>
    <p:sldId id="259" r:id="rId14"/>
    <p:sldId id="260" r:id="rId15"/>
    <p:sldId id="261" r:id="rId16"/>
    <p:sldId id="282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9" r:id="rId28"/>
    <p:sldId id="280" r:id="rId29"/>
    <p:sldId id="281" r:id="rId3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91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12" d="100"/>
          <a:sy n="112" d="100"/>
        </p:scale>
        <p:origin x="516" y="-84"/>
      </p:cViewPr>
      <p:guideLst>
        <p:guide orient="horz" pos="2891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ableStyles" Target="tableStyles.xml"/><Relationship Id="rId34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jpeg"/><Relationship Id="rId5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jpe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jpeg"/><Relationship Id="rId3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tags" Target="../tags/tag29.xml"/><Relationship Id="rId14" Type="http://schemas.openxmlformats.org/officeDocument/2006/relationships/tags" Target="../tags/tag30.xml"/><Relationship Id="rId15" Type="http://schemas.openxmlformats.org/officeDocument/2006/relationships/tags" Target="../tags/tag31.xml"/><Relationship Id="rId16" Type="http://schemas.openxmlformats.org/officeDocument/2006/relationships/tags" Target="../tags/tag32.xml"/><Relationship Id="rId17" Type="http://schemas.openxmlformats.org/officeDocument/2006/relationships/tags" Target="../tags/tag33.xml"/><Relationship Id="rId18" Type="http://schemas.openxmlformats.org/officeDocument/2006/relationships/tags" Target="../tags/tag34.xml"/><Relationship Id="rId19" Type="http://schemas.openxmlformats.org/officeDocument/2006/relationships/tags" Target="../tags/tag35.xml"/><Relationship Id="rId20" Type="http://schemas.openxmlformats.org/officeDocument/2006/relationships/tags" Target="../tags/tag36.xml"/><Relationship Id="rId21" Type="http://schemas.openxmlformats.org/officeDocument/2006/relationships/tags" Target="../tags/tag37.xml"/><Relationship Id="rId22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ПРОЕКТНЫЙ ОФИС «ТАЗА ҚАЗАҚСТАН»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НА БАЗЕ ЦЕНТРАЛЬНО-АЗИАТСКОГО КЛИМАТИЧЕСКОГО ФОНДА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Астана, 2026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ЦЕНТРАЛЬНО-АЗИАТСКИЙ КЛИМАТИЧЕСКИЙ ФОНД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изменению климата и зелёной энергетике.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5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 panose="020B0604020202020204"/>
              </a:rPr>
              <a:t>Президент Республики Казахстан К.-Ж. Токаев</a:t>
            </a:r>
            <a:endParaRPr sz="1200" b="1">
              <a:solidFill>
                <a:srgbClr val="465469"/>
              </a:solidFill>
              <a:latin typeface="Arial" panose="020B0604020202020204"/>
            </a:endParaRPr>
          </a:p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78-я сессия Генеральной Ассамблеи ООН, Нью-Йорк, 2023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2024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регистрация в МФЦА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2025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положительное аудиторское заключение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СТРУКТУРА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Главный исполнительный директор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  <a:p>
            <a:pPr algn="ctr"/>
            <a:r>
              <a:rPr sz="1400" b="0">
                <a:solidFill>
                  <a:srgbClr val="FFFFFF"/>
                </a:solidFill>
                <a:latin typeface="Arial" panose="020B0604020202020204"/>
              </a:rPr>
              <a:t>Председатель Управляющего совета</a:t>
            </a:r>
            <a:endParaRPr sz="14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для Центральной Азии по изменению климата и зелёной энергетике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региональные климатические проекты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климатическая политика и сотрудничество стран ЦА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ESG, аналитика и оценка рисков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социология и аналитика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проектное управление и региональная координация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цифровое развитие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Сеть экспертов Центральной Азии+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заключения и рекомендации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Административно-финансовый блок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административные вопросы, закупки, кадры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финансы и бухгалтерия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правовое сопровождение (МФЦА)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IT-поддержка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3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НАПРАВЛЕНИЯ РАБОТЫ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4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0000" y="1278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Действующие направления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0000" y="1584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Региональный экологический саммит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4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84000" y="1584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0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«Таза Қазақстан»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0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8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28000" y="1584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4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ESG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4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0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0000" y="307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6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Климатические и экологические риски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84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84000" y="307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10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Аналитика и «Зелёный Think Tank»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10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28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28000" y="3078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54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Обучение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4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000" y="4626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Перспективные направления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0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0000" y="4932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6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Офсеты и климатическое финансирование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6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48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8000" y="4932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Озоновый центр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74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56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56000" y="4932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82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«Зелёные школы» с ЮНИСЕФ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82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4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64000" y="4932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90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Цифровые решения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90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СТРАТЕГИЧЕСКИЕ ЦЕЛИ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Цели по уставу Фонда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Ускорение региональных климатических действий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Региональная климатическая политика и сотрудничество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Поддержка разработки политик и регулирования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Исследования и инновации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Партнёрства с МФИ, НПО, бизнесом и наукой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06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Климатические данные и наука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07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Повышение осведомлённости и развитие потенциала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Стратегия 2026–2035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2026–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2027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Устойчивость и новая операционная модель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РЭС, проектный портфель, ESG, «Таза Қазақстан», сеть экспертов, международное сотрудничество, тендеры и гранты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 panose="020B0604030504040204"/>
              </a:rPr>
              <a:t>до 2028</a:t>
            </a:r>
            <a:endParaRPr sz="20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«Зелёный Think Tank» Центральной Азии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 panose="020B0604030504040204"/>
              </a:rPr>
              <a:t>до 2035</a:t>
            </a:r>
            <a:endParaRPr sz="20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«Суперфонд»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ОПЫТ И РЕЗУЛЬТАТЫ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Астана, 22–24 апреля 2026 года: более 11 300 участников, 58 сессий, в том числе 21 высокого уровня.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Декларация глав государств Центральной Азии, п. 24 – поддержка Проектного офиса.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8"/>
            </p:custDataLst>
          </p:nvPr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Аналитика для отрасли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ESG-аналитика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pic>
        <p:nvPicPr>
          <p:cNvPr id="28" name="Picture 27" descr="fond_s03_42e75af4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3455999" y="3275369"/>
            <a:ext cx="576000" cy="540631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0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05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56000" y="4050000"/>
            <a:ext cx="5472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2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2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100" b="1">
                <a:solidFill>
                  <a:srgbClr val="0E2C58"/>
                </a:solidFill>
                <a:latin typeface="Tahoma"/>
              </a:rPr>
              <a:t>ИНФОРМАЦИОННАЯ И АНАЛИТИЧЕСКАЯ РАБОТА ФОНДА</a:t>
            </a:r>
          </a:p>
          <a:p>
            <a:r>
              <a:rPr sz="2100" b="0">
                <a:solidFill>
                  <a:srgbClr val="465469"/>
                </a:solidFill>
                <a:latin typeface="Tahoma"/>
              </a:rPr>
              <a:t>май – октябрь 2026 года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350000"/>
            <a:ext cx="43200" cy="84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0E2C58"/>
                </a:solidFill>
                <a:latin typeface="Tahoma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0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пресс-релизов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июнь – октябрь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8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8000" y="1350000"/>
            <a:ext cx="43200" cy="846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2000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00A895"/>
                </a:solidFill>
                <a:latin typeface="Tahoma"/>
              </a:rPr>
              <a:t>101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8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публикация в СМИ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8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июнь – сентябрь, по пресс-релизам Фонда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000" y="1350000"/>
            <a:ext cx="43200" cy="846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000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D3AE37"/>
                </a:solidFill>
                <a:latin typeface="Tahoma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6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постов в соцсетях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6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июнь – сентябрь, 23,2 тыс. просмотров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4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4000" y="1350000"/>
            <a:ext cx="43200" cy="846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999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0184C6"/>
                </a:solidFill>
                <a:latin typeface="Tahoma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4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материала на сайте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4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caclimate.fund, июнь – октябрь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0000" y="2340000"/>
            <a:ext cx="5472000" cy="354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234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000" y="2430000"/>
            <a:ext cx="5220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Опубликованные исследования и аналитика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000" y="2772000"/>
            <a:ext cx="5220000" cy="30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12.10  </a:t>
            </a:r>
            <a:r>
              <a:rPr sz="1200" b="0">
                <a:solidFill>
                  <a:srgbClr val="465469"/>
                </a:solidFill>
                <a:latin typeface="Arial"/>
              </a:rPr>
              <a:t>Климатические риски Казахстана: 12 видов опасностей, оценка 20 регионов – совместно с ESGQ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21.07  </a:t>
            </a:r>
            <a:r>
              <a:rPr sz="1200" b="0">
                <a:solidFill>
                  <a:srgbClr val="465469"/>
                </a:solidFill>
                <a:latin typeface="Arial"/>
              </a:rPr>
              <a:t>Рекомендации KAZENERGY по снижению рисков устойчивого развития для энергетики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200" b="0">
                <a:solidFill>
                  <a:srgbClr val="465469"/>
                </a:solidFill>
                <a:latin typeface="Arial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27.10  </a:t>
            </a:r>
            <a:r>
              <a:rPr sz="1200" b="0">
                <a:solidFill>
                  <a:srgbClr val="465469"/>
                </a:solidFill>
                <a:latin typeface="Arial"/>
              </a:rPr>
              <a:t>Центральная Азия потеряла 44% площади ледников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200" b="0">
                <a:solidFill>
                  <a:srgbClr val="465469"/>
                </a:solidFill>
                <a:latin typeface="Arial"/>
              </a:rPr>
              <a:t>Климатические аномалии: самое жаркое лето за 80 лет, рост погодных аномалий, последствия жары для здоровья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июнь–авг.  </a:t>
            </a:r>
            <a:r>
              <a:rPr sz="1200" b="0">
                <a:solidFill>
                  <a:srgbClr val="465469"/>
                </a:solidFill>
                <a:latin typeface="Arial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000" y="2340000"/>
            <a:ext cx="5508000" cy="354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6000" y="2340000"/>
            <a:ext cx="5508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2000" y="2430000"/>
            <a:ext cx="525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Научно-аналитические мероприятия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2000" y="2772000"/>
            <a:ext cx="5256000" cy="30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26.06  </a:t>
            </a:r>
            <a:r>
              <a:rPr sz="1200" b="0">
                <a:solidFill>
                  <a:srgbClr val="465469"/>
                </a:solidFill>
                <a:latin typeface="Arial"/>
              </a:rPr>
              <a:t>Лондон: Высокий консультативный совет ORF по зелёному переходу, глава Фонда вошёл в его состав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30.06  </a:t>
            </a:r>
            <a:r>
              <a:rPr sz="1200" b="0">
                <a:solidFill>
                  <a:srgbClr val="465469"/>
                </a:solidFill>
                <a:latin typeface="Arial"/>
              </a:rPr>
              <a:t>Гамбург: конференция по устойчивому развитию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август  </a:t>
            </a:r>
            <a:r>
              <a:rPr sz="1200" b="0">
                <a:solidFill>
                  <a:srgbClr val="465469"/>
                </a:solidFill>
                <a:latin typeface="Arial"/>
              </a:rPr>
              <a:t>Курс «ESG-оценка предприятий Казахстана по официальным экологическим данным» совместно с ИАЦ ООС МЭПР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28–29.08  </a:t>
            </a:r>
            <a:r>
              <a:rPr sz="1200" b="0">
                <a:solidFill>
                  <a:srgbClr val="465469"/>
                </a:solidFill>
                <a:latin typeface="Arial"/>
              </a:rPr>
              <a:t>Молодёжная климатическая конференция LCOY Kazakhstan 2026, Назарбаев Университет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28.09  </a:t>
            </a:r>
            <a:r>
              <a:rPr sz="1200" b="0">
                <a:solidFill>
                  <a:srgbClr val="465469"/>
                </a:solidFill>
                <a:latin typeface="Arial"/>
              </a:rPr>
              <a:t>Меморандум о сотрудничестве с Рейтинговым агентством ESGQ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03–05.10  </a:t>
            </a:r>
            <a:r>
              <a:rPr sz="1200" b="0">
                <a:solidFill>
                  <a:srgbClr val="465469"/>
                </a:solidFill>
                <a:latin typeface="Arial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000" y="5940000"/>
            <a:ext cx="11124000" cy="6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465469"/>
                </a:solidFill>
                <a:latin typeface="Arial"/>
              </a:rPr>
              <a:t>Казахстанские СМИ: </a:t>
            </a:r>
            <a:r>
              <a:rPr sz="1100" b="0">
                <a:solidFill>
                  <a:srgbClr val="465469"/>
                </a:solidFill>
                <a:latin typeface="Arial"/>
              </a:rPr>
              <a:t>Казинформ, KazTag, Kazakhstan Today, Егемен Қазақстан, Kursiv, Vlast, Orda, BAQ.kz, 24.kz, Astana Times и другие</a:t>
            </a:r>
          </a:p>
          <a:p>
            <a:r>
              <a:rPr sz="1100" b="1">
                <a:solidFill>
                  <a:srgbClr val="465469"/>
                </a:solidFill>
                <a:latin typeface="Arial"/>
              </a:rPr>
              <a:t>Зарубежные СМИ: </a:t>
            </a:r>
            <a:r>
              <a:rPr sz="1100" b="0">
                <a:solidFill>
                  <a:srgbClr val="465469"/>
                </a:solidFill>
                <a:latin typeface="Arial"/>
              </a:rPr>
              <a:t>Euronews, Interfax, Central Asia, Toshkent.Today (Узбекистан), Open.kg (Кыргызстан), ORIENT.tm (Туркменистан), Getaway (ЮАР), Malaysia News, Ultima Bozza (Италия) и другие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ОТ КЛИМАТИЧЕСКОЙ ПОВЕСТКИ К «ТАЗА ҚАЗАҚСТАН»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Эту задачу на национальном уровне решает инициатива Главы государства «Таза Қазақстан».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МЭПР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Общее руководство, определение приоритетов, координация государственных органов и акиматов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Проектный офис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Фонд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Итоги Концепции «Таза Қазақстан» 2024–2029 на сегодня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≈3 млн т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отходов собрано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≈3 млн га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территорий очищено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≈5,8 млн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деревьев высажено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 panose="020B0604030504040204"/>
              </a:rPr>
              <a:t>6+ млн</a:t>
            </a:r>
            <a:endParaRPr sz="26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участников ежегодно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8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САНА</a:t>
            </a:r>
            <a:endParaRPr sz="2400" dirty="0">
              <a:latin typeface="Tahoma" panose="020B0604030504040204"/>
              <a:cs typeface="Tahoma" panose="020B0604030504040204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ГГ.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направлениям: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РЯД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Г.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мероприятий,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мероприятия: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5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поведение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marR="1007745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образование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информ-сопровождение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бұлақ»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аула»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бейсенбі»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Общенациональные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Министра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праву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проектом,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изменениям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необходимым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		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Посредством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общенационального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вопросам.»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Кеңесі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основой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идеологии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 indent="476885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менталитета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image.png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Институционализация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каждого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гражданина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(KPI)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управления.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Цифровизация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цифровые</a:t>
            </a:r>
            <a:r>
              <a:rPr sz="1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решения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креатив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255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255" algn="l"/>
                <a:tab pos="2065655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Экспертно-методологическое 	сопровождение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портфелем 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управление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платформы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автоматизация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медиапроектов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масштабирование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взаимодействия участниками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Интеграция</a:t>
            </a:r>
            <a:r>
              <a:rPr lang="ru-RU" sz="1400" dirty="0">
                <a:latin typeface="Arial" panose="020B0604020202020204"/>
                <a:cs typeface="Arial" panose="020B0604020202020204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 систем, AI, GIS и цифрового мониторинга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фиксация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органы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kern="1200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kern="1200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kern="1200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 kern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 panose="020B0604020202020204"/>
              </a:rPr>
              <a:t>15</a:t>
            </a:r>
            <a:endParaRPr sz="900" kern="12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ҚАЗАҚСТАН»</a:t>
            </a:r>
            <a:endParaRPr sz="1950" dirty="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МӘДЕНИЕТ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барьеров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кампании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ЕЛ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 	индексі»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Интеллектуальный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 	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ТАЗА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САНА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Mektep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talqy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oi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лагерь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елшісі»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инструментов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100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215" indent="-183515">
              <a:lnSpc>
                <a:spcPct val="100000"/>
              </a:lnSpc>
              <a:buFont typeface="Segoe UI Symbol" panose="020B0502040204020203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Инфраструктура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белгісі»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количество территория Формирует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организациям, установленным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7380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бизнес-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3" name="object 2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исследования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территориями.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общественному пространству.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поведение.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площадок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использования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алаң»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культурных,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32" name="object 19" descr="$PPTXTitle"/>
          <p:cNvSpPr txBox="1"/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ea typeface="+mj-ea"/>
                <a:cs typeface="Arial" panose="020B0604020202020204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mektep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бережного окружающей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oi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talqy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Молодежный</a:t>
            </a:r>
            <a:r>
              <a:rPr sz="16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лагерь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классов.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 вопросов культуры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обсуждения экологической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решений.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регионах.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людей,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заповедников,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лесники, местные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другие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конкретных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2700" b="1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Формат</a:t>
            </a:r>
            <a:r>
              <a:rPr sz="2700" b="1" spc="-16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700" b="1" spc="-1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2700" baseline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35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повседневных практиках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Reels,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героев.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60"/>
              </a:spcBef>
            </a:pPr>
            <a:r>
              <a:rPr sz="18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охвата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22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7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Документальные фильмы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–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школы,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Зелёного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сохранении территорий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поведению.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5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РЕЕСТР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проблем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зарегистрироваться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предложения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ГОСОРГАНОВ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  <a:endParaRPr sz="2100" spc="-2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Мұхамедрахым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19405" algn="just">
              <a:lnSpc>
                <a:spcPct val="100000"/>
              </a:lnSpc>
              <a:spcBef>
                <a:spcPts val="89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мира»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Курарбек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песен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217170">
              <a:lnSpc>
                <a:spcPct val="100000"/>
              </a:lnSpc>
              <a:spcBef>
                <a:spcPts val="820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участница международного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 COLORS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Уразбаев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Актер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аудиторию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3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9210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саморазвитии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Ашим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Документалист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435610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наследия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современный медиаконтент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Жарасова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ПОТРЕБНОСТЬ В ФИНАНСИРОВАНИИ ПРОЕКТНОГО ОФИСА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Статья, млн ₸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Октябрь–ноябрь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Декабрь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Итого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Январь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Февраль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Численность, чел.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1. Оплата труда и отчисления, аутсорс, командировки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65,7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46,4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112,1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37,0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44,6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26,5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8,3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34,8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3. Ивенты, социологические исследования и другие проекты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38,2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31,8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70,1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29,1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4. Резерв 10%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11,6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5. НДС 16%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23,7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ВСЕГО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153,8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98,6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252,4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69,1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92,0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252,4 млн ₸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октябрь–декабрь 2026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161,1 млн ₸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январь–февраль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22 → 30 чел.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команда к февралю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ЧТО ВХОДИТ В БЮДЖЕТ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Октябрь–ноябрь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153,8 млн ₸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>
            <p:custDataLst>
              <p:tags r:id="rId6"/>
            </p:custDataLst>
          </p:nvPr>
        </p:nvSpPr>
        <p:spPr>
          <a:xfrm>
            <a:off x="666000" y="2340000"/>
            <a:ext cx="2448000" cy="21691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Запуск офиса: аренда с 21 октября, гарантийный депозит, оснащение рабочих мест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22 человека, страхование работников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Презентация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и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 старт TAZA TALQY, креативных проектов, информационного сопровождения, социологического исследования и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>
            <p:custDataLst>
              <p:tags r:id="rId7"/>
            </p:custDataLst>
          </p:nvPr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8"/>
            </p:custDataLst>
          </p:nvPr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Декабрь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98,6 млн ₸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>
            <p:custDataLst>
              <p:tags r:id="rId11"/>
            </p:custDataLst>
          </p:nvPr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Текущие расходы офиса и команды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23 человека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Вторая часть закупок: оборудование зала совещаний, вывеска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Продолжение проектов, завершение социологического исследования и первого этапа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12"/>
            </p:custDataLst>
          </p:nvPr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3"/>
            </p:custDataLst>
          </p:nvPr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Январь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69,1 млн ₸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8" name="TextBox 17"/>
          <p:cNvSpPr txBox="1"/>
          <p:nvPr>
            <p:custDataLst>
              <p:tags r:id="rId16"/>
            </p:custDataLst>
          </p:nvPr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Ежемесячные расходы: оплата труда, аутсорс, аренда, подписки, командировки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Январская часть TAZA TALQY, креативных проектов и информационного сопровождения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>
            <p:custDataLst>
              <p:tags r:id="rId17"/>
            </p:custDataLst>
          </p:nvPr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>
            <p:custDataLst>
              <p:tags r:id="rId18"/>
            </p:custDataLst>
          </p:nvPr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Февраль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>
            <p:custDataLst>
              <p:tags r:id="rId20"/>
            </p:custDataLst>
          </p:nvPr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92,0 млн ₸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>
            <p:custDataLst>
              <p:tags r:id="rId21"/>
            </p:custDataLst>
          </p:nvPr>
        </p:nvSpPr>
        <p:spPr>
          <a:xfrm>
            <a:off x="9090000" y="2340000"/>
            <a:ext cx="2448000" cy="143065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Приход ещё 7 сотрудников, команда 30 человек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Докупка рабочих мест: 5 столов, 6 кресел, лицензии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Проекты –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прогноз 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 среднемесячной оценке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 (требует уточнения)</a:t>
            </a:r>
            <a:endParaRPr lang="ru-RU" altLang=""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 panose="020B0604030504040204"/>
              </a:rPr>
              <a:t>СПАСИБО ЗА ВНИМАНИЕ!</a:t>
            </a:r>
            <a:endParaRPr sz="30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 panose="020B0604020202020204"/>
              </a:rPr>
              <a:t>Центрально-Азиатский климатический фонд</a:t>
            </a:r>
            <a:endParaRPr sz="1500" b="1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Астана, пр. Мәңгілік Ел, 11/1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office@caclimate.fund · caclimate.fund · +7 708 345 7971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8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9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0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18138</Words>
  <Application>WPS Presentation</Application>
  <PresentationFormat>Широкоэкранный</PresentationFormat>
  <Paragraphs>1003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Tahoma</vt:lpstr>
      <vt:lpstr>Tahoma</vt:lpstr>
      <vt:lpstr>Microsoft YaHei</vt:lpstr>
      <vt:lpstr>Arial Unicode MS</vt:lpstr>
      <vt:lpstr>Segoe UI</vt:lpstr>
      <vt:lpstr>Segoe UI Symbol</vt:lpstr>
      <vt:lpstr>Calibri Light</vt:lpstr>
      <vt:lpstr>Office Theme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PowerPoint 演示文稿</vt:lpstr>
      <vt:lpstr>PowerPoint 演示文稿</vt:lpstr>
      <vt:lpstr>НАЦИОНАЛЬНЫЙ ПРОЕКТНЫЙ ОФИС «ТАЗА ҚАЗАҚСТАН»</vt:lpstr>
      <vt:lpstr>PowerPoint 演示文稿</vt:lpstr>
      <vt:lpstr>PowerPoint 演示文稿</vt:lpstr>
      <vt:lpstr>ТА3А ЕЛ – НАЦИОНАЛЬНЫЙ СТАНДАРТ ЧИСТОТЫ</vt:lpstr>
      <vt:lpstr>НАПРАВЛЕНИЕ «ТА3А ЕЛ»</vt:lpstr>
      <vt:lpstr>НАПРАВЛЕНИЕ «ЖАҢА МӘДЕНИЕТ»</vt:lpstr>
      <vt:lpstr>PowerPoint 演示文稿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User</cp:lastModifiedBy>
  <cp:revision>5</cp:revision>
  <dcterms:created xsi:type="dcterms:W3CDTF">2026-10-10T04:54:00Z</dcterms:created>
  <dcterms:modified xsi:type="dcterms:W3CDTF">2026-10-28T12:08:43Z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2026-10-10T05:00:00Z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2026-10-10T05:00:00Z</vt:filetime>
  </property>
  <property fmtid="{D5CDD505-2E9C-101B-9397-08002B2CF9AE}" pid="6" name="Producer">
    <vt:lpwstr>Microsoft® PowerPoint® 2016</vt:lpwstr>
  </property>
  <property fmtid="{D5CDD505-2E9C-101B-9397-08002B2CF9AE}" pid="7" name="ICV">
    <vt:lpwstr>FF686C1E95D64589B7CD6A9051A43947_12</vt:lpwstr>
  </property>
  <property fmtid="{D5CDD505-2E9C-101B-9397-08002B2CF9AE}" pid="8" name="KSOProductBuildVer">
    <vt:lpwstr>1049-12.2.0.23206</vt:lpwstr>
  </property>
</Properties>
</file>