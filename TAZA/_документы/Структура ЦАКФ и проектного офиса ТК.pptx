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2" name="Линия эксп 452"/>
          <p:cNvCxnSpPr/>
          <p:nvPr/>
        </p:nvCxnSpPr>
        <p:spPr>
          <a:xfrm>
            <a:off x="7404100" y="6019800"/>
            <a:ext cx="0" cy="38100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51" name="Линия эксп 451"/>
          <p:cNvCxnSpPr/>
          <p:nvPr/>
        </p:nvCxnSpPr>
        <p:spPr>
          <a:xfrm>
            <a:off x="4521200" y="4622800"/>
            <a:ext cx="0" cy="177800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50" name="Линия эксп 450"/>
          <p:cNvCxnSpPr/>
          <p:nvPr/>
        </p:nvCxnSpPr>
        <p:spPr>
          <a:xfrm>
            <a:off x="4521200" y="6400800"/>
            <a:ext cx="3949700" cy="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49" name="Линия эксп 449"/>
          <p:cNvCxnSpPr/>
          <p:nvPr/>
        </p:nvCxnSpPr>
        <p:spPr>
          <a:xfrm>
            <a:off x="8470900" y="4216400"/>
            <a:ext cx="0" cy="218440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48" name="Линия 448"/>
          <p:cNvCxnSpPr/>
          <p:nvPr/>
        </p:nvCxnSpPr>
        <p:spPr>
          <a:xfrm>
            <a:off x="2197100" y="59944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7" name="Линия 447"/>
          <p:cNvCxnSpPr/>
          <p:nvPr/>
        </p:nvCxnSpPr>
        <p:spPr>
          <a:xfrm>
            <a:off x="2197100" y="55245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6" name="Линия 446"/>
          <p:cNvCxnSpPr/>
          <p:nvPr/>
        </p:nvCxnSpPr>
        <p:spPr>
          <a:xfrm>
            <a:off x="2197100" y="51435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5" name="Линия 445"/>
          <p:cNvCxnSpPr/>
          <p:nvPr/>
        </p:nvCxnSpPr>
        <p:spPr>
          <a:xfrm>
            <a:off x="2197100" y="47117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4" name="Линия 444"/>
          <p:cNvCxnSpPr/>
          <p:nvPr/>
        </p:nvCxnSpPr>
        <p:spPr>
          <a:xfrm>
            <a:off x="2197100" y="41910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3" name="Линия 443"/>
          <p:cNvCxnSpPr/>
          <p:nvPr/>
        </p:nvCxnSpPr>
        <p:spPr>
          <a:xfrm>
            <a:off x="2197100" y="36322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2" name="Линия 442"/>
          <p:cNvCxnSpPr/>
          <p:nvPr/>
        </p:nvCxnSpPr>
        <p:spPr>
          <a:xfrm>
            <a:off x="2197100" y="30734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1" name="Линия 441"/>
          <p:cNvCxnSpPr/>
          <p:nvPr/>
        </p:nvCxnSpPr>
        <p:spPr>
          <a:xfrm>
            <a:off x="2273300" y="2616200"/>
            <a:ext cx="0" cy="337820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0" name="Линия 440"/>
          <p:cNvCxnSpPr/>
          <p:nvPr/>
        </p:nvCxnSpPr>
        <p:spPr>
          <a:xfrm>
            <a:off x="4445000" y="46228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9" name="Линия 439"/>
          <p:cNvCxnSpPr/>
          <p:nvPr/>
        </p:nvCxnSpPr>
        <p:spPr>
          <a:xfrm>
            <a:off x="4445000" y="40640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8" name="Линия 438"/>
          <p:cNvCxnSpPr/>
          <p:nvPr/>
        </p:nvCxnSpPr>
        <p:spPr>
          <a:xfrm>
            <a:off x="4445000" y="35052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7" name="Линия 437"/>
          <p:cNvCxnSpPr/>
          <p:nvPr/>
        </p:nvCxnSpPr>
        <p:spPr>
          <a:xfrm>
            <a:off x="4445000" y="29464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6" name="Линия 436"/>
          <p:cNvCxnSpPr/>
          <p:nvPr/>
        </p:nvCxnSpPr>
        <p:spPr>
          <a:xfrm>
            <a:off x="4521200" y="2616200"/>
            <a:ext cx="0" cy="200660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5" name="Линия 435"/>
          <p:cNvCxnSpPr/>
          <p:nvPr/>
        </p:nvCxnSpPr>
        <p:spPr>
          <a:xfrm>
            <a:off x="7315200" y="60198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4" name="Линия 434"/>
          <p:cNvCxnSpPr/>
          <p:nvPr/>
        </p:nvCxnSpPr>
        <p:spPr>
          <a:xfrm>
            <a:off x="7315200" y="56261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3" name="Линия 433"/>
          <p:cNvCxnSpPr/>
          <p:nvPr/>
        </p:nvCxnSpPr>
        <p:spPr>
          <a:xfrm>
            <a:off x="7315200" y="52324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2" name="Линия 432"/>
          <p:cNvCxnSpPr/>
          <p:nvPr/>
        </p:nvCxnSpPr>
        <p:spPr>
          <a:xfrm>
            <a:off x="7315200" y="48387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1" name="Линия 431"/>
          <p:cNvCxnSpPr/>
          <p:nvPr/>
        </p:nvCxnSpPr>
        <p:spPr>
          <a:xfrm>
            <a:off x="7315200" y="44450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0" name="Линия 430"/>
          <p:cNvCxnSpPr/>
          <p:nvPr/>
        </p:nvCxnSpPr>
        <p:spPr>
          <a:xfrm>
            <a:off x="7315200" y="40513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9" name="Линия 429"/>
          <p:cNvCxnSpPr/>
          <p:nvPr/>
        </p:nvCxnSpPr>
        <p:spPr>
          <a:xfrm>
            <a:off x="7315200" y="36576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8" name="Линия 428"/>
          <p:cNvCxnSpPr/>
          <p:nvPr/>
        </p:nvCxnSpPr>
        <p:spPr>
          <a:xfrm>
            <a:off x="7315200" y="32639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7" name="Линия 427"/>
          <p:cNvCxnSpPr/>
          <p:nvPr/>
        </p:nvCxnSpPr>
        <p:spPr>
          <a:xfrm>
            <a:off x="7315200" y="28702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6" name="Линия 426"/>
          <p:cNvCxnSpPr/>
          <p:nvPr/>
        </p:nvCxnSpPr>
        <p:spPr>
          <a:xfrm>
            <a:off x="7404100" y="2616200"/>
            <a:ext cx="0" cy="340360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5" name="Линия 425"/>
          <p:cNvCxnSpPr/>
          <p:nvPr/>
        </p:nvCxnSpPr>
        <p:spPr>
          <a:xfrm>
            <a:off x="9321800" y="3378200"/>
            <a:ext cx="762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24" name="Линия 424"/>
          <p:cNvCxnSpPr/>
          <p:nvPr/>
        </p:nvCxnSpPr>
        <p:spPr>
          <a:xfrm>
            <a:off x="9321800" y="2882900"/>
            <a:ext cx="762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23" name="Линия 423"/>
          <p:cNvCxnSpPr/>
          <p:nvPr/>
        </p:nvCxnSpPr>
        <p:spPr>
          <a:xfrm>
            <a:off x="9398000" y="2616200"/>
            <a:ext cx="0" cy="13208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22" name="Линия 422"/>
          <p:cNvCxnSpPr/>
          <p:nvPr/>
        </p:nvCxnSpPr>
        <p:spPr>
          <a:xfrm>
            <a:off x="6007100" y="1854200"/>
            <a:ext cx="0" cy="5080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21" name="Линия 421"/>
          <p:cNvCxnSpPr/>
          <p:nvPr/>
        </p:nvCxnSpPr>
        <p:spPr>
          <a:xfrm>
            <a:off x="6007100" y="1854200"/>
            <a:ext cx="2438400" cy="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20" name="Линия 420"/>
          <p:cNvCxnSpPr/>
          <p:nvPr/>
        </p:nvCxnSpPr>
        <p:spPr>
          <a:xfrm>
            <a:off x="8445500" y="1854200"/>
            <a:ext cx="0" cy="50800"/>
          </a:xfrm>
          <a:prstGeom prst="line">
            <a:avLst/>
          </a:prstGeom>
          <a:ln w="15875">
            <a:solidFill>
              <a:srgbClr val="1F3864"/>
            </a:solidFill>
          </a:ln>
        </p:spPr>
      </p:cxnSp>
      <p:cxnSp>
        <p:nvCxnSpPr>
          <p:cNvPr id="419" name="Линия 419"/>
          <p:cNvCxnSpPr/>
          <p:nvPr/>
        </p:nvCxnSpPr>
        <p:spPr>
          <a:xfrm>
            <a:off x="8445500" y="1854200"/>
            <a:ext cx="1104900" cy="0"/>
          </a:xfrm>
          <a:prstGeom prst="line">
            <a:avLst/>
          </a:prstGeom>
          <a:ln w="15875">
            <a:solidFill>
              <a:srgbClr val="1F3864"/>
            </a:solidFill>
          </a:ln>
        </p:spPr>
      </p:cxnSp>
      <p:cxnSp>
        <p:nvCxnSpPr>
          <p:cNvPr id="418" name="Линия 418"/>
          <p:cNvCxnSpPr/>
          <p:nvPr/>
        </p:nvCxnSpPr>
        <p:spPr>
          <a:xfrm>
            <a:off x="9550400" y="1663700"/>
            <a:ext cx="0" cy="190500"/>
          </a:xfrm>
          <a:prstGeom prst="line">
            <a:avLst/>
          </a:prstGeom>
          <a:ln w="15875">
            <a:solidFill>
              <a:srgbClr val="1F3864"/>
            </a:solidFill>
          </a:ln>
        </p:spPr>
      </p:cxnSp>
      <p:cxnSp>
        <p:nvCxnSpPr>
          <p:cNvPr id="417" name="Линия 417"/>
          <p:cNvCxnSpPr/>
          <p:nvPr/>
        </p:nvCxnSpPr>
        <p:spPr>
          <a:xfrm>
            <a:off x="9550400" y="1663700"/>
            <a:ext cx="50800" cy="0"/>
          </a:xfrm>
          <a:prstGeom prst="line">
            <a:avLst/>
          </a:prstGeom>
          <a:ln w="15875">
            <a:solidFill>
              <a:srgbClr val="1F3864"/>
            </a:solidFill>
          </a:ln>
        </p:spPr>
      </p:cxnSp>
      <p:cxnSp>
        <p:nvCxnSpPr>
          <p:cNvPr id="416" name="Линия 416"/>
          <p:cNvCxnSpPr/>
          <p:nvPr/>
        </p:nvCxnSpPr>
        <p:spPr>
          <a:xfrm>
            <a:off x="128905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5" name="Линия 415"/>
          <p:cNvCxnSpPr/>
          <p:nvPr/>
        </p:nvCxnSpPr>
        <p:spPr>
          <a:xfrm>
            <a:off x="353695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4" name="Линия 414"/>
          <p:cNvCxnSpPr/>
          <p:nvPr/>
        </p:nvCxnSpPr>
        <p:spPr>
          <a:xfrm>
            <a:off x="610870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3" name="Линия 413"/>
          <p:cNvCxnSpPr/>
          <p:nvPr/>
        </p:nvCxnSpPr>
        <p:spPr>
          <a:xfrm>
            <a:off x="854710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  <a:prstDash val="dash"/>
          </a:ln>
        </p:spPr>
      </p:cxnSp>
      <p:cxnSp>
        <p:nvCxnSpPr>
          <p:cNvPr id="412" name="Линия 412"/>
          <p:cNvCxnSpPr/>
          <p:nvPr/>
        </p:nvCxnSpPr>
        <p:spPr>
          <a:xfrm>
            <a:off x="1289050" y="1803400"/>
            <a:ext cx="481965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1" name="Линия 411"/>
          <p:cNvCxnSpPr/>
          <p:nvPr/>
        </p:nvCxnSpPr>
        <p:spPr>
          <a:xfrm>
            <a:off x="6108700" y="1803400"/>
            <a:ext cx="2438400" cy="0"/>
          </a:xfrm>
          <a:prstGeom prst="line">
            <a:avLst/>
          </a:prstGeom>
          <a:ln w="15875">
            <a:solidFill>
              <a:srgbClr val="227838"/>
            </a:solidFill>
            <a:prstDash val="dash"/>
          </a:ln>
        </p:spPr>
      </p:cxnSp>
      <p:cxnSp>
        <p:nvCxnSpPr>
          <p:cNvPr id="410" name="Линия 410"/>
          <p:cNvCxnSpPr/>
          <p:nvPr/>
        </p:nvCxnSpPr>
        <p:spPr>
          <a:xfrm>
            <a:off x="6108700" y="1752600"/>
            <a:ext cx="0" cy="508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9" name="Линия 409"/>
          <p:cNvCxnSpPr/>
          <p:nvPr/>
        </p:nvCxnSpPr>
        <p:spPr>
          <a:xfrm>
            <a:off x="2362200" y="1358900"/>
            <a:ext cx="27940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8" name="Линия 408"/>
          <p:cNvCxnSpPr/>
          <p:nvPr/>
        </p:nvCxnSpPr>
        <p:spPr>
          <a:xfrm>
            <a:off x="4419600" y="1409700"/>
            <a:ext cx="30480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7" name="Линия 407"/>
          <p:cNvCxnSpPr/>
          <p:nvPr/>
        </p:nvCxnSpPr>
        <p:spPr>
          <a:xfrm>
            <a:off x="6108700" y="1003300"/>
            <a:ext cx="349250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53" name="Линия 453"/>
          <p:cNvCxnSpPr/>
          <p:nvPr/>
        </p:nvCxnSpPr>
        <p:spPr>
          <a:xfrm>
            <a:off x="6108700" y="1003300"/>
            <a:ext cx="0" cy="2667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6" name="Линия 406"/>
          <p:cNvCxnSpPr/>
          <p:nvPr/>
        </p:nvCxnSpPr>
        <p:spPr>
          <a:xfrm>
            <a:off x="11607800" y="3924300"/>
            <a:ext cx="254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5" name="Линия 405"/>
          <p:cNvCxnSpPr/>
          <p:nvPr/>
        </p:nvCxnSpPr>
        <p:spPr>
          <a:xfrm>
            <a:off x="11633200" y="3708400"/>
            <a:ext cx="0" cy="2159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4" name="Линия 404"/>
          <p:cNvCxnSpPr/>
          <p:nvPr/>
        </p:nvCxnSpPr>
        <p:spPr>
          <a:xfrm>
            <a:off x="11607800" y="3111500"/>
            <a:ext cx="254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3" name="Линия 403"/>
          <p:cNvCxnSpPr/>
          <p:nvPr/>
        </p:nvCxnSpPr>
        <p:spPr>
          <a:xfrm>
            <a:off x="11607800" y="2781300"/>
            <a:ext cx="254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2" name="Линия 402"/>
          <p:cNvCxnSpPr/>
          <p:nvPr/>
        </p:nvCxnSpPr>
        <p:spPr>
          <a:xfrm>
            <a:off x="11633200" y="2590800"/>
            <a:ext cx="0" cy="5207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9" name="Линия 399"/>
          <p:cNvCxnSpPr/>
          <p:nvPr/>
        </p:nvCxnSpPr>
        <p:spPr>
          <a:xfrm>
            <a:off x="11734800" y="3543300"/>
            <a:ext cx="1270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8" name="Линия 398"/>
          <p:cNvCxnSpPr/>
          <p:nvPr/>
        </p:nvCxnSpPr>
        <p:spPr>
          <a:xfrm>
            <a:off x="11734800" y="2349500"/>
            <a:ext cx="1270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7" name="Линия 397"/>
          <p:cNvCxnSpPr/>
          <p:nvPr/>
        </p:nvCxnSpPr>
        <p:spPr>
          <a:xfrm>
            <a:off x="11734800" y="1663700"/>
            <a:ext cx="1270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6" name="Линия 396"/>
          <p:cNvCxnSpPr/>
          <p:nvPr/>
        </p:nvCxnSpPr>
        <p:spPr>
          <a:xfrm>
            <a:off x="11861800" y="1219200"/>
            <a:ext cx="0" cy="23241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395" name="Линия 395"/>
          <p:cNvCxnSpPr/>
          <p:nvPr/>
        </p:nvCxnSpPr>
        <p:spPr>
          <a:xfrm>
            <a:off x="10782300" y="762000"/>
            <a:ext cx="0" cy="254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pic>
        <p:nvPicPr>
          <p:cNvPr id="3" name="Рисунок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0800"/>
            <a:ext cx="5080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5750" y="76200"/>
            <a:ext cx="9747250" cy="2768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b="1" smtClean="0">
                <a:solidFill>
                  <a:srgbClr val="1F3864"/>
                </a:solidFill>
                <a:latin typeface="Segoe UI" panose="020B0502040204020203" pitchFamily="34" charset="0"/>
              </a:rPr>
              <a:t>Проектный офис «Таза Қазақстан» при </a:t>
            </a:r>
            <a:r>
              <a:rPr lang="ru-RU" b="1" smtClean="0">
                <a:solidFill>
                  <a:srgbClr val="1F3864"/>
                </a:solidFill>
                <a:latin typeface="Segoe UI" panose="020B0502040204020203" pitchFamily="34" charset="0"/>
                <a:sym typeface="+mn-ea"/>
              </a:rPr>
              <a:t>Центрально-Азиатском климатическом фонде</a:t>
            </a:r>
            <a:endParaRPr lang="ru-RU" b="1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01" name="Попечитель 201"/>
          <p:cNvSpPr/>
          <p:nvPr/>
        </p:nvSpPr>
        <p:spPr>
          <a:xfrm>
            <a:off x="9601200" y="508000"/>
            <a:ext cx="2362200" cy="2540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Верховный Попечитель</a:t>
            </a:r>
          </a:p>
        </p:txBody>
      </p:sp>
      <p:sp>
        <p:nvSpPr>
          <p:cNvPr id="204" name="ГИД 204"/>
          <p:cNvSpPr/>
          <p:nvPr/>
        </p:nvSpPr>
        <p:spPr>
          <a:xfrm>
            <a:off x="9601200" y="787400"/>
            <a:ext cx="2362200" cy="431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Главный исполнительный директор (ГИД)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Қаражан Е.Н.</a:t>
            </a:r>
          </a:p>
        </p:txBody>
      </p:sp>
      <p:sp>
        <p:nvSpPr>
          <p:cNvPr id="205" name="Сотрудник 205"/>
          <p:cNvSpPr/>
          <p:nvPr/>
        </p:nvSpPr>
        <p:spPr>
          <a:xfrm>
            <a:off x="9601200" y="1473200"/>
            <a:ext cx="2133600" cy="3810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smtClean="0">
                <a:solidFill>
                  <a:srgbClr val="1F3864"/>
                </a:solidFill>
                <a:latin typeface="Segoe UI" panose="020B0502040204020203" pitchFamily="34" charset="0"/>
              </a:rPr>
              <a:t>Зам. ГИД по стратегии и проектам</a:t>
            </a:r>
            <a:endParaRPr lang="ru-RU" sz="900" dirty="0">
              <a:solidFill>
                <a:srgbClr val="1F3864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Кононец А.В.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1 400 000</a:t>
            </a:r>
            <a:endParaRPr lang="ru-RU" sz="10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06" name="Сотрудник 206"/>
          <p:cNvSpPr/>
          <p:nvPr/>
        </p:nvSpPr>
        <p:spPr>
          <a:xfrm>
            <a:off x="9601200" y="2108200"/>
            <a:ext cx="2133600" cy="4826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1F3864"/>
                </a:solidFill>
                <a:latin typeface="Segoe UI" panose="020B0502040204020203" pitchFamily="34" charset="0"/>
              </a:rPr>
              <a:t>Зам. ГИД (адм.-хоз. вопросы,</a:t>
            </a:r>
          </a:p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1F3864"/>
                </a:solidFill>
                <a:latin typeface="Segoe UI" panose="020B0502040204020203" pitchFamily="34" charset="0"/>
              </a:rPr>
              <a:t>закупки, кадры, проекты)</a:t>
            </a:r>
          </a:p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Темирбеков М.Е.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1 400 000</a:t>
            </a:r>
            <a:endParaRPr lang="ru-RU" sz="10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09" name="Сотрудник 209"/>
          <p:cNvSpPr/>
          <p:nvPr/>
        </p:nvSpPr>
        <p:spPr>
          <a:xfrm>
            <a:off x="9601200" y="3378200"/>
            <a:ext cx="2133600" cy="3302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1F3864"/>
                </a:solidFill>
                <a:latin typeface="Segoe UI" panose="020B0502040204020203" pitchFamily="34" charset="0"/>
              </a:rPr>
              <a:t>Финансовый директор</a:t>
            </a:r>
          </a:p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Оразбаева М.К.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1 400 000</a:t>
            </a:r>
            <a:endParaRPr lang="ru-RU" sz="10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10" name="Вакансия 210"/>
          <p:cNvSpPr/>
          <p:nvPr/>
        </p:nvSpPr>
        <p:spPr>
          <a:xfrm>
            <a:off x="9601200" y="3759200"/>
            <a:ext cx="2006600" cy="3302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787878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787878"/>
                </a:solidFill>
                <a:latin typeface="Segoe UI" panose="020B0502040204020203" pitchFamily="34" charset="0"/>
              </a:rPr>
              <a:t>Бухгалтер</a:t>
            </a:r>
          </a:p>
          <a:p>
            <a:pPr algn="ctr">
              <a:lnSpc>
                <a:spcPct val="90000"/>
              </a:lnSpc>
            </a:pPr>
            <a:r>
              <a:rPr lang="ru-RU" sz="1000" i="1" dirty="0">
                <a:solidFill>
                  <a:srgbClr val="787878"/>
                </a:solidFill>
                <a:latin typeface="Segoe UI" panose="020B0502040204020203" pitchFamily="34" charset="0"/>
              </a:rPr>
              <a:t>вакансия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700 000</a:t>
            </a:r>
            <a:endParaRPr lang="ru-RU" sz="1000" i="1" dirty="0">
              <a:solidFill>
                <a:srgbClr val="787878"/>
              </a:solidFill>
              <a:latin typeface="Segoe UI" panose="020B0502040204020203" pitchFamily="34" charset="0"/>
            </a:endParaRPr>
          </a:p>
        </p:txBody>
      </p:sp>
      <p:sp>
        <p:nvSpPr>
          <p:cNvPr id="234" name="Координатор 234"/>
          <p:cNvSpPr/>
          <p:nvPr/>
        </p:nvSpPr>
        <p:spPr>
          <a:xfrm>
            <a:off x="4724400" y="1270000"/>
            <a:ext cx="2768600" cy="279400"/>
          </a:xfrm>
          <a:prstGeom prst="roundRect">
            <a:avLst>
              <a:gd name="adj" fmla="val 12000"/>
            </a:avLst>
          </a:prstGeom>
          <a:solidFill>
            <a:srgbClr val="185628"/>
          </a:solidFill>
          <a:ln w="12700">
            <a:solidFill>
              <a:srgbClr val="18562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Национальный координатор</a:t>
            </a:r>
          </a:p>
        </p:txBody>
      </p:sp>
      <p:sp>
        <p:nvSpPr>
          <p:cNvPr id="235" name="Координатор ФИО 235"/>
          <p:cNvSpPr/>
          <p:nvPr/>
        </p:nvSpPr>
        <p:spPr>
          <a:xfrm>
            <a:off x="4724400" y="1549400"/>
            <a:ext cx="2768600" cy="2032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18562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Серикжанова Айгерим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1 400 000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40" name="Подразделение 240"/>
          <p:cNvSpPr/>
          <p:nvPr/>
        </p:nvSpPr>
        <p:spPr>
          <a:xfrm>
            <a:off x="2641600" y="1270000"/>
            <a:ext cx="1778000" cy="1905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Цифровое развитие (1)</a:t>
            </a:r>
          </a:p>
        </p:txBody>
      </p:sp>
      <p:sp>
        <p:nvSpPr>
          <p:cNvPr id="241" name="Руководитель 241"/>
          <p:cNvSpPr/>
          <p:nvPr/>
        </p:nvSpPr>
        <p:spPr>
          <a:xfrm>
            <a:off x="2641600" y="1460500"/>
            <a:ext cx="1778000" cy="381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рук. —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Тастан Нұрбол</a:t>
            </a:r>
            <a:br/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1 300 000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47" name="Подразделение 247"/>
          <p:cNvSpPr/>
          <p:nvPr/>
        </p:nvSpPr>
        <p:spPr>
          <a:xfrm>
            <a:off x="2476500" y="1905000"/>
            <a:ext cx="2120900" cy="5080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b="1" dirty="0">
                <a:solidFill>
                  <a:srgbClr val="FFFFFF"/>
                </a:solidFill>
                <a:latin typeface="Segoe UI" panose="020B0502040204020203" pitchFamily="34" charset="0"/>
              </a:rPr>
              <a:t>Социологические исследования и аналитика (1+4)</a:t>
            </a:r>
            <a:endParaRPr lang="ru-RU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48" name="Руководитель 248"/>
          <p:cNvSpPr/>
          <p:nvPr/>
        </p:nvSpPr>
        <p:spPr>
          <a:xfrm>
            <a:off x="2476500" y="2362200"/>
            <a:ext cx="2120900" cy="254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рук. —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Ахантаева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1 300 000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0" name="Подразделение 250"/>
          <p:cNvSpPr/>
          <p:nvPr/>
        </p:nvSpPr>
        <p:spPr>
          <a:xfrm>
            <a:off x="4724400" y="1905000"/>
            <a:ext cx="2768600" cy="5080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Проектное управление и региональная координация (1+9)</a:t>
            </a:r>
            <a:endParaRPr lang="ru-RU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1" name="Руководитель 251"/>
          <p:cNvSpPr/>
          <p:nvPr/>
        </p:nvSpPr>
        <p:spPr>
          <a:xfrm>
            <a:off x="4724400" y="2362200"/>
            <a:ext cx="2768600" cy="254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директор деп. —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Доскалиева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1 300 000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</p:txBody>
      </p:sp>
      <p:sp>
        <p:nvSpPr>
          <p:cNvPr id="253" name="Подразделение 253"/>
          <p:cNvSpPr/>
          <p:nvPr/>
        </p:nvSpPr>
        <p:spPr>
          <a:xfrm>
            <a:off x="228600" y="1905000"/>
            <a:ext cx="2120900" cy="5080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Коммуникация и креатив (1+3)</a:t>
            </a:r>
            <a:endParaRPr lang="ru-RU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4" name="Руководитель 254"/>
          <p:cNvSpPr/>
          <p:nvPr/>
        </p:nvSpPr>
        <p:spPr>
          <a:xfrm>
            <a:off x="228600" y="2362200"/>
            <a:ext cx="2120900" cy="381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рук. —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Сундетбай Сандугаш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/>
            </a:r>
            <a:b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</a:b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1 300 000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5" name="Сотрудник 255"/>
          <p:cNvSpPr/>
          <p:nvPr/>
        </p:nvSpPr>
        <p:spPr>
          <a:xfrm>
            <a:off x="2476500" y="26924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Гл. специалист, социолог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Тленчиева Шырын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1 000 000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6" name="Сотрудник 256"/>
          <p:cNvSpPr/>
          <p:nvPr/>
        </p:nvSpPr>
        <p:spPr>
          <a:xfrm>
            <a:off x="2476500" y="32512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Гл. специалист, аналитик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Сандыбаева Сандугаш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/>
            </a:r>
            <a:b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</a:b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1 000 000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7" name="Сотрудник 257"/>
          <p:cNvSpPr/>
          <p:nvPr/>
        </p:nvSpPr>
        <p:spPr>
          <a:xfrm>
            <a:off x="2476500" y="38100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социолог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Ашимханова Дана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700 000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8" name="Сотрудник 258"/>
          <p:cNvSpPr/>
          <p:nvPr/>
        </p:nvSpPr>
        <p:spPr>
          <a:xfrm>
            <a:off x="2476500" y="43688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аналитик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Мукашев Дархан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700 000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4" name="Сотрудник 264"/>
          <p:cNvSpPr/>
          <p:nvPr/>
        </p:nvSpPr>
        <p:spPr>
          <a:xfrm>
            <a:off x="4724400" y="30861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Главный специалист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Қуандық Жасұлан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1 000 000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5" name="Сотрудник 265"/>
          <p:cNvSpPr/>
          <p:nvPr/>
        </p:nvSpPr>
        <p:spPr>
          <a:xfrm>
            <a:off x="4724400" y="50546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Главный специалист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Өміртай Амалбек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1 000 000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6" name="Сотрудник 266"/>
          <p:cNvSpPr/>
          <p:nvPr/>
        </p:nvSpPr>
        <p:spPr>
          <a:xfrm>
            <a:off x="4724400" y="34798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Главный специалист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Жандилдаев Бакдаулет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1 000 000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7" name="Сотрудник 267"/>
          <p:cNvSpPr/>
          <p:nvPr/>
        </p:nvSpPr>
        <p:spPr>
          <a:xfrm>
            <a:off x="4724400" y="38735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Шербаева Бибинур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1 000 000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8" name="Сотрудник 268"/>
          <p:cNvSpPr/>
          <p:nvPr/>
        </p:nvSpPr>
        <p:spPr>
          <a:xfrm>
            <a:off x="4724400" y="42672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Абенов Алибек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700 000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9" name="Сотрудник 269"/>
          <p:cNvSpPr/>
          <p:nvPr/>
        </p:nvSpPr>
        <p:spPr>
          <a:xfrm>
            <a:off x="4724400" y="54483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Тулесова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700 000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70" name="Сотрудник 270"/>
          <p:cNvSpPr/>
          <p:nvPr/>
        </p:nvSpPr>
        <p:spPr>
          <a:xfrm>
            <a:off x="4724400" y="58420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Бекжанова Нагима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700 000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79" name="Сотрудник 279"/>
          <p:cNvSpPr/>
          <p:nvPr/>
        </p:nvSpPr>
        <p:spPr>
          <a:xfrm>
            <a:off x="228600" y="28194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Гл. специалист, PR — пресс-секретарь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Талғат Айман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1 000 000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80" name="Сотрудник 280"/>
          <p:cNvSpPr/>
          <p:nvPr/>
        </p:nvSpPr>
        <p:spPr>
          <a:xfrm>
            <a:off x="228600" y="33782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фотограф-рилсмейкер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Жумабай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1 000 000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81" name="Сотрудник 281"/>
          <p:cNvSpPr/>
          <p:nvPr/>
        </p:nvSpPr>
        <p:spPr>
          <a:xfrm>
            <a:off x="228600" y="39370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менеджер по блогерам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Дутбаева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700 000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82" name="Аутсорс 282"/>
          <p:cNvSpPr/>
          <p:nvPr/>
        </p:nvSpPr>
        <p:spPr>
          <a:xfrm>
            <a:off x="228600" y="4495800"/>
            <a:ext cx="1968500" cy="4318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Режиссёр, видеограф-монтажёр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283" name="Аутсорс 283"/>
          <p:cNvSpPr/>
          <p:nvPr/>
        </p:nvSpPr>
        <p:spPr>
          <a:xfrm>
            <a:off x="228600" y="4978400"/>
            <a:ext cx="1968500" cy="3302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Копирайтер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284" name="Аутсорс 284"/>
          <p:cNvSpPr/>
          <p:nvPr/>
        </p:nvSpPr>
        <p:spPr>
          <a:xfrm>
            <a:off x="228600" y="5359400"/>
            <a:ext cx="1968500" cy="3302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Дизайнер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285" name="Аутсорс 285"/>
          <p:cNvSpPr/>
          <p:nvPr/>
        </p:nvSpPr>
        <p:spPr>
          <a:xfrm>
            <a:off x="228600" y="57404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Менеджер по креаторам и креативным проектам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294" name="Итог 294"/>
          <p:cNvSpPr/>
          <p:nvPr/>
        </p:nvSpPr>
        <p:spPr>
          <a:xfrm>
            <a:off x="9639300" y="5099685"/>
            <a:ext cx="2286000" cy="736600"/>
          </a:xfrm>
          <a:prstGeom prst="roundRect">
            <a:avLst>
              <a:gd name="adj" fmla="val 12000"/>
            </a:avLst>
          </a:prstGeom>
          <a:solidFill>
            <a:srgbClr val="E1E1E1"/>
          </a:solidFill>
          <a:ln w="12700">
            <a:solidFill>
              <a:srgbClr val="E1E1E1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Всего в штате — </a:t>
            </a:r>
            <a:r>
              <a:rPr lang="ru-RU" sz="1000" b="1" dirty="0">
                <a:solidFill>
                  <a:srgbClr val="FF0000"/>
                </a:solidFill>
                <a:latin typeface="Segoe UI" panose="020B0502040204020203" pitchFamily="34" charset="0"/>
              </a:rPr>
              <a:t>30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ЦАКФ и проектный офис</a:t>
            </a:r>
          </a:p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1F3864"/>
                </a:solidFill>
                <a:latin typeface="Segoe UI" panose="020B0502040204020203" pitchFamily="34" charset="0"/>
              </a:rPr>
              <a:t>в 2026 — 18, в 2027 — +12</a:t>
            </a:r>
            <a:endParaRPr lang="ru-RU" sz="800" i="1" dirty="0">
              <a:solidFill>
                <a:srgbClr val="1F3864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b="1" dirty="0">
                <a:solidFill>
                  <a:srgbClr val="7F6000"/>
                </a:solidFill>
                <a:latin typeface="Segoe UI" panose="020B0502040204020203" pitchFamily="34" charset="0"/>
              </a:rPr>
              <a:t>аутсорс — 7 позиций</a:t>
            </a:r>
          </a:p>
        </p:txBody>
      </p:sp>
      <p:sp>
        <p:nvSpPr>
          <p:cNvPr id="306" name="Сотрудник 306"/>
          <p:cNvSpPr/>
          <p:nvPr/>
        </p:nvSpPr>
        <p:spPr>
          <a:xfrm>
            <a:off x="4724400" y="46609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 (молодёжь, НПО)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Абулхан Ә.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800 000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08" name="Сотрудник 308"/>
          <p:cNvSpPr/>
          <p:nvPr/>
        </p:nvSpPr>
        <p:spPr>
          <a:xfrm>
            <a:off x="7620000" y="3683000"/>
            <a:ext cx="1701800" cy="508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787878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787878"/>
                </a:solidFill>
                <a:latin typeface="Segoe UI" panose="020B0502040204020203" pitchFamily="34" charset="0"/>
              </a:rPr>
              <a:t>Эксперт по отходам/воде/воздуху</a:t>
            </a:r>
            <a:endParaRPr lang="ru-RU" sz="9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b="0" i="1" dirty="0">
                <a:solidFill>
                  <a:srgbClr val="787878"/>
                </a:solidFill>
                <a:latin typeface="Segoe UI" panose="020B0502040204020203" pitchFamily="34" charset="0"/>
              </a:rPr>
              <a:t>вакансия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800 000</a:t>
            </a:r>
            <a:endParaRPr lang="ru-RU" sz="9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10" name="Сотрудник 310"/>
          <p:cNvSpPr/>
          <p:nvPr/>
        </p:nvSpPr>
        <p:spPr>
          <a:xfrm>
            <a:off x="7620000" y="3124200"/>
            <a:ext cx="1701800" cy="508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Эксперт-эколог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Загирова Анастасия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/>
            </a:r>
            <a:b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</a:b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800 000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16" name="Аутсорс 316"/>
          <p:cNvSpPr/>
          <p:nvPr/>
        </p:nvSpPr>
        <p:spPr>
          <a:xfrm>
            <a:off x="882015" y="1244600"/>
            <a:ext cx="1480185" cy="5080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Разработчик (ИИ, ГИС), платформа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8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317" name="Аутсорс 317"/>
          <p:cNvSpPr/>
          <p:nvPr/>
        </p:nvSpPr>
        <p:spPr>
          <a:xfrm>
            <a:off x="9601200" y="2971800"/>
            <a:ext cx="2006600" cy="2794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Сис.админ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8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367" name="Легенда 2027"/>
          <p:cNvSpPr/>
          <p:nvPr/>
        </p:nvSpPr>
        <p:spPr>
          <a:xfrm>
            <a:off x="9652000" y="5937885"/>
            <a:ext cx="279400" cy="165100"/>
          </a:xfrm>
          <a:prstGeom prst="roundRect">
            <a:avLst/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/>
          <a:lstStyle/>
          <a:p>
            <a:endParaRPr lang="ru-RU" sz="800"/>
          </a:p>
        </p:txBody>
      </p:sp>
      <p:sp>
        <p:nvSpPr>
          <p:cNvPr id="368" name="Легенда 2027 текст"/>
          <p:cNvSpPr txBox="1"/>
          <p:nvPr/>
        </p:nvSpPr>
        <p:spPr>
          <a:xfrm>
            <a:off x="10007600" y="5950585"/>
            <a:ext cx="1905000" cy="1524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r>
              <a:rPr lang="ru-RU" sz="900" dirty="0">
                <a:solidFill>
                  <a:srgbClr val="464646"/>
                </a:solidFill>
                <a:latin typeface="Segoe UI" panose="020B0502040204020203" pitchFamily="34" charset="0"/>
              </a:rPr>
              <a:t>приход в 2027 году</a:t>
            </a:r>
          </a:p>
        </p:txBody>
      </p:sp>
      <p:sp>
        <p:nvSpPr>
          <p:cNvPr id="388" name="Численность 2027"/>
          <p:cNvSpPr txBox="1"/>
          <p:nvPr/>
        </p:nvSpPr>
        <p:spPr>
          <a:xfrm>
            <a:off x="228600" y="6502400"/>
            <a:ext cx="1173480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ru-RU" sz="1000" dirty="0">
                <a:solidFill>
                  <a:srgbClr val="1F3864"/>
                </a:solidFill>
                <a:latin typeface="Segoe UI" panose="020B0502040204020203" pitchFamily="34" charset="0"/>
              </a:rPr>
              <a:t>Численность: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в 2026 году — 18 чел.</a:t>
            </a:r>
            <a:r>
              <a:rPr lang="ru-RU" sz="1000" dirty="0">
                <a:solidFill>
                  <a:srgbClr val="1F3864"/>
                </a:solidFill>
                <a:latin typeface="Segoe UI" panose="020B0502040204020203" pitchFamily="34" charset="0"/>
              </a:rPr>
              <a:t>; в 2027 году приходят ещё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12</a:t>
            </a:r>
            <a:r>
              <a:rPr lang="ru-RU" sz="1000" dirty="0">
                <a:solidFill>
                  <a:srgbClr val="1F3864"/>
                </a:solidFill>
                <a:latin typeface="Segoe UI" panose="020B0502040204020203" pitchFamily="34" charset="0"/>
              </a:rPr>
              <a:t> (выделены цветом) — </a:t>
            </a:r>
            <a:r>
              <a:rPr lang="ru-RU" sz="1000" b="1" dirty="0">
                <a:solidFill>
                  <a:srgbClr val="C00000"/>
                </a:solidFill>
                <a:latin typeface="Segoe UI" panose="020B0502040204020203" pitchFamily="34" charset="0"/>
              </a:rPr>
              <a:t>всего в 2027 году 30 чел.</a:t>
            </a:r>
          </a:p>
        </p:txBody>
      </p:sp>
      <p:sp>
        <p:nvSpPr>
          <p:cNvPr id="389" name="Фигура 389"/>
          <p:cNvSpPr/>
          <p:nvPr/>
        </p:nvSpPr>
        <p:spPr>
          <a:xfrm>
            <a:off x="7620000" y="2692400"/>
            <a:ext cx="1701800" cy="3810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25400" tIns="6350" rIns="25400" bIns="6350" rtlCol="0" anchor="ctr"/>
          <a:lstStyle/>
          <a:p>
            <a:pPr algn="ctr">
              <a:lnSpc>
                <a:spcPct val="90000"/>
              </a:lnSpc>
            </a:pPr>
            <a:r>
              <a:rPr lang="ru-RU" sz="1000" smtClean="0">
                <a:solidFill>
                  <a:srgbClr val="464646"/>
                </a:solidFill>
                <a:latin typeface="Segoe UI" panose="020B0502040204020203" pitchFamily="34" charset="0"/>
              </a:rPr>
              <a:t>Менеджер проектов</a:t>
            </a:r>
            <a:br>
              <a:rPr lang="ru-RU" sz="1000" smtClean="0">
                <a:solidFill>
                  <a:srgbClr val="464646"/>
                </a:solidFill>
                <a:latin typeface="Segoe UI" panose="020B0502040204020203" pitchFamily="34" charset="0"/>
              </a:rPr>
            </a:br>
            <a:r>
              <a:rPr lang="ru-RU" sz="1000" smtClean="0">
                <a:solidFill>
                  <a:srgbClr val="464646"/>
                </a:solidFill>
                <a:latin typeface="Segoe UI" panose="020B0502040204020203" pitchFamily="34" charset="0"/>
              </a:rPr>
              <a:t>1 200 000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390" name="Фигура 390"/>
          <p:cNvSpPr/>
          <p:nvPr/>
        </p:nvSpPr>
        <p:spPr>
          <a:xfrm>
            <a:off x="9601200" y="2641600"/>
            <a:ext cx="2006600" cy="2794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Юрист (МФЦА)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391" name="Фигура 391"/>
          <p:cNvSpPr/>
          <p:nvPr/>
        </p:nvSpPr>
        <p:spPr>
          <a:xfrm>
            <a:off x="7620000" y="1905000"/>
            <a:ext cx="1854200" cy="508000"/>
          </a:xfrm>
          <a:prstGeom prst="roundRect">
            <a:avLst>
              <a:gd name="adj" fmla="val 12000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750" b="1" smtClean="0">
                <a:solidFill>
                  <a:srgbClr val="FFFFFF"/>
                </a:solidFill>
                <a:latin typeface="Segoe UI" panose="020B0502040204020203" pitchFamily="34" charset="0"/>
              </a:rPr>
              <a:t>Проектный офис для Центральной Азии по изменению климата и зеленой энергетике (1+3)</a:t>
            </a:r>
            <a:endParaRPr lang="ru-RU" sz="75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92" name="Фигура 392"/>
          <p:cNvSpPr/>
          <p:nvPr/>
        </p:nvSpPr>
        <p:spPr>
          <a:xfrm>
            <a:off x="7620000" y="2362200"/>
            <a:ext cx="1854200" cy="254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рук. —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Юнусов Т.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1 300 000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93" name="Фигура 393"/>
          <p:cNvSpPr/>
          <p:nvPr/>
        </p:nvSpPr>
        <p:spPr>
          <a:xfrm>
            <a:off x="4724400" y="26924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Заместитель директора (МЭПР, ЦГО, регионы)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1 100 000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cxnSp>
        <p:nvCxnSpPr>
          <p:cNvPr id="111" name="Линия 425"/>
          <p:cNvCxnSpPr/>
          <p:nvPr/>
        </p:nvCxnSpPr>
        <p:spPr>
          <a:xfrm>
            <a:off x="9321800" y="3937000"/>
            <a:ext cx="762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Microsoft Office PowerPoint</Application>
  <PresentationFormat>Широкоэкранный</PresentationFormat>
  <Paragraphs>74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</vt:lpstr>
      <vt:lpstr>Тема Office</vt:lpstr>
      <vt:lpstr>Презентация PowerPoint</vt:lpstr>
    </vt:vector>
  </TitlesOfParts>
  <Company>CACF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17</cp:revision>
  <dcterms:created xsi:type="dcterms:W3CDTF">2026-09-18T11:34:00Z</dcterms:created>
  <dcterms:modified xsi:type="dcterms:W3CDTF">2026-10-14T08:55:33Z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5EA30585C6FB4EF0B433EC282E486D0D_13</vt:lpwstr>
  </property>
  <property fmtid="{D5CDD505-2E9C-101B-9397-08002B2CF9AE}" pid="3" name="KSOProductBuildVer">
    <vt:lpwstr>1049-12.2.0.23206</vt:lpwstr>
  </property>
</Properties>
</file>