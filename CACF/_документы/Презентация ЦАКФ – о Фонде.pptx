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8"/>
  </p:notesMasterIdLst>
  <p:sldIdLst>
    <p:sldId id="265" r:id="rId2"/>
    <p:sldId id="308" r:id="rId33"/>
    <p:sldId id="310" r:id="rId35"/>
    <p:sldId id="313" r:id="rId38"/>
    <p:sldId id="312" r:id="rId37"/>
    <p:sldId id="309" r:id="rId34"/>
    <p:sldId id="311" r:id="rId36"/>
    <p:sldId id="26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3B7D48"/>
    <a:srgbClr val="479398"/>
    <a:srgbClr val="BFD5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87"/>
    <p:restoredTop sz="94475"/>
  </p:normalViewPr>
  <p:slideViewPr>
    <p:cSldViewPr snapToGrid="0">
      <p:cViewPr varScale="1">
        <p:scale>
          <a:sx n="182" d="100"/>
          <a:sy n="182" d="100"/>
        </p:scale>
        <p:origin x="2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A0E622-3E01-144F-9ECD-D0AAB6AC4D3F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2B0C5-90C3-9C4B-8C2C-6021F84E466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microsoft.com/office/2007/relationships/hdphoto" Target="../media/hdphoto6.wdp"/><Relationship Id="rId5" Type="http://schemas.openxmlformats.org/officeDocument/2006/relationships/hyperlink" Target="mailto:office@caclimate.fund" TargetMode="External"/><Relationship Id="rId6" Type="http://schemas.openxmlformats.org/officeDocument/2006/relationships/hyperlink" Target="http://www.caclimate.fund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3958" y="181957"/>
            <a:ext cx="7475279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Центрально-Азиатский </a:t>
            </a:r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климатический фонд</a:t>
            </a:r>
            <a:b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  <a:p>
            <a:endParaRPr lang="ru-RU" sz="24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r>
              <a:rPr lang="ru-RU" sz="4800" b="1" noProof="1">
                <a:solidFill>
                  <a:schemeClr val="bg1"/>
                </a:solidFill>
                <a:cs typeface="Calibri" panose="020F0502020204030204" pitchFamily="34" charset="0"/>
              </a:rPr>
              <a:t>О Фонде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113" y="303599"/>
            <a:ext cx="2340887" cy="956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97089" y="4767828"/>
            <a:ext cx="54949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pPr algn="r"/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pPr algn="r"/>
            <a:r>
              <a:rPr lang="ru-RU" sz="2400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Астана</a:t>
            </a:r>
          </a:p>
          <a:p>
            <a:pPr algn="r"/>
            <a:r>
              <a:rPr lang="ru-RU" sz="2400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2026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704" y="319942"/>
            <a:ext cx="2178050" cy="180086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/>
          <p:cNvSpPr txBox="1"/>
          <p:nvPr/>
        </p:nvSpPr>
        <p:spPr>
          <a:xfrm>
            <a:off x="378704" y="4149084"/>
            <a:ext cx="6182750" cy="2193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u="sng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5"/>
              </a:rPr>
              <a:t>office@caclimate.fund</a:t>
            </a: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u="none" strike="noStrike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6"/>
              </a:rPr>
              <a:t>www.caclimate.fund</a:t>
            </a: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+77083457971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010000, Қазақстан, Астана,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Мәңгілік Ел даң., 11/1, оф. 703 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BIN/БИН 240240900538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2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Центрально-Азиатский климатический фонд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8000" y="1584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00" y="1584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99" y="1548000"/>
            <a:ext cx="5976000" cy="9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Создан 22 февраля 2024 года </a:t>
            </a:r>
            <a:r>
              <a:rPr sz="1400" b="0">
                <a:solidFill>
                  <a:srgbClr val="404040"/>
                </a:solidFill>
                <a:latin typeface="Manrope"/>
              </a:rPr>
              <a:t>по инициативе Главы государства Касым-Жомарта Токаева, озвученной на 78-й сессии Генеральной Ассамблеи ООН.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" y="2682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8000" y="2682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999" y="2646000"/>
            <a:ext cx="5976000" cy="9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Юридическая форма Проектного офиса для Центральной Азии </a:t>
            </a:r>
            <a:r>
              <a:rPr sz="1400" b="0">
                <a:solidFill>
                  <a:srgbClr val="404040"/>
                </a:solidFill>
                <a:latin typeface="Manrope"/>
              </a:rPr>
              <a:t>по изменению климата и зелёной энергетике.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88000" y="3780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8000" y="3780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999" y="3744000"/>
            <a:ext cx="5976000" cy="9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Самостоятельная международная организация </a:t>
            </a:r>
            <a:r>
              <a:rPr sz="1400" b="0">
                <a:solidFill>
                  <a:srgbClr val="404040"/>
                </a:solidFill>
                <a:latin typeface="Manrope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8000" y="4878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8000" y="4878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999" y="4842000"/>
            <a:ext cx="5976000" cy="9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Региональные проекты </a:t>
            </a:r>
            <a:r>
              <a:rPr sz="1400" b="0">
                <a:solidFill>
                  <a:srgbClr val="404040"/>
                </a:solidFill>
                <a:latin typeface="Manrope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28000" y="1584000"/>
            <a:ext cx="4788000" cy="2736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28000" y="1584000"/>
            <a:ext cx="43200" cy="2736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43999" y="1692000"/>
            <a:ext cx="4464000" cy="187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1C3E6D"/>
                </a:solidFill>
                <a:latin typeface="Manrope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43999" y="3636000"/>
            <a:ext cx="4464000" cy="6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3B7D48"/>
                </a:solidFill>
                <a:latin typeface="Manrope"/>
              </a:rPr>
              <a:t>Президент Республики Казахстан К.-Ж. Токаев</a:t>
            </a:r>
          </a:p>
          <a:p>
            <a:pPr algn="l"/>
            <a:r>
              <a:rPr sz="1150" b="0">
                <a:solidFill>
                  <a:srgbClr val="404040"/>
                </a:solidFill>
                <a:latin typeface="Manrope"/>
              </a:rPr>
              <a:t>78-я сессия Генеральной Ассамблеи ООН, Нью-Йорк, 2023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28000" y="4536000"/>
            <a:ext cx="2232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3B7D48"/>
                </a:solidFill>
                <a:latin typeface="Manrope"/>
              </a:rPr>
              <a:t>2024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28000" y="4932000"/>
            <a:ext cx="2232000" cy="4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регистрация в МФЦА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04000" y="4536000"/>
            <a:ext cx="2232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56082"/>
                </a:solidFill>
                <a:latin typeface="Manrope"/>
              </a:rPr>
              <a:t>2025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04000" y="4932000"/>
            <a:ext cx="2232000" cy="4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положительное аудиторское заключение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Опыт и результаты Фонда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999" y="1584000"/>
            <a:ext cx="3780000" cy="2376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51999" y="1584000"/>
            <a:ext cx="378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0000" y="1692000"/>
            <a:ext cx="3564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Региональный экологический саммит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0000" y="2322000"/>
            <a:ext cx="2736000" cy="15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Астана, 22–24 апреля 2026 года: более 11 300 участников, 58 сессий, в том числе 21 высокого уровня.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Декларация глав государств Центральной Азии, п. 24 – поддержка Проектного офиса.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93999" y="1584000"/>
            <a:ext cx="3780000" cy="2376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3999" y="1584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02000" y="1692000"/>
            <a:ext cx="3564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56082"/>
                </a:solidFill>
                <a:latin typeface="Manrope"/>
              </a:rPr>
              <a:t>Аналитика для отрасли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02000" y="2322000"/>
            <a:ext cx="3564000" cy="15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Комплексный анализ рисков и возможностей устойчивого развития Центральной Азии для энергетического сектора Казахстана.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35999" y="1584000"/>
            <a:ext cx="3780000" cy="2376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35999" y="1584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3999" y="1692000"/>
            <a:ext cx="3564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ESG-аналитика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3999" y="2322000"/>
            <a:ext cx="3564000" cy="15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0000" y="2376000"/>
            <a:ext cx="702000" cy="658895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251999" y="4104000"/>
            <a:ext cx="5760000" cy="1655999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1999" y="4104000"/>
            <a:ext cx="5760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0000" y="4212000"/>
            <a:ext cx="554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C99A1E"/>
                </a:solidFill>
                <a:latin typeface="Manrope"/>
              </a:rPr>
              <a:t>Обучение и просвещение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0000" y="4626000"/>
            <a:ext cx="5544000" cy="1079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ESG-обучение совместно с ИАЦ ООС МЭПР.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73999" y="4104000"/>
            <a:ext cx="5760000" cy="1655999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73999" y="4104000"/>
            <a:ext cx="576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82000" y="4212000"/>
            <a:ext cx="554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Международные партнёрства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2000" y="4626000"/>
            <a:ext cx="5544000" cy="1079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Меморандумы с ЮНИСЕФ и ЮНКТАД.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Структура Фонда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20000" y="1548000"/>
            <a:ext cx="3564000" cy="342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20000" y="1548000"/>
            <a:ext cx="3564000" cy="34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nrope"/>
              </a:rPr>
              <a:t>Верховный попечитель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4800" y="1890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320000" y="2070000"/>
            <a:ext cx="3564000" cy="522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20000" y="2070000"/>
            <a:ext cx="3564000" cy="52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Главный исполнительный директор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Manrope"/>
              </a:rPr>
              <a:t>Председатель Управляющего совета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4800" y="259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655999" y="2772000"/>
            <a:ext cx="8892000" cy="18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56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24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4000" y="2951999"/>
            <a:ext cx="2736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2000" y="3060000"/>
            <a:ext cx="2520000" cy="97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50" b="1">
                <a:solidFill>
                  <a:srgbClr val="3B7D48"/>
                </a:solidFill>
                <a:latin typeface="Manrope"/>
              </a:rPr>
              <a:t>Проектный офис для Центральной Азии по изменению климата и зелёной энергетике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2000" y="4085999"/>
            <a:ext cx="2520000" cy="16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региональные климатические проекты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климатическая политика и сотрудничество стран ЦА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ESG, аналитика и оценка рисков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4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222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2000" y="2951999"/>
            <a:ext cx="2736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0000" y="3060000"/>
            <a:ext cx="2520000" cy="97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50" b="1">
                <a:solidFill>
                  <a:srgbClr val="156082"/>
                </a:solidFill>
                <a:latin typeface="Manrope"/>
              </a:rPr>
              <a:t>Проектный офис «Таза Қазақстан»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30000" y="4085999"/>
            <a:ext cx="2520000" cy="16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социология и аналитика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проектное управление и региональная координация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цифровое развитие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коммуникация и креатив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52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120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000" y="2951999"/>
            <a:ext cx="2736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28000" y="3060000"/>
            <a:ext cx="2520000" cy="97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50" b="1">
                <a:solidFill>
                  <a:srgbClr val="1C3E6D"/>
                </a:solidFill>
                <a:latin typeface="Manrope"/>
              </a:rPr>
              <a:t>Сеть экспертов Центральной Азии+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8000" y="4085999"/>
            <a:ext cx="2520000" cy="16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экспертно-аналитическое сопровождение климатической, экологической и энергетической повестки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заключения и рекомендации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50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018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018000" y="2951999"/>
            <a:ext cx="2736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26000" y="3060000"/>
            <a:ext cx="2520000" cy="97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50" b="1">
                <a:solidFill>
                  <a:srgbClr val="C99A1E"/>
                </a:solidFill>
                <a:latin typeface="Manrope"/>
              </a:rPr>
              <a:t>Административно-финансовый блок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26000" y="4085999"/>
            <a:ext cx="2520000" cy="16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административные вопросы, закупки, кадры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финансы и бухгалтерия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правовое сопровождение (МФЦА)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IT-поддержка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Информационная и аналитическая работа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999" y="1386000"/>
            <a:ext cx="11664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3B7D48"/>
                </a:solidFill>
                <a:latin typeface="Manrope"/>
              </a:rPr>
              <a:t>июнь – октябрь 2026 года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1999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1999" y="1674000"/>
            <a:ext cx="43200" cy="720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7999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3B7D48"/>
                </a:solidFill>
                <a:latin typeface="Manrope"/>
              </a:rPr>
              <a:t>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7999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пресс-релизов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7999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9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92000" y="1674000"/>
            <a:ext cx="43200" cy="720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8000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56082"/>
                </a:solidFill>
                <a:latin typeface="Manrope"/>
              </a:rPr>
              <a:t>120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18000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публикаций в СМИ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8000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сентябрь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932000" y="1674000"/>
            <a:ext cx="43200" cy="72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58000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58000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постов в соцсетях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58000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7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72000" y="1674000"/>
            <a:ext cx="43200" cy="720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98000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C99A1E"/>
                </a:solidFill>
                <a:latin typeface="Manrope"/>
              </a:rPr>
              <a:t>1 865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8000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подписчиков в 6 соцсетях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98000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в т.ч. журналисты и СМИ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1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612000" y="1674000"/>
            <a:ext cx="43200" cy="720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38000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3B7D48"/>
                </a:solidFill>
                <a:latin typeface="Manrope"/>
              </a:rPr>
              <a:t>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38000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материала на сайте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000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caclimate.fund, июнь – октябрь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1999" y="2484000"/>
            <a:ext cx="5742000" cy="271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1999" y="2484000"/>
            <a:ext cx="5742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0000" y="2538000"/>
            <a:ext cx="5526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Опубликованные исследования и аналитика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0000" y="2826000"/>
            <a:ext cx="5526000" cy="23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12.10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Климатические риски Казахстана: 12 видов опасностей, оценка 20 регионов – совместно с ESGQ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21.07  </a:t>
            </a:r>
            <a:r>
              <a:rPr sz="1050" b="0">
                <a:solidFill>
                  <a:srgbClr val="404040"/>
                </a:solidFill>
                <a:latin typeface="Manrope"/>
              </a:rPr>
              <a:t>Рекомендации KAZENERGY по снижению рисков устойчивого развития для энергетики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июль–окт.  </a:t>
            </a:r>
            <a:r>
              <a:rPr sz="1050" b="0">
                <a:solidFill>
                  <a:srgbClr val="404040"/>
                </a:solidFill>
                <a:latin typeface="Manrope"/>
              </a:rPr>
              <a:t>Серия «Как обеспечить Центральную Азию едой, водой, электроэнергией в условиях меняющегося климата», «Чем грозит изменение климата Центральной Азии»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27.10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Центральная Азия потеряла 44% площади ледников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июль–окт.  </a:t>
            </a:r>
            <a:r>
              <a:rPr sz="1050" b="0">
                <a:solidFill>
                  <a:srgbClr val="404040"/>
                </a:solidFill>
                <a:latin typeface="Manrope"/>
              </a:rPr>
              <a:t>Климатические аномалии: самое жаркое лето за 80 лет, рост погодных аномалий, последствия жары для здоровья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июнь–авг.  </a:t>
            </a:r>
            <a:r>
              <a:rPr sz="1050" b="0">
                <a:solidFill>
                  <a:srgbClr val="404040"/>
                </a:solidFill>
                <a:latin typeface="Manrope"/>
              </a:rPr>
              <a:t>Экологические данные: эмиссии (3,4 млн т), нарушения экологического законодательства, лесной фонд, редкие животные, нацпарки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02000" y="2484000"/>
            <a:ext cx="5850000" cy="271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02000" y="2484000"/>
            <a:ext cx="585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10000" y="2538000"/>
            <a:ext cx="563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56082"/>
                </a:solidFill>
                <a:latin typeface="Manrope"/>
              </a:rPr>
              <a:t>Научно-аналитические мероприятия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0000" y="2826000"/>
            <a:ext cx="5634000" cy="23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26.06  </a:t>
            </a:r>
            <a:r>
              <a:rPr sz="1050" b="0">
                <a:solidFill>
                  <a:srgbClr val="404040"/>
                </a:solidFill>
                <a:latin typeface="Manrope"/>
              </a:rPr>
              <a:t>Лондон: Высокий консультативный совет ORF по зелёному переходу, глава Фонда вошёл в его состав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30.06  </a:t>
            </a:r>
            <a:r>
              <a:rPr sz="1050" b="0">
                <a:solidFill>
                  <a:srgbClr val="404040"/>
                </a:solidFill>
                <a:latin typeface="Manrope"/>
              </a:rPr>
              <a:t>Гамбург: конференция по устойчивому развитию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август  </a:t>
            </a:r>
            <a:r>
              <a:rPr sz="1050" b="0">
                <a:solidFill>
                  <a:srgbClr val="404040"/>
                </a:solidFill>
                <a:latin typeface="Manrope"/>
              </a:rPr>
              <a:t>Курс «ESG-оценка предприятий Казахстана по официальным экологическим данным» совместно с ИАЦ ООС МЭПР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28–29.08  </a:t>
            </a:r>
            <a:r>
              <a:rPr sz="1050" b="0">
                <a:solidFill>
                  <a:srgbClr val="404040"/>
                </a:solidFill>
                <a:latin typeface="Manrope"/>
              </a:rPr>
              <a:t>Молодёжная климатическая конференция LCOY Kazakhstan 2026, Назарбаев Университет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28.09  </a:t>
            </a:r>
            <a:r>
              <a:rPr sz="1050" b="0">
                <a:solidFill>
                  <a:srgbClr val="404040"/>
                </a:solidFill>
                <a:latin typeface="Manrope"/>
              </a:rPr>
              <a:t>Меморандум о сотрудничестве с Рейтинговым агентством ESGQ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03–05.10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Нью-Дели: 5-й Экономический конклав Каутильи, выступление главы Фонда; аналитическая записка с рекомендациями для Казахстана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1999" y="5238000"/>
            <a:ext cx="11700000" cy="11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Публикации выходят на трёх языках: казахском, русском и английском.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Казахстанские СМИ (28): </a:t>
            </a:r>
            <a:r>
              <a:rPr sz="950" b="0">
                <a:solidFill>
                  <a:srgbClr val="404040"/>
                </a:solidFill>
                <a:latin typeface="Manrope"/>
              </a:rPr>
              <a:t>Казинформ, KazTag, Kazakhstan Today, Егемен Қазақстан, Egemen Times, Kursiv, Vlast, Orda, BAQ.kz, 24.kz, Улысмедиа, Lifenews, Qumash, Bes.Media, Kapital.kz, Informburo.kz, Exclusive, Inbusiness, DKnews, E-Karaganda, Newsline, Vesti.kz, Spik.kz, AIT Media, Astana Times, Ser-Per.kz, FBRK.kz, CZHR.kz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Зарубежные СМИ: </a:t>
            </a:r>
            <a:r>
              <a:rPr sz="950" b="0">
                <a:solidFill>
                  <a:srgbClr val="404040"/>
                </a:solidFill>
                <a:latin typeface="Manrope"/>
              </a:rPr>
              <a:t>Euronews, Ultima Bozza (Италия), Travel Tomorrow (Бельгия), Interfax (Россия), Central Asia News, Toshkent.Today (Узбекистан), Open.kg (Кыргызстан), ORIENT.tm (Туркменистан), Imruz и Pamir Inside (Таджикистан), Ekois.net, Getaway (ЮАР), Malaysia News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Стратегические цели и этапы развития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999" y="1512000"/>
            <a:ext cx="486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Цели по уставу Фонда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8000" y="18359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8000" y="18359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000" y="18180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Ускорение региональных климатических действий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88000" y="24552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88000" y="24552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4372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Региональная климатическая политика и сотрудничество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8000" y="30743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8000" y="30743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2000" y="3056399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Поддержка разработки политик и регулирования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8000" y="36936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8000" y="36936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2000" y="3675599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Исследования и инновации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88000" y="43128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8000" y="43128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2000" y="42948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Партнёрства с МФИ, НПО, бизнесом и наукой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88000" y="4932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88000" y="4932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2000" y="49140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Климатические данные и наука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88000" y="55512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8000" y="55512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2000" y="55332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Повышение осведомлённости и развитие потенциала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8000" y="1512000"/>
            <a:ext cx="648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Стратегия 2026–2035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28000" y="1835999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28000" y="1835999"/>
            <a:ext cx="43200" cy="1332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72000" y="1943999"/>
            <a:ext cx="136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56082"/>
                </a:solidFill>
                <a:latin typeface="Manrope"/>
              </a:rPr>
              <a:t>2026–2027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12000" y="1943999"/>
            <a:ext cx="489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Устойчивость и проектный портфель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000" y="2286000"/>
            <a:ext cx="4896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Сопровождение решений РЭС, ESG, «Таза Қазақстан», сеть экспертов, международное сотрудничество, тендеры и гранты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328000" y="3311999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28000" y="3311999"/>
            <a:ext cx="43200" cy="1332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72000" y="3420000"/>
            <a:ext cx="136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C3E6D"/>
                </a:solidFill>
                <a:latin typeface="Manrope"/>
              </a:rPr>
              <a:t>до 2028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12000" y="3420000"/>
            <a:ext cx="489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«Зелёный Think Tank» Центральной Азии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2000" y="3761999"/>
            <a:ext cx="4896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Собственная аналитическая платформа, регулярная аналитика, признанный центр компетенций региона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328000" y="4788000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328000" y="4788000"/>
            <a:ext cx="43200" cy="1332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72000" y="4896000"/>
            <a:ext cx="136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C99A1E"/>
                </a:solidFill>
                <a:latin typeface="Manrope"/>
              </a:rPr>
              <a:t>до 2035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00" y="4896000"/>
            <a:ext cx="489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«Суперфонд»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2000" y="5238000"/>
            <a:ext cx="4896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Направления деятельности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999" y="1440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Действующие направления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1999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1999" y="1710000"/>
            <a:ext cx="378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0000" y="181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3B7D48"/>
                </a:solidFill>
                <a:latin typeface="Manrope"/>
              </a:rPr>
              <a:t>Региональный экологический саммит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000" y="219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Сопровождение решений и инициатив РЭС-2026: 58 сессий как портфель проектов и программ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76000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76000" y="1710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84000" y="181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  <a:latin typeface="Manrope"/>
              </a:rPr>
              <a:t>«Таза Қазақстан»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4000" y="219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Проектный офис и оператор мероприятий инициативы; адаптация практик для стран Центральной Азии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00000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00000" y="1710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08000" y="181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ESG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08000" y="219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51999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1999" y="3060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0000" y="316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  <a:latin typeface="Manrope"/>
              </a:rPr>
              <a:t>Климатические и экологические риски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0000" y="354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Оценка физических и переходных рисков для государственных органов, организаций и инвесторов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76000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76000" y="3060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84000" y="316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Аналитика и «Зелёный Think Tank»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84000" y="354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00000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00000" y="3060000"/>
            <a:ext cx="3780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08000" y="316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C99A1E"/>
                </a:solidFill>
                <a:latin typeface="Manrope"/>
              </a:rPr>
              <a:t>Обучение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08000" y="354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Учебный центр Фонда: обучение и повышение квалификации по экологии, климату, устойчивому развитию и ESG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1999" y="4446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Перспективные направления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19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1999" y="4716000"/>
            <a:ext cx="2826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0000" y="4824000"/>
            <a:ext cx="261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3B7D48"/>
                </a:solidFill>
                <a:latin typeface="Manrope"/>
              </a:rPr>
              <a:t>Офсеты и климатическое финансирование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0000" y="5273999"/>
            <a:ext cx="2610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Отбор и сопровождение офсетных проектов, привлечение климатического и грантового финансирования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1931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93199" y="4716000"/>
            <a:ext cx="2826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301200" y="4824000"/>
            <a:ext cx="261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56082"/>
                </a:solidFill>
                <a:latin typeface="Manrope"/>
              </a:rPr>
              <a:t>Озоновый центр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01200" y="5273999"/>
            <a:ext cx="2610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Мониторинг озоноразрушающих веществ, техническая поддержка, проекты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34400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4400" y="4716000"/>
            <a:ext cx="2826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42400" y="4824000"/>
            <a:ext cx="261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C3E6D"/>
                </a:solidFill>
                <a:latin typeface="Manrope"/>
              </a:rPr>
              <a:t>«Зелёные школы» с ЮНИСЕФ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2400" y="5273999"/>
            <a:ext cx="2610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Региональная координация программы в Центральной Азии, волонтёрство, экологическое просвещение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755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75599" y="4716000"/>
            <a:ext cx="2826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3600" y="4824000"/>
            <a:ext cx="261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C99A1E"/>
                </a:solidFill>
                <a:latin typeface="Manrope"/>
              </a:rPr>
              <a:t>Цифровые решения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83600" y="5273999"/>
            <a:ext cx="2610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Платформы на основе ИИ и ГИС для мониторинга экологических и климатических данных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1381</TotalTime>
  <Words>2806</Words>
  <Application>Microsoft Macintosh PowerPoint</Application>
  <PresentationFormat>Широкоэкранный</PresentationFormat>
  <Paragraphs>379</Paragraphs>
  <Slides>26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40" baseType="lpstr">
      <vt:lpstr>Aptos</vt:lpstr>
      <vt:lpstr>Aptos Display</vt:lpstr>
      <vt:lpstr>Arial</vt:lpstr>
      <vt:lpstr>Arial Nova</vt:lpstr>
      <vt:lpstr>Calibri</vt:lpstr>
      <vt:lpstr>Cambria</vt:lpstr>
      <vt:lpstr>Courier New</vt:lpstr>
      <vt:lpstr>Inter</vt:lpstr>
      <vt:lpstr>Inter Bold</vt:lpstr>
      <vt:lpstr>Manrope</vt:lpstr>
      <vt:lpstr>Manrope ExtraBold</vt:lpstr>
      <vt:lpstr>Manrope Light</vt:lpstr>
      <vt:lpstr>Wingdings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  <Company>CACF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Центрально-Азиатский климатический фонд</dc:title>
  <dc:creator>YK2026 2019</dc:creator>
  <cp:lastModifiedBy>YERLIK KARAZHAN</cp:lastModifiedBy>
  <cp:revision>44</cp:revision>
  <dcterms:created xsi:type="dcterms:W3CDTF">2026-05-24T18:06:00Z</dcterms:created>
  <dcterms:modified xsi:type="dcterms:W3CDTF">2026-09-08T10:15:30Z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56953FD3133649F9A5ECDEB2F6CE4767_12</vt:lpwstr>
  </property>
  <property fmtid="{D5CDD505-2E9C-101B-9397-08002B2CF9AE}" pid="3" name="KSOProductBuildVer">
    <vt:lpwstr>1049-12.2.0.23203</vt:lpwstr>
  </property>
</Properties>
</file>