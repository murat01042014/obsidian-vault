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8"/>
  </p:notesMasterIdLst>
  <p:sldIdLst>
    <p:sldId id="265" r:id="rId2"/>
    <p:sldId id="308" r:id="rId33"/>
    <p:sldId id="310" r:id="rId35"/>
    <p:sldId id="313" r:id="rId38"/>
    <p:sldId id="312" r:id="rId37"/>
    <p:sldId id="309" r:id="rId34"/>
    <p:sldId id="311" r:id="rId36"/>
    <p:sldId id="266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  <a:srgbClr val="3B7D48"/>
    <a:srgbClr val="479398"/>
    <a:srgbClr val="BFD5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587"/>
    <p:restoredTop sz="94475"/>
  </p:normalViewPr>
  <p:slideViewPr>
    <p:cSldViewPr snapToGrid="0">
      <p:cViewPr varScale="1">
        <p:scale>
          <a:sx n="182" d="100"/>
          <a:sy n="182" d="100"/>
        </p:scale>
        <p:origin x="24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A0E622-3E01-144F-9ECD-D0AAB6AC4D3F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02B0C5-90C3-9C4B-8C2C-6021F84E466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  <a:t>9/8/26</a:t>
            </a:fld>
            <a:endParaRPr lang="en-US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  <a:t>9/8/26</a:t>
            </a:fld>
            <a:endParaRPr lang="en-US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C49F1-F1CE-1340-8047-D9DA1EB28984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FC49F1-F1CE-1340-8047-D9DA1EB28984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F217DE-4206-CA42-AFC6-D6533D4BF10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microsoft.com/office/2007/relationships/hdphoto" Target="../media/hdphoto6.wdp"/><Relationship Id="rId5" Type="http://schemas.openxmlformats.org/officeDocument/2006/relationships/hyperlink" Target="mailto:office@caclimate.fund" TargetMode="External"/><Relationship Id="rId6" Type="http://schemas.openxmlformats.org/officeDocument/2006/relationships/hyperlink" Target="http://www.caclimate.fund/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368696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43958" y="181957"/>
            <a:ext cx="7475279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noProof="1">
                <a:solidFill>
                  <a:schemeClr val="bg1"/>
                </a:solidFill>
                <a:latin typeface="Manrope" pitchFamily="2" charset="0"/>
                <a:cs typeface="Calibri" panose="020F0502020204030204" pitchFamily="34" charset="0"/>
              </a:rPr>
              <a:t>Центрально-Азиатский </a:t>
            </a:r>
            <a:r>
              <a:rPr lang="ru-RU" b="1" noProof="1">
                <a:solidFill>
                  <a:schemeClr val="bg1"/>
                </a:solidFill>
                <a:cs typeface="Calibri" panose="020F0502020204030204" pitchFamily="34" charset="0"/>
              </a:rPr>
              <a:t>климатический фонд</a:t>
            </a:r>
            <a:br>
              <a:rPr lang="ru-RU" b="1" noProof="1">
                <a:solidFill>
                  <a:schemeClr val="bg1"/>
                </a:solidFill>
                <a:cs typeface="Calibri" panose="020F0502020204030204" pitchFamily="34" charset="0"/>
              </a:rPr>
            </a:br>
            <a:r>
              <a:rPr lang="ru-RU" b="1" noProof="1">
                <a:solidFill>
                  <a:schemeClr val="bg1"/>
                </a:solidFill>
                <a:cs typeface="Calibri" panose="020F0502020204030204" pitchFamily="34" charset="0"/>
              </a:rPr>
              <a:t>Проектный офис для Центральной Азии </a:t>
            </a:r>
          </a:p>
          <a:p>
            <a:r>
              <a:rPr lang="ru-RU" b="1" noProof="1">
                <a:solidFill>
                  <a:schemeClr val="bg1"/>
                </a:solidFill>
                <a:cs typeface="Calibri" panose="020F0502020204030204" pitchFamily="34" charset="0"/>
              </a:rPr>
              <a:t>по изменению климата и зеленой энергетике</a:t>
            </a:r>
          </a:p>
          <a:p>
            <a:endParaRPr lang="ru-RU" sz="2400" b="1" noProof="1">
              <a:solidFill>
                <a:schemeClr val="bg1"/>
              </a:solidFill>
              <a:cs typeface="Calibri" panose="020F0502020204030204" pitchFamily="34" charset="0"/>
            </a:endParaRPr>
          </a:p>
          <a:p>
            <a:pPr algn="ctr"/>
            <a:endParaRPr lang="ru-RU" sz="2800" b="1" noProof="1">
              <a:solidFill>
                <a:schemeClr val="bg1"/>
              </a:solidFill>
              <a:cs typeface="Calibri" panose="020F0502020204030204" pitchFamily="34" charset="0"/>
            </a:endParaRPr>
          </a:p>
          <a:p>
            <a:pPr algn="ctr"/>
            <a:endParaRPr lang="ru-RU" sz="2800" b="1" noProof="1">
              <a:solidFill>
                <a:schemeClr val="bg1"/>
              </a:solidFill>
              <a:cs typeface="Calibri" panose="020F0502020204030204" pitchFamily="34" charset="0"/>
            </a:endParaRPr>
          </a:p>
          <a:p>
            <a:pPr algn="ctr"/>
            <a:endParaRPr lang="ru-RU" sz="2800" b="1" noProof="1">
              <a:solidFill>
                <a:schemeClr val="bg1"/>
              </a:solidFill>
              <a:cs typeface="Calibri" panose="020F0502020204030204" pitchFamily="34" charset="0"/>
            </a:endParaRPr>
          </a:p>
          <a:p>
            <a:r>
              <a:rPr lang="ru-RU" sz="4800" b="1" noProof="1">
                <a:solidFill>
                  <a:schemeClr val="bg1"/>
                </a:solidFill>
                <a:cs typeface="Calibri" panose="020F0502020204030204" pitchFamily="34" charset="0"/>
              </a:rPr>
              <a:t>О Фонде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1113" y="303599"/>
            <a:ext cx="2340887" cy="9567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97089" y="4767828"/>
            <a:ext cx="549491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 lang="ru-RU" sz="2400" noProof="1">
              <a:solidFill>
                <a:schemeClr val="bg1"/>
              </a:solidFill>
              <a:latin typeface="Manrope" pitchFamily="2" charset="0"/>
              <a:cs typeface="Calibri" panose="020F0502020204030204" pitchFamily="34" charset="0"/>
            </a:endParaRPr>
          </a:p>
          <a:p>
            <a:pPr algn="r"/>
            <a:endParaRPr lang="ru-RU" sz="2400" noProof="1">
              <a:solidFill>
                <a:schemeClr val="bg1"/>
              </a:solidFill>
              <a:latin typeface="Manrope" pitchFamily="2" charset="0"/>
              <a:cs typeface="Calibri" panose="020F0502020204030204" pitchFamily="34" charset="0"/>
            </a:endParaRPr>
          </a:p>
          <a:p>
            <a:pPr algn="r"/>
            <a:r>
              <a:rPr lang="ru-RU" sz="2400" noProof="1">
                <a:solidFill>
                  <a:schemeClr val="bg1"/>
                </a:solidFill>
                <a:latin typeface="Manrope" pitchFamily="2" charset="0"/>
                <a:cs typeface="Calibri" panose="020F0502020204030204" pitchFamily="34" charset="0"/>
              </a:rPr>
              <a:t>Астана</a:t>
            </a:r>
          </a:p>
          <a:p>
            <a:pPr algn="r"/>
            <a:r>
              <a:rPr lang="ru-RU" sz="2400" noProof="1">
                <a:solidFill>
                  <a:schemeClr val="bg1"/>
                </a:solidFill>
                <a:latin typeface="Manrope" pitchFamily="2" charset="0"/>
                <a:cs typeface="Calibri" panose="020F0502020204030204" pitchFamily="34" charset="0"/>
              </a:rPr>
              <a:t>2026 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368696" cy="685800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ChalkSketch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704" y="319942"/>
            <a:ext cx="2178050" cy="180086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/>
          <p:cNvSpPr txBox="1"/>
          <p:nvPr/>
        </p:nvSpPr>
        <p:spPr>
          <a:xfrm>
            <a:off x="378704" y="4149084"/>
            <a:ext cx="6182750" cy="2193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ru-RU" sz="1800" u="sng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  <a:hlinkClick r:id="rId5"/>
              </a:rPr>
              <a:t>office@caclimate.fund</a:t>
            </a:r>
            <a: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b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r>
              <a:rPr lang="ru-RU" sz="1800" u="none" strike="noStrike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  <a:hlinkClick r:id="rId6"/>
              </a:rPr>
              <a:t>www.caclimate.fund</a:t>
            </a:r>
            <a: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b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+77083457971</a:t>
            </a:r>
            <a:endParaRPr lang="ru-RU" sz="1400" kern="100" noProof="1">
              <a:solidFill>
                <a:schemeClr val="bg1"/>
              </a:solidFill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010000, Қазақстан, Астана, </a:t>
            </a:r>
            <a:b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Мәңгілік Ел даң., 11/1, оф. 703 </a:t>
            </a:r>
            <a:endParaRPr lang="ru-RU" sz="1400" kern="100" noProof="1">
              <a:solidFill>
                <a:schemeClr val="bg1"/>
              </a:solidFill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ru-RU" sz="1800" kern="100" noProof="1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BIN/БИН 240240900538</a:t>
            </a:r>
            <a:endParaRPr lang="ru-RU" sz="1400" kern="100" noProof="1">
              <a:solidFill>
                <a:schemeClr val="bg1"/>
              </a:solidFill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33301" t="65431" r="13372"/>
          <a:stretch>
            <a:fillRect/>
          </a:stretch>
        </p:blipFill>
        <p:spPr>
          <a:xfrm rot="5400000">
            <a:off x="8005118" y="2176850"/>
            <a:ext cx="6363730" cy="2010033"/>
          </a:xfrm>
          <a:prstGeom prst="rect">
            <a:avLst/>
          </a:prstGeom>
        </p:spPr>
      </p:pic>
      <p:sp>
        <p:nvSpPr>
          <p:cNvPr id="2" name="Прямоугольник с двумя скругленными соседними углами 1"/>
          <p:cNvSpPr/>
          <p:nvPr/>
        </p:nvSpPr>
        <p:spPr>
          <a:xfrm>
            <a:off x="0" y="6363730"/>
            <a:ext cx="12192000" cy="494270"/>
          </a:xfrm>
          <a:prstGeom prst="round2Same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10181967" y="6426199"/>
            <a:ext cx="1841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577D277B-74FC-B344-B076-978C2AC2D30E}" type="slidenum">
              <a:rPr lang="ru-RU" smtClean="0">
                <a:solidFill>
                  <a:schemeClr val="bg1"/>
                </a:solidFill>
              </a:rPr>
              <a:t>2</a:t>
            </a:fld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9" name="Прямая соединительная линия 8"/>
          <p:cNvCxnSpPr/>
          <p:nvPr/>
        </p:nvCxnSpPr>
        <p:spPr>
          <a:xfrm flipV="1">
            <a:off x="202858" y="957477"/>
            <a:ext cx="10177145" cy="6350"/>
          </a:xfrm>
          <a:prstGeom prst="line">
            <a:avLst/>
          </a:prstGeom>
          <a:ln>
            <a:solidFill>
              <a:srgbClr val="3B7D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392589" y="86608"/>
            <a:ext cx="6098344" cy="798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  <a:t>Центрально-Азиатский климатический фонд</a:t>
            </a:r>
            <a:b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</a:br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Проектный офис для Центральной Азии </a:t>
            </a:r>
          </a:p>
          <a:p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по изменению климата и зеленой энергетике</a:t>
            </a:r>
          </a:p>
        </p:txBody>
      </p:sp>
      <p:pic>
        <p:nvPicPr>
          <p:cNvPr id="8" name="Изображение 7" descr="Color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565" y="157480"/>
            <a:ext cx="1951355" cy="65722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51999" y="1062000"/>
            <a:ext cx="11664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>
                <a:solidFill>
                  <a:srgbClr val="1C3E6D"/>
                </a:solidFill>
                <a:latin typeface="Manrope"/>
              </a:rPr>
              <a:t>Центрально-Азиатский климатический фонд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88000" y="1584000"/>
            <a:ext cx="396000" cy="306000"/>
          </a:xfrm>
          <a:prstGeom prst="roundRect">
            <a:avLst>
              <a:gd name="adj" fmla="val 8000"/>
            </a:avLst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8000" y="1584000"/>
            <a:ext cx="396000" cy="30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999" y="1548000"/>
            <a:ext cx="5148000" cy="93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1">
                <a:solidFill>
                  <a:srgbClr val="1C3E6D"/>
                </a:solidFill>
                <a:latin typeface="Manrope"/>
              </a:rPr>
              <a:t>Создан 22 февраля 2024 года </a:t>
            </a:r>
            <a:r>
              <a:rPr sz="1300" b="0">
                <a:solidFill>
                  <a:srgbClr val="404040"/>
                </a:solidFill>
                <a:latin typeface="Manrope"/>
              </a:rPr>
              <a:t>по инициативе Главы государства Касым-Жомарта Токаева, озвученной на 78-й сессии Генеральной Ассамблеи ООН.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88000" y="2520000"/>
            <a:ext cx="396000" cy="306000"/>
          </a:xfrm>
          <a:prstGeom prst="roundRect">
            <a:avLst>
              <a:gd name="adj" fmla="val 8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88000" y="2520000"/>
            <a:ext cx="396000" cy="30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7999" y="2484000"/>
            <a:ext cx="5148000" cy="93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1">
                <a:solidFill>
                  <a:srgbClr val="1C3E6D"/>
                </a:solidFill>
                <a:latin typeface="Manrope"/>
              </a:rPr>
              <a:t>Юридическая форма </a:t>
            </a:r>
            <a:r>
              <a:rPr sz="1300" b="0">
                <a:solidFill>
                  <a:srgbClr val="404040"/>
                </a:solidFill>
                <a:latin typeface="Manrope"/>
              </a:rPr>
              <a:t>Проектного офиса для Центральной Азии по изменению климата и зелёной энергетике и Проектного офиса «Таза Қазақстан».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88000" y="3456000"/>
            <a:ext cx="396000" cy="306000"/>
          </a:xfrm>
          <a:prstGeom prst="roundRect">
            <a:avLst>
              <a:gd name="adj" fmla="val 8000"/>
            </a:avLst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88000" y="3456000"/>
            <a:ext cx="396000" cy="30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7999" y="3420000"/>
            <a:ext cx="5148000" cy="93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1">
                <a:solidFill>
                  <a:srgbClr val="1C3E6D"/>
                </a:solidFill>
                <a:latin typeface="Manrope"/>
              </a:rPr>
              <a:t>Самостоятельная международная организация </a:t>
            </a:r>
            <a:r>
              <a:rPr sz="1300" b="0">
                <a:solidFill>
                  <a:srgbClr val="404040"/>
                </a:solidFill>
                <a:latin typeface="Manrope"/>
              </a:rPr>
              <a:t>в юрисдикции Международного финансового центра «Астана»: английское право и международные стандарты управления.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88000" y="4392000"/>
            <a:ext cx="396000" cy="306000"/>
          </a:xfrm>
          <a:prstGeom prst="roundRect">
            <a:avLst>
              <a:gd name="adj" fmla="val 8000"/>
            </a:avLst>
          </a:prstGeom>
          <a:solidFill>
            <a:srgbClr val="C9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8000" y="4392000"/>
            <a:ext cx="396000" cy="30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7999" y="4356000"/>
            <a:ext cx="5148000" cy="93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1">
                <a:solidFill>
                  <a:srgbClr val="1C3E6D"/>
                </a:solidFill>
                <a:latin typeface="Manrope"/>
              </a:rPr>
              <a:t>Региональные проекты </a:t>
            </a:r>
            <a:r>
              <a:rPr sz="1300" b="0">
                <a:solidFill>
                  <a:srgbClr val="404040"/>
                </a:solidFill>
                <a:latin typeface="Manrope"/>
              </a:rPr>
              <a:t>в области изменения климата, устойчивого развития, зелёной энергетики и охраны окружающей среды совместно с государственными органами, международными организациями, бизнесом и научным сообществом.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8000" y="5616000"/>
            <a:ext cx="2448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>
                <a:solidFill>
                  <a:srgbClr val="3B7D48"/>
                </a:solidFill>
                <a:latin typeface="Manrope"/>
              </a:rPr>
              <a:t>2024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8000" y="5903999"/>
            <a:ext cx="2448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>
                <a:solidFill>
                  <a:srgbClr val="404040"/>
                </a:solidFill>
                <a:latin typeface="Manrope"/>
              </a:rPr>
              <a:t>регистрация в МФЦА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880000" y="5616000"/>
            <a:ext cx="2448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>
                <a:solidFill>
                  <a:srgbClr val="156082"/>
                </a:solidFill>
                <a:latin typeface="Manrope"/>
              </a:rPr>
              <a:t>2025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880000" y="5903999"/>
            <a:ext cx="2448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0">
                <a:solidFill>
                  <a:srgbClr val="404040"/>
                </a:solidFill>
                <a:latin typeface="Manrope"/>
              </a:rPr>
              <a:t>положительное аудиторское заключение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263999" y="1548000"/>
            <a:ext cx="5652000" cy="1134000"/>
          </a:xfrm>
          <a:prstGeom prst="roundRect">
            <a:avLst>
              <a:gd name="adj" fmla="val 8000"/>
            </a:avLst>
          </a:prstGeom>
          <a:solidFill>
            <a:srgbClr val="EE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263999" y="1548000"/>
            <a:ext cx="43200" cy="1134000"/>
          </a:xfrm>
          <a:prstGeom prst="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26000" y="1620000"/>
            <a:ext cx="54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50" b="1">
                <a:solidFill>
                  <a:srgbClr val="3B7D48"/>
                </a:solidFill>
                <a:latin typeface="Manrope"/>
              </a:rPr>
              <a:t>Президент Республики Казахстан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26000" y="1853999"/>
            <a:ext cx="5400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1C3E6D"/>
                </a:solidFill>
                <a:latin typeface="Manrope"/>
              </a:rPr>
              <a:t>«Инициатива Казахстана по открытию Проектного офиса для Центральной Азии по изменению климата и зелёной энергетики может способствовать решению этих вопросов…»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404040"/>
                </a:solidFill>
                <a:latin typeface="Manrope"/>
              </a:rPr>
              <a:t>78-я сессия Генеральной Ассамблеи ООН, Нью-Йорк, 2023 год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263999" y="2754000"/>
            <a:ext cx="5652000" cy="1026000"/>
          </a:xfrm>
          <a:prstGeom prst="roundRect">
            <a:avLst>
              <a:gd name="adj" fmla="val 8000"/>
            </a:avLst>
          </a:prstGeom>
          <a:solidFill>
            <a:srgbClr val="EC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263999" y="2754000"/>
            <a:ext cx="43200" cy="10260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26000" y="2826000"/>
            <a:ext cx="54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50" b="1">
                <a:solidFill>
                  <a:srgbClr val="156082"/>
                </a:solidFill>
                <a:latin typeface="Manrope"/>
              </a:rPr>
              <a:t>Декларация глав государств Центральной Азии, п. 24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26000" y="3060000"/>
            <a:ext cx="5400000" cy="66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1C3E6D"/>
                </a:solidFill>
                <a:latin typeface="Manrope"/>
              </a:rPr>
              <a:t>Президенты стран Центральной Азии выразили готовность к сотрудничеству в рамках Проектного офиса для Центральной Азии по изменению климата и зелёной энергетике.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404040"/>
                </a:solidFill>
                <a:latin typeface="Manrope"/>
              </a:rPr>
              <a:t>Региональный экологический саммит, Астана, 22–24 апреля 2026 года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263999" y="3851999"/>
            <a:ext cx="5652000" cy="11340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263999" y="3851999"/>
            <a:ext cx="43200" cy="1134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26000" y="3923999"/>
            <a:ext cx="54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50" b="1">
                <a:solidFill>
                  <a:srgbClr val="1C3E6D"/>
                </a:solidFill>
                <a:latin typeface="Manrope"/>
              </a:rPr>
              <a:t>Президент Республики Казахстан о «Таза Қазақстан»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26000" y="4157999"/>
            <a:ext cx="5400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1C3E6D"/>
                </a:solidFill>
                <a:latin typeface="Manrope"/>
              </a:rPr>
              <a:t>«Важно наполнить инициативу «Таза Қазақстан» качественно новым содержанием, свежими идеями и креативными проектами.»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404040"/>
                </a:solidFill>
                <a:latin typeface="Manrope"/>
              </a:rPr>
              <a:t>Первая сессия Қазақстан Халық Кеңесі, 24 сентября 2026 года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263999" y="5058000"/>
            <a:ext cx="5652000" cy="115200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63999" y="5058000"/>
            <a:ext cx="43200" cy="1152000"/>
          </a:xfrm>
          <a:prstGeom prst="rect">
            <a:avLst/>
          </a:prstGeom>
          <a:solidFill>
            <a:srgbClr val="C9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26000" y="5130000"/>
            <a:ext cx="54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50" b="1">
                <a:solidFill>
                  <a:srgbClr val="C99A1E"/>
                </a:solidFill>
                <a:latin typeface="Manrope"/>
              </a:rPr>
              <a:t>Проектный офис «Таза Қазақстан» на базе Фонда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26000" y="5364000"/>
            <a:ext cx="5400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1C3E6D"/>
                </a:solidFill>
                <a:latin typeface="Manrope"/>
              </a:rPr>
              <a:t>Вице-Президент Республики Казахстан согласовал размещение Проектного офиса «Таза Қазақстан» на базе Фонда по предложению МЭПР; Министерству поручено продолжить работу.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404040"/>
                </a:solidFill>
                <a:latin typeface="Manrope"/>
              </a:rPr>
              <a:t>Резолюция от 19 октября 2026 года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33301" t="65431" r="13372"/>
          <a:stretch>
            <a:fillRect/>
          </a:stretch>
        </p:blipFill>
        <p:spPr>
          <a:xfrm rot="5400000">
            <a:off x="8005118" y="2176850"/>
            <a:ext cx="6363730" cy="2010033"/>
          </a:xfrm>
          <a:prstGeom prst="rect">
            <a:avLst/>
          </a:prstGeom>
        </p:spPr>
      </p:pic>
      <p:sp>
        <p:nvSpPr>
          <p:cNvPr id="2" name="Прямоугольник с двумя скругленными соседними углами 1"/>
          <p:cNvSpPr/>
          <p:nvPr/>
        </p:nvSpPr>
        <p:spPr>
          <a:xfrm>
            <a:off x="0" y="6363730"/>
            <a:ext cx="12192000" cy="494270"/>
          </a:xfrm>
          <a:prstGeom prst="round2Same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10181967" y="6426199"/>
            <a:ext cx="1841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577D277B-74FC-B344-B076-978C2AC2D30E}" type="slidenum">
              <a:rPr lang="ru-RU" smtClean="0">
                <a:solidFill>
                  <a:schemeClr val="bg1"/>
                </a:solidFill>
              </a:rPr>
              <a:t>6</a:t>
            </a:fld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9" name="Прямая соединительная линия 8"/>
          <p:cNvCxnSpPr/>
          <p:nvPr/>
        </p:nvCxnSpPr>
        <p:spPr>
          <a:xfrm flipV="1">
            <a:off x="202858" y="957477"/>
            <a:ext cx="10177145" cy="6350"/>
          </a:xfrm>
          <a:prstGeom prst="line">
            <a:avLst/>
          </a:prstGeom>
          <a:ln>
            <a:solidFill>
              <a:srgbClr val="3B7D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392589" y="86608"/>
            <a:ext cx="6098344" cy="798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  <a:t>Центрально-Азиатский климатический фонд</a:t>
            </a:r>
            <a:b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</a:br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Проектный офис для Центральной Азии </a:t>
            </a:r>
          </a:p>
          <a:p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по изменению климата и зеленой энергетике</a:t>
            </a:r>
          </a:p>
        </p:txBody>
      </p:sp>
      <p:pic>
        <p:nvPicPr>
          <p:cNvPr id="8" name="Изображение 7" descr="Color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565" y="157480"/>
            <a:ext cx="1951355" cy="65722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51999" y="1062000"/>
            <a:ext cx="11664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>
                <a:solidFill>
                  <a:srgbClr val="1C3E6D"/>
                </a:solidFill>
                <a:latin typeface="Manrope"/>
              </a:rPr>
              <a:t>Опыт и результаты Фонда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1999" y="1584000"/>
            <a:ext cx="3780000" cy="2376000"/>
          </a:xfrm>
          <a:prstGeom prst="roundRect">
            <a:avLst>
              <a:gd name="adj" fmla="val 8000"/>
            </a:avLst>
          </a:prstGeom>
          <a:solidFill>
            <a:srgbClr val="EE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51999" y="1584000"/>
            <a:ext cx="3780000" cy="43200"/>
          </a:xfrm>
          <a:prstGeom prst="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0000" y="1692000"/>
            <a:ext cx="3564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3B7D48"/>
                </a:solidFill>
                <a:latin typeface="Manrope"/>
              </a:rPr>
              <a:t>Региональный экологический саммит 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0000" y="2322000"/>
            <a:ext cx="2736000" cy="158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404040"/>
                </a:solidFill>
                <a:latin typeface="Manrope"/>
              </a:rPr>
              <a:t>Астана, 22–24 апреля 2026 года: более 11 300 участников, 58 сессий, в том числе 21 высокого уровня.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04040"/>
                </a:solidFill>
                <a:latin typeface="Manrope"/>
              </a:rPr>
              <a:t>Декларация глав государств Центральной Азии, п. 24 – поддержка Проектного офиса.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93999" y="1584000"/>
            <a:ext cx="3780000" cy="2376000"/>
          </a:xfrm>
          <a:prstGeom prst="roundRect">
            <a:avLst>
              <a:gd name="adj" fmla="val 8000"/>
            </a:avLst>
          </a:prstGeom>
          <a:solidFill>
            <a:srgbClr val="EC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93999" y="1584000"/>
            <a:ext cx="3780000" cy="432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02000" y="1692000"/>
            <a:ext cx="3564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56082"/>
                </a:solidFill>
                <a:latin typeface="Manrope"/>
              </a:rPr>
              <a:t>Аналитика для отрасли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02000" y="2322000"/>
            <a:ext cx="3564000" cy="158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404040"/>
                </a:solidFill>
                <a:latin typeface="Manrope"/>
              </a:rPr>
              <a:t>Комплексный анализ рисков и возможностей устойчивого развития Центральной Азии для энергетического сектора Казахстана.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135999" y="1584000"/>
            <a:ext cx="3780000" cy="23760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135999" y="1584000"/>
            <a:ext cx="3780000" cy="432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43999" y="1692000"/>
            <a:ext cx="3564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C3E6D"/>
                </a:solidFill>
                <a:latin typeface="Manrope"/>
              </a:rPr>
              <a:t>ESG-аналитика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43999" y="2322000"/>
            <a:ext cx="3564000" cy="158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404040"/>
                </a:solidFill>
                <a:latin typeface="Manrope"/>
              </a:rPr>
              <a:t>Методология оценки ESG-зрелости компаний на основе IFRS S1/S2, SASB, GRI, принципа двойной существенности и около 800 НПА Республики Казахстан.</a:t>
            </a:r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0000" y="2376000"/>
            <a:ext cx="702000" cy="658895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251999" y="4104000"/>
            <a:ext cx="5760000" cy="1655999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51999" y="4104000"/>
            <a:ext cx="5760000" cy="43200"/>
          </a:xfrm>
          <a:prstGeom prst="rect">
            <a:avLst/>
          </a:prstGeom>
          <a:solidFill>
            <a:srgbClr val="C9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0000" y="4212000"/>
            <a:ext cx="5544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C99A1E"/>
                </a:solidFill>
                <a:latin typeface="Manrope"/>
              </a:rPr>
              <a:t>Обучение и просвещение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0000" y="4626000"/>
            <a:ext cx="5544000" cy="1079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404040"/>
                </a:solidFill>
                <a:latin typeface="Manrope"/>
              </a:rPr>
              <a:t>ESG-обучение совместно с ИАЦ ООС МЭПР.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173999" y="4104000"/>
            <a:ext cx="5760000" cy="1655999"/>
          </a:xfrm>
          <a:prstGeom prst="roundRect">
            <a:avLst>
              <a:gd name="adj" fmla="val 8000"/>
            </a:avLst>
          </a:prstGeom>
          <a:solidFill>
            <a:srgbClr val="EE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173999" y="4104000"/>
            <a:ext cx="5760000" cy="43200"/>
          </a:xfrm>
          <a:prstGeom prst="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82000" y="4212000"/>
            <a:ext cx="5544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3B7D48"/>
                </a:solidFill>
                <a:latin typeface="Manrope"/>
              </a:rPr>
              <a:t>Международные партнёрства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82000" y="4626000"/>
            <a:ext cx="5544000" cy="1079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404040"/>
                </a:solidFill>
                <a:latin typeface="Manrope"/>
              </a:rPr>
              <a:t>Меморандумы с ЮНИСЕФ и ЮНКТАД.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04040"/>
                </a:solidFill>
                <a:latin typeface="Manrope"/>
              </a:rPr>
              <a:t>Главный исполнительный директор Фонда – представитель Центральной Азии в Высоком совете ORF по зелёному переходу.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33301" t="65431" r="13372"/>
          <a:stretch>
            <a:fillRect/>
          </a:stretch>
        </p:blipFill>
        <p:spPr>
          <a:xfrm rot="5400000">
            <a:off x="8005118" y="2176850"/>
            <a:ext cx="6363730" cy="2010033"/>
          </a:xfrm>
          <a:prstGeom prst="rect">
            <a:avLst/>
          </a:prstGeom>
        </p:spPr>
      </p:pic>
      <p:sp>
        <p:nvSpPr>
          <p:cNvPr id="2" name="Прямоугольник с двумя скругленными соседними углами 1"/>
          <p:cNvSpPr/>
          <p:nvPr/>
        </p:nvSpPr>
        <p:spPr>
          <a:xfrm>
            <a:off x="0" y="6363730"/>
            <a:ext cx="12192000" cy="494270"/>
          </a:xfrm>
          <a:prstGeom prst="round2Same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10181967" y="6426199"/>
            <a:ext cx="1841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577D277B-74FC-B344-B076-978C2AC2D30E}" type="slidenum">
              <a:rPr lang="ru-RU" smtClean="0">
                <a:solidFill>
                  <a:schemeClr val="bg1"/>
                </a:solidFill>
              </a:rPr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9" name="Прямая соединительная линия 8"/>
          <p:cNvCxnSpPr/>
          <p:nvPr/>
        </p:nvCxnSpPr>
        <p:spPr>
          <a:xfrm flipV="1">
            <a:off x="202858" y="957477"/>
            <a:ext cx="10177145" cy="6350"/>
          </a:xfrm>
          <a:prstGeom prst="line">
            <a:avLst/>
          </a:prstGeom>
          <a:ln>
            <a:solidFill>
              <a:srgbClr val="3B7D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392589" y="86608"/>
            <a:ext cx="6098344" cy="798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  <a:t>Центрально-Азиатский климатический фонд</a:t>
            </a:r>
            <a:b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</a:br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Проектный офис для Центральной Азии </a:t>
            </a:r>
          </a:p>
          <a:p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по изменению климата и зеленой энергетике</a:t>
            </a:r>
          </a:p>
        </p:txBody>
      </p:sp>
      <p:pic>
        <p:nvPicPr>
          <p:cNvPr id="8" name="Изображение 7" descr="Color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565" y="157480"/>
            <a:ext cx="1951355" cy="65722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51999" y="1062000"/>
            <a:ext cx="11664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>
                <a:solidFill>
                  <a:srgbClr val="1C3E6D"/>
                </a:solidFill>
                <a:latin typeface="Manrope"/>
              </a:rPr>
              <a:t>Структура Фонда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20000" y="1548000"/>
            <a:ext cx="3564000" cy="342000"/>
          </a:xfrm>
          <a:prstGeom prst="roundRect">
            <a:avLst>
              <a:gd name="adj" fmla="val 8000"/>
            </a:avLst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20000" y="1548000"/>
            <a:ext cx="3564000" cy="342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anrope"/>
              </a:rPr>
              <a:t>Верховный попечитель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4800" y="1890000"/>
            <a:ext cx="18000" cy="180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320000" y="2070000"/>
            <a:ext cx="3564000" cy="522000"/>
          </a:xfrm>
          <a:prstGeom prst="roundRect">
            <a:avLst>
              <a:gd name="adj" fmla="val 8000"/>
            </a:avLst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20000" y="2070000"/>
            <a:ext cx="3564000" cy="522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Главный исполнительный директор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Manrope"/>
              </a:rPr>
              <a:t>Председатель Управляющего совета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4800" y="2592000"/>
            <a:ext cx="18000" cy="180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655999" y="2772000"/>
            <a:ext cx="8892000" cy="18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56000" y="2772000"/>
            <a:ext cx="18000" cy="180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324000" y="2951999"/>
            <a:ext cx="2736000" cy="2808000"/>
          </a:xfrm>
          <a:prstGeom prst="roundRect">
            <a:avLst>
              <a:gd name="adj" fmla="val 8000"/>
            </a:avLst>
          </a:prstGeom>
          <a:solidFill>
            <a:srgbClr val="EE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24000" y="2951999"/>
            <a:ext cx="2736000" cy="43200"/>
          </a:xfrm>
          <a:prstGeom prst="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2000" y="3060000"/>
            <a:ext cx="2520000" cy="97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50" b="1">
                <a:solidFill>
                  <a:srgbClr val="3B7D48"/>
                </a:solidFill>
                <a:latin typeface="Manrope"/>
              </a:rPr>
              <a:t>Проектный офис для Центральной Азии по изменению климата и зелёной энергетике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2000" y="4085999"/>
            <a:ext cx="2520000" cy="162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региональные климатические проекты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климатическая политика и сотрудничество стран ЦА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ESG, аналитика и оценка рисков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54000" y="2772000"/>
            <a:ext cx="18000" cy="180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3222000" y="2951999"/>
            <a:ext cx="2736000" cy="2808000"/>
          </a:xfrm>
          <a:prstGeom prst="roundRect">
            <a:avLst>
              <a:gd name="adj" fmla="val 8000"/>
            </a:avLst>
          </a:prstGeom>
          <a:solidFill>
            <a:srgbClr val="EC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222000" y="2951999"/>
            <a:ext cx="2736000" cy="432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330000" y="3060000"/>
            <a:ext cx="2520000" cy="97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50" b="1">
                <a:solidFill>
                  <a:srgbClr val="156082"/>
                </a:solidFill>
                <a:latin typeface="Manrope"/>
              </a:rPr>
              <a:t>Проектный офис «Таза Қазақстан»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330000" y="4085999"/>
            <a:ext cx="2520000" cy="162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социология и аналитика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проектное управление и региональная координация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цифровое развитие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коммуникация и креатив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452000" y="2772000"/>
            <a:ext cx="18000" cy="180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120000" y="2951999"/>
            <a:ext cx="2736000" cy="28080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20000" y="2951999"/>
            <a:ext cx="2736000" cy="432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28000" y="3060000"/>
            <a:ext cx="2520000" cy="97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50" b="1">
                <a:solidFill>
                  <a:srgbClr val="1C3E6D"/>
                </a:solidFill>
                <a:latin typeface="Manrope"/>
              </a:rPr>
              <a:t>Сеть экспертов Центральной Азии+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28000" y="4085999"/>
            <a:ext cx="2520000" cy="162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экспертно-аналитическое сопровождение климатической, экологической и энергетической повестки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заключения и рекомендации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50000" y="2772000"/>
            <a:ext cx="18000" cy="180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018000" y="2951999"/>
            <a:ext cx="2736000" cy="280800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018000" y="2951999"/>
            <a:ext cx="2736000" cy="43200"/>
          </a:xfrm>
          <a:prstGeom prst="rect">
            <a:avLst/>
          </a:prstGeom>
          <a:solidFill>
            <a:srgbClr val="C9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26000" y="3060000"/>
            <a:ext cx="2520000" cy="97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50" b="1">
                <a:solidFill>
                  <a:srgbClr val="C99A1E"/>
                </a:solidFill>
                <a:latin typeface="Manrope"/>
              </a:rPr>
              <a:t>Административно-финансовый блок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26000" y="4085999"/>
            <a:ext cx="2520000" cy="162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административные вопросы, закупки, кадры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финансы и бухгалтерия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правовое сопровождение (МФЦА)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Manrope"/>
              </a:rPr>
              <a:t>• IT-поддержка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33301" t="65431" r="13372"/>
          <a:stretch>
            <a:fillRect/>
          </a:stretch>
        </p:blipFill>
        <p:spPr>
          <a:xfrm rot="5400000">
            <a:off x="8005118" y="2176850"/>
            <a:ext cx="6363730" cy="2010033"/>
          </a:xfrm>
          <a:prstGeom prst="rect">
            <a:avLst/>
          </a:prstGeom>
        </p:spPr>
      </p:pic>
      <p:sp>
        <p:nvSpPr>
          <p:cNvPr id="2" name="Прямоугольник с двумя скругленными соседними углами 1"/>
          <p:cNvSpPr/>
          <p:nvPr/>
        </p:nvSpPr>
        <p:spPr>
          <a:xfrm>
            <a:off x="0" y="6363730"/>
            <a:ext cx="12192000" cy="494270"/>
          </a:xfrm>
          <a:prstGeom prst="round2Same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10181967" y="6426199"/>
            <a:ext cx="1841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577D277B-74FC-B344-B076-978C2AC2D30E}" type="slidenum">
              <a:rPr lang="ru-RU" smtClean="0">
                <a:solidFill>
                  <a:schemeClr val="bg1"/>
                </a:solidFill>
              </a:rPr>
              <a:t>7</a:t>
            </a:fld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9" name="Прямая соединительная линия 8"/>
          <p:cNvCxnSpPr/>
          <p:nvPr/>
        </p:nvCxnSpPr>
        <p:spPr>
          <a:xfrm flipV="1">
            <a:off x="202858" y="957477"/>
            <a:ext cx="10177145" cy="6350"/>
          </a:xfrm>
          <a:prstGeom prst="line">
            <a:avLst/>
          </a:prstGeom>
          <a:ln>
            <a:solidFill>
              <a:srgbClr val="3B7D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392589" y="86608"/>
            <a:ext cx="6098344" cy="798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  <a:t>Центрально-Азиатский климатический фонд</a:t>
            </a:r>
            <a:b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</a:br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Проектный офис для Центральной Азии </a:t>
            </a:r>
          </a:p>
          <a:p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по изменению климата и зеленой энергетике</a:t>
            </a:r>
          </a:p>
        </p:txBody>
      </p:sp>
      <p:pic>
        <p:nvPicPr>
          <p:cNvPr id="8" name="Изображение 7" descr="Color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565" y="157480"/>
            <a:ext cx="1951355" cy="65722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51999" y="1062000"/>
            <a:ext cx="11664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>
                <a:solidFill>
                  <a:srgbClr val="1C3E6D"/>
                </a:solidFill>
                <a:latin typeface="Manrope"/>
              </a:rPr>
              <a:t>Информационная и аналитическая работа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999" y="1386000"/>
            <a:ext cx="11664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>
                <a:solidFill>
                  <a:srgbClr val="3B7D48"/>
                </a:solidFill>
                <a:latin typeface="Manrope"/>
              </a:rPr>
              <a:t>июнь – октябрь 2026 года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51999" y="1674000"/>
            <a:ext cx="2232000" cy="720000"/>
          </a:xfrm>
          <a:prstGeom prst="roundRect">
            <a:avLst>
              <a:gd name="adj" fmla="val 8000"/>
            </a:avLst>
          </a:prstGeom>
          <a:solidFill>
            <a:srgbClr val="EE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51999" y="1674000"/>
            <a:ext cx="43200" cy="720000"/>
          </a:xfrm>
          <a:prstGeom prst="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7999" y="1692000"/>
            <a:ext cx="2052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>
                <a:solidFill>
                  <a:srgbClr val="3B7D48"/>
                </a:solidFill>
                <a:latin typeface="Manrope"/>
              </a:rPr>
              <a:t>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7999" y="2015999"/>
            <a:ext cx="2052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C3E6D"/>
                </a:solidFill>
                <a:latin typeface="Manrope"/>
              </a:rPr>
              <a:t>пресс-релизов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7999" y="2178000"/>
            <a:ext cx="2052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404040"/>
                </a:solidFill>
                <a:latin typeface="Manrope"/>
              </a:rPr>
              <a:t>июнь – октябрь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592000" y="1674000"/>
            <a:ext cx="2232000" cy="720000"/>
          </a:xfrm>
          <a:prstGeom prst="roundRect">
            <a:avLst>
              <a:gd name="adj" fmla="val 8000"/>
            </a:avLst>
          </a:prstGeom>
          <a:solidFill>
            <a:srgbClr val="EC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592000" y="1674000"/>
            <a:ext cx="43200" cy="7200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18000" y="1692000"/>
            <a:ext cx="2052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>
                <a:solidFill>
                  <a:srgbClr val="156082"/>
                </a:solidFill>
                <a:latin typeface="Manrope"/>
              </a:rPr>
              <a:t>127+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718000" y="2015999"/>
            <a:ext cx="2052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C3E6D"/>
                </a:solidFill>
                <a:latin typeface="Manrope"/>
              </a:rPr>
              <a:t>публикаций в СМИ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18000" y="2178000"/>
            <a:ext cx="2052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404040"/>
                </a:solidFill>
                <a:latin typeface="Manrope"/>
              </a:rPr>
              <a:t>июнь – октябрь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932000" y="1674000"/>
            <a:ext cx="2232000" cy="7200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932000" y="1674000"/>
            <a:ext cx="43200" cy="720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58000" y="1692000"/>
            <a:ext cx="2052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>
                <a:solidFill>
                  <a:srgbClr val="1C3E6D"/>
                </a:solidFill>
                <a:latin typeface="Manrope"/>
              </a:rPr>
              <a:t>130+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58000" y="2015999"/>
            <a:ext cx="2052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C3E6D"/>
                </a:solidFill>
                <a:latin typeface="Manrope"/>
              </a:rPr>
              <a:t>постов в соцсетях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58000" y="2178000"/>
            <a:ext cx="2052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404040"/>
                </a:solidFill>
                <a:latin typeface="Manrope"/>
              </a:rPr>
              <a:t>июнь – октябрь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272000" y="1674000"/>
            <a:ext cx="2232000" cy="72000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72000" y="1674000"/>
            <a:ext cx="43200" cy="720000"/>
          </a:xfrm>
          <a:prstGeom prst="rect">
            <a:avLst/>
          </a:prstGeom>
          <a:solidFill>
            <a:srgbClr val="C9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98000" y="1692000"/>
            <a:ext cx="2052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>
                <a:solidFill>
                  <a:srgbClr val="C99A1E"/>
                </a:solidFill>
                <a:latin typeface="Manrope"/>
              </a:rPr>
              <a:t>1 865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98000" y="2015999"/>
            <a:ext cx="2052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C3E6D"/>
                </a:solidFill>
                <a:latin typeface="Manrope"/>
              </a:rPr>
              <a:t>подписчиков в 6 соцсетях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98000" y="2178000"/>
            <a:ext cx="2052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404040"/>
                </a:solidFill>
                <a:latin typeface="Manrope"/>
              </a:rPr>
              <a:t>в т.ч. журналисты и СМИ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612000" y="1674000"/>
            <a:ext cx="2232000" cy="720000"/>
          </a:xfrm>
          <a:prstGeom prst="roundRect">
            <a:avLst>
              <a:gd name="adj" fmla="val 8000"/>
            </a:avLst>
          </a:prstGeom>
          <a:solidFill>
            <a:srgbClr val="EE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612000" y="1674000"/>
            <a:ext cx="43200" cy="720000"/>
          </a:xfrm>
          <a:prstGeom prst="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38000" y="1692000"/>
            <a:ext cx="2052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>
                <a:solidFill>
                  <a:srgbClr val="3B7D48"/>
                </a:solidFill>
                <a:latin typeface="Manrope"/>
              </a:rPr>
              <a:t>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38000" y="2015999"/>
            <a:ext cx="2052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C3E6D"/>
                </a:solidFill>
                <a:latin typeface="Manrope"/>
              </a:rPr>
              <a:t>материала на сайте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738000" y="2178000"/>
            <a:ext cx="2052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404040"/>
                </a:solidFill>
                <a:latin typeface="Manrope"/>
              </a:rPr>
              <a:t>caclimate.fund, июнь – октябрь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51999" y="2484000"/>
            <a:ext cx="5742000" cy="2718000"/>
          </a:xfrm>
          <a:prstGeom prst="roundRect">
            <a:avLst>
              <a:gd name="adj" fmla="val 8000"/>
            </a:avLst>
          </a:prstGeom>
          <a:solidFill>
            <a:srgbClr val="EE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51999" y="2484000"/>
            <a:ext cx="5742000" cy="43200"/>
          </a:xfrm>
          <a:prstGeom prst="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0000" y="2538000"/>
            <a:ext cx="5526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3B7D48"/>
                </a:solidFill>
                <a:latin typeface="Manrope"/>
              </a:rPr>
              <a:t>Опубликованные исследования и аналитика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0000" y="2826000"/>
            <a:ext cx="5526000" cy="23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3B7D48"/>
                </a:solidFill>
                <a:latin typeface="Manrope"/>
              </a:rPr>
              <a:t>12.10  </a:t>
            </a:r>
            <a:r>
              <a:rPr sz="1050" b="0">
                <a:solidFill>
                  <a:srgbClr val="404040"/>
                </a:solidFill>
                <a:latin typeface="Manrope"/>
              </a:rPr>
              <a:t>Климатические риски Казахстана: 12 видов опасностей, оценка 20 регионов – совместно с ESGQ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3B7D48"/>
                </a:solidFill>
                <a:latin typeface="Manrope"/>
              </a:rPr>
              <a:t>21.07  </a:t>
            </a:r>
            <a:r>
              <a:rPr sz="1050" b="0">
                <a:solidFill>
                  <a:srgbClr val="404040"/>
                </a:solidFill>
                <a:latin typeface="Manrope"/>
              </a:rPr>
              <a:t>Рекомендации KAZENERGY по снижению рисков устойчивого развития для энергетики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3B7D48"/>
                </a:solidFill>
                <a:latin typeface="Manrope"/>
              </a:rPr>
              <a:t>июль–окт.  </a:t>
            </a:r>
            <a:r>
              <a:rPr sz="1050" b="0">
                <a:solidFill>
                  <a:srgbClr val="404040"/>
                </a:solidFill>
                <a:latin typeface="Manrope"/>
              </a:rPr>
              <a:t>Серия «Как обеспечить Центральную Азию едой, водой, электроэнергией в условиях меняющегося климата», «Чем грозит изменение климата Центральной Азии»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3B7D48"/>
                </a:solidFill>
                <a:latin typeface="Manrope"/>
              </a:rPr>
              <a:t>27.10  </a:t>
            </a:r>
            <a:r>
              <a:rPr sz="1050" b="0">
                <a:solidFill>
                  <a:srgbClr val="404040"/>
                </a:solidFill>
                <a:latin typeface="Manrope"/>
              </a:rPr>
              <a:t>Центральная Азия потеряла 44% площади ледников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3B7D48"/>
                </a:solidFill>
                <a:latin typeface="Manrope"/>
              </a:rPr>
              <a:t>июль–окт.  </a:t>
            </a:r>
            <a:r>
              <a:rPr sz="1050" b="0">
                <a:solidFill>
                  <a:srgbClr val="404040"/>
                </a:solidFill>
                <a:latin typeface="Manrope"/>
              </a:rPr>
              <a:t>Климатические аномалии: самое жаркое лето за 80 лет, рост погодных аномалий, последствия жары для здоровья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3B7D48"/>
                </a:solidFill>
                <a:latin typeface="Manrope"/>
              </a:rPr>
              <a:t>июнь–авг.  </a:t>
            </a:r>
            <a:r>
              <a:rPr sz="1050" b="0">
                <a:solidFill>
                  <a:srgbClr val="404040"/>
                </a:solidFill>
                <a:latin typeface="Manrope"/>
              </a:rPr>
              <a:t>Экологические данные: эмиссии (3,4 млн т), нарушения экологического законодательства, лесной фонд, редкие животные, нацпарки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02000" y="2484000"/>
            <a:ext cx="5850000" cy="2718000"/>
          </a:xfrm>
          <a:prstGeom prst="roundRect">
            <a:avLst>
              <a:gd name="adj" fmla="val 8000"/>
            </a:avLst>
          </a:prstGeom>
          <a:solidFill>
            <a:srgbClr val="EC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102000" y="2484000"/>
            <a:ext cx="5850000" cy="432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10000" y="2538000"/>
            <a:ext cx="5634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56082"/>
                </a:solidFill>
                <a:latin typeface="Manrope"/>
              </a:rPr>
              <a:t>Научно-аналитические мероприятия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0000" y="2826000"/>
            <a:ext cx="5634000" cy="23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56082"/>
                </a:solidFill>
                <a:latin typeface="Manrope"/>
              </a:rPr>
              <a:t>26.06  </a:t>
            </a:r>
            <a:r>
              <a:rPr sz="1050" b="0">
                <a:solidFill>
                  <a:srgbClr val="404040"/>
                </a:solidFill>
                <a:latin typeface="Manrope"/>
              </a:rPr>
              <a:t>Лондон: Высокий консультативный совет ORF по зелёному переходу, глава Фонда вошёл в его состав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156082"/>
                </a:solidFill>
                <a:latin typeface="Manrope"/>
              </a:rPr>
              <a:t>30.06  </a:t>
            </a:r>
            <a:r>
              <a:rPr sz="1050" b="0">
                <a:solidFill>
                  <a:srgbClr val="404040"/>
                </a:solidFill>
                <a:latin typeface="Manrope"/>
              </a:rPr>
              <a:t>Гамбург: конференция по устойчивому развитию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156082"/>
                </a:solidFill>
                <a:latin typeface="Manrope"/>
              </a:rPr>
              <a:t>август  </a:t>
            </a:r>
            <a:r>
              <a:rPr sz="1050" b="0">
                <a:solidFill>
                  <a:srgbClr val="404040"/>
                </a:solidFill>
                <a:latin typeface="Manrope"/>
              </a:rPr>
              <a:t>Курс «ESG-оценка предприятий Казахстана по официальным экологическим данным» совместно с ИАЦ ООС МЭПР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156082"/>
                </a:solidFill>
                <a:latin typeface="Manrope"/>
              </a:rPr>
              <a:t>28–29.08  </a:t>
            </a:r>
            <a:r>
              <a:rPr sz="1050" b="0">
                <a:solidFill>
                  <a:srgbClr val="404040"/>
                </a:solidFill>
                <a:latin typeface="Manrope"/>
              </a:rPr>
              <a:t>Молодёжная климатическая конференция LCOY Kazakhstan 2026, Назарбаев Университет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156082"/>
                </a:solidFill>
                <a:latin typeface="Manrope"/>
              </a:rPr>
              <a:t>28.09  </a:t>
            </a:r>
            <a:r>
              <a:rPr sz="1050" b="0">
                <a:solidFill>
                  <a:srgbClr val="404040"/>
                </a:solidFill>
                <a:latin typeface="Manrope"/>
              </a:rPr>
              <a:t>Меморандум о сотрудничестве с Рейтинговым агентством ESGQ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156082"/>
                </a:solidFill>
                <a:latin typeface="Manrope"/>
              </a:rPr>
              <a:t>03–05.10  </a:t>
            </a:r>
            <a:r>
              <a:rPr sz="1050" b="0">
                <a:solidFill>
                  <a:srgbClr val="404040"/>
                </a:solidFill>
                <a:latin typeface="Manrope"/>
              </a:rPr>
              <a:t>Нью-Дели: 5-й Экономический конклав Каутильи, выступление главы Фонда; аналитическая записка с рекомендациями для Казахстана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51999" y="5238000"/>
            <a:ext cx="11700000" cy="11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C3E6D"/>
                </a:solidFill>
                <a:latin typeface="Manrope"/>
              </a:rPr>
              <a:t>Публикации выходят на трёх языках: казахском, русском и английском.</a:t>
            </a:r>
          </a:p>
          <a:p>
            <a:pPr algn="l">
              <a:spcAft>
                <a:spcPts val="200"/>
              </a:spcAft>
            </a:pPr>
            <a:r>
              <a:rPr sz="950" b="1">
                <a:solidFill>
                  <a:srgbClr val="1C3E6D"/>
                </a:solidFill>
                <a:latin typeface="Manrope"/>
              </a:rPr>
              <a:t>Казахстанские СМИ (28): </a:t>
            </a:r>
            <a:r>
              <a:rPr sz="950" b="0">
                <a:solidFill>
                  <a:srgbClr val="404040"/>
                </a:solidFill>
                <a:latin typeface="Manrope"/>
              </a:rPr>
              <a:t>Казинформ, KazTag, Kazakhstan Today, Егемен Қазақстан, Egemen Times, Kursiv, Vlast, Orda, BAQ.kz, 24.kz, Улысмедиа, Lifenews, Qumash, Bes.Media, Kapital.kz, Informburo.kz, Exclusive, Inbusiness, DKnews, E-Karaganda, Newsline, Vesti.kz, Spik.kz, AIT Media, Astana Times, Ser-Per.kz, FBRK.kz, CZHR.kz</a:t>
            </a:r>
          </a:p>
          <a:p>
            <a:pPr algn="l">
              <a:spcAft>
                <a:spcPts val="200"/>
              </a:spcAft>
            </a:pPr>
            <a:r>
              <a:rPr sz="950" b="1">
                <a:solidFill>
                  <a:srgbClr val="1C3E6D"/>
                </a:solidFill>
                <a:latin typeface="Manrope"/>
              </a:rPr>
              <a:t>Зарубежные СМИ: </a:t>
            </a:r>
            <a:r>
              <a:rPr sz="950" b="0">
                <a:solidFill>
                  <a:srgbClr val="404040"/>
                </a:solidFill>
                <a:latin typeface="Manrope"/>
              </a:rPr>
              <a:t>Euronews, Ultima Bozza (Италия), Travel Tomorrow (Бельгия), Interfax (Россия), Central Asia News, Toshkent.Today (Узбекистан), Open.kg (Кыргызстан), ORIENT.tm (Туркменистан), Imruz и Pamir Inside (Таджикистан), Ekois.net, Getaway (ЮАР), Malaysia News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33301" t="65431" r="13372"/>
          <a:stretch>
            <a:fillRect/>
          </a:stretch>
        </p:blipFill>
        <p:spPr>
          <a:xfrm rot="5400000">
            <a:off x="8005118" y="2176850"/>
            <a:ext cx="6363730" cy="2010033"/>
          </a:xfrm>
          <a:prstGeom prst="rect">
            <a:avLst/>
          </a:prstGeom>
        </p:spPr>
      </p:pic>
      <p:sp>
        <p:nvSpPr>
          <p:cNvPr id="2" name="Прямоугольник с двумя скругленными соседними углами 1"/>
          <p:cNvSpPr/>
          <p:nvPr/>
        </p:nvSpPr>
        <p:spPr>
          <a:xfrm>
            <a:off x="0" y="6363730"/>
            <a:ext cx="12192000" cy="494270"/>
          </a:xfrm>
          <a:prstGeom prst="round2Same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10181967" y="6426199"/>
            <a:ext cx="1841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577D277B-74FC-B344-B076-978C2AC2D30E}" type="slidenum">
              <a:rPr lang="ru-RU" smtClean="0">
                <a:solidFill>
                  <a:schemeClr val="bg1"/>
                </a:solidFill>
              </a:rPr>
              <a:t>5</a:t>
            </a:fld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9" name="Прямая соединительная линия 8"/>
          <p:cNvCxnSpPr/>
          <p:nvPr/>
        </p:nvCxnSpPr>
        <p:spPr>
          <a:xfrm flipV="1">
            <a:off x="202858" y="957477"/>
            <a:ext cx="10177145" cy="6350"/>
          </a:xfrm>
          <a:prstGeom prst="line">
            <a:avLst/>
          </a:prstGeom>
          <a:ln>
            <a:solidFill>
              <a:srgbClr val="3B7D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392589" y="86608"/>
            <a:ext cx="6098344" cy="798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  <a:t>Центрально-Азиатский климатический фонд</a:t>
            </a:r>
            <a:b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</a:br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Проектный офис для Центральной Азии </a:t>
            </a:r>
          </a:p>
          <a:p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по изменению климата и зеленой энергетике</a:t>
            </a:r>
          </a:p>
        </p:txBody>
      </p:sp>
      <p:pic>
        <p:nvPicPr>
          <p:cNvPr id="8" name="Изображение 7" descr="Color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565" y="157480"/>
            <a:ext cx="1951355" cy="65722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51999" y="1062000"/>
            <a:ext cx="11664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>
                <a:solidFill>
                  <a:srgbClr val="1C3E6D"/>
                </a:solidFill>
                <a:latin typeface="Manrope"/>
              </a:rPr>
              <a:t>Стратегические цели и этапы развития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999" y="1512000"/>
            <a:ext cx="4860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3B7D48"/>
                </a:solidFill>
                <a:latin typeface="Manrope"/>
              </a:rPr>
              <a:t>Цели по уставу Фонда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88000" y="1835999"/>
            <a:ext cx="396000" cy="306000"/>
          </a:xfrm>
          <a:prstGeom prst="roundRect">
            <a:avLst>
              <a:gd name="adj" fmla="val 8000"/>
            </a:avLst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8000" y="1835999"/>
            <a:ext cx="396000" cy="30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2000" y="1818000"/>
            <a:ext cx="4248000" cy="36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Manrope"/>
              </a:rPr>
              <a:t>Ускорение региональных климатических действий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88000" y="2455200"/>
            <a:ext cx="396000" cy="306000"/>
          </a:xfrm>
          <a:prstGeom prst="roundRect">
            <a:avLst>
              <a:gd name="adj" fmla="val 8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88000" y="2455200"/>
            <a:ext cx="396000" cy="30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2000" y="2437200"/>
            <a:ext cx="4248000" cy="36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Manrope"/>
              </a:rPr>
              <a:t>Региональная климатическая политика и сотрудничество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88000" y="3074399"/>
            <a:ext cx="396000" cy="306000"/>
          </a:xfrm>
          <a:prstGeom prst="roundRect">
            <a:avLst>
              <a:gd name="adj" fmla="val 8000"/>
            </a:avLst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8000" y="3074399"/>
            <a:ext cx="396000" cy="30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2000" y="3056399"/>
            <a:ext cx="4248000" cy="36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Manrope"/>
              </a:rPr>
              <a:t>Поддержка разработки политик и регулирования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88000" y="3693600"/>
            <a:ext cx="396000" cy="306000"/>
          </a:xfrm>
          <a:prstGeom prst="roundRect">
            <a:avLst>
              <a:gd name="adj" fmla="val 8000"/>
            </a:avLst>
          </a:prstGeom>
          <a:solidFill>
            <a:srgbClr val="C9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88000" y="3693600"/>
            <a:ext cx="396000" cy="30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2000" y="3675599"/>
            <a:ext cx="4248000" cy="36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Manrope"/>
              </a:rPr>
              <a:t>Исследования и инновации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88000" y="4312800"/>
            <a:ext cx="396000" cy="306000"/>
          </a:xfrm>
          <a:prstGeom prst="roundRect">
            <a:avLst>
              <a:gd name="adj" fmla="val 8000"/>
            </a:avLst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88000" y="4312800"/>
            <a:ext cx="396000" cy="30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2000" y="4294800"/>
            <a:ext cx="4248000" cy="36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Manrope"/>
              </a:rPr>
              <a:t>Партнёрства с МФИ, НПО, бизнесом и наукой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88000" y="4932000"/>
            <a:ext cx="396000" cy="306000"/>
          </a:xfrm>
          <a:prstGeom prst="roundRect">
            <a:avLst>
              <a:gd name="adj" fmla="val 8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88000" y="4932000"/>
            <a:ext cx="396000" cy="30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2000" y="4914000"/>
            <a:ext cx="4248000" cy="36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Manrope"/>
              </a:rPr>
              <a:t>Климатические данные и наука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88000" y="5551200"/>
            <a:ext cx="396000" cy="306000"/>
          </a:xfrm>
          <a:prstGeom prst="roundRect">
            <a:avLst>
              <a:gd name="adj" fmla="val 8000"/>
            </a:avLst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88000" y="5551200"/>
            <a:ext cx="396000" cy="30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nrope"/>
              </a:rPr>
              <a:t>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2000" y="5533200"/>
            <a:ext cx="4248000" cy="36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  <a:latin typeface="Manrope"/>
              </a:rPr>
              <a:t>Повышение осведомлённости и развитие потенциала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28000" y="1512000"/>
            <a:ext cx="6480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3B7D48"/>
                </a:solidFill>
                <a:latin typeface="Manrope"/>
              </a:rPr>
              <a:t>Стратегия 2026–2035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328000" y="1835999"/>
            <a:ext cx="6588000" cy="1332000"/>
          </a:xfrm>
          <a:prstGeom prst="roundRect">
            <a:avLst>
              <a:gd name="adj" fmla="val 8000"/>
            </a:avLst>
          </a:prstGeom>
          <a:solidFill>
            <a:srgbClr val="EC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328000" y="1835999"/>
            <a:ext cx="43200" cy="13320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72000" y="1943999"/>
            <a:ext cx="136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>
                <a:solidFill>
                  <a:srgbClr val="156082"/>
                </a:solidFill>
                <a:latin typeface="Manrope"/>
              </a:rPr>
              <a:t>2026–2027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12000" y="1943999"/>
            <a:ext cx="4896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C3E6D"/>
                </a:solidFill>
                <a:latin typeface="Manrope"/>
              </a:rPr>
              <a:t>Устойчивость и проектный портфель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12000" y="2286000"/>
            <a:ext cx="4896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Manrope"/>
              </a:rPr>
              <a:t>Сопровождение решений РЭС, ESG, «Таза Қазақстан», сеть экспертов, международное сотрудничество, тендеры и гранты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328000" y="3311999"/>
            <a:ext cx="6588000" cy="13320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328000" y="3311999"/>
            <a:ext cx="43200" cy="13320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472000" y="3420000"/>
            <a:ext cx="136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>
                <a:solidFill>
                  <a:srgbClr val="1C3E6D"/>
                </a:solidFill>
                <a:latin typeface="Manrope"/>
              </a:rPr>
              <a:t>до 2028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12000" y="3420000"/>
            <a:ext cx="4896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C3E6D"/>
                </a:solidFill>
                <a:latin typeface="Manrope"/>
              </a:rPr>
              <a:t>«Зелёный Think Tank» Центральной Азии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12000" y="3761999"/>
            <a:ext cx="4896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Manrope"/>
              </a:rPr>
              <a:t>Собственная аналитическая платформа, регулярная аналитика, признанный центр компетенций региона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328000" y="4788000"/>
            <a:ext cx="6588000" cy="133200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328000" y="4788000"/>
            <a:ext cx="43200" cy="1332000"/>
          </a:xfrm>
          <a:prstGeom prst="rect">
            <a:avLst/>
          </a:prstGeom>
          <a:solidFill>
            <a:srgbClr val="C9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472000" y="4896000"/>
            <a:ext cx="136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>
                <a:solidFill>
                  <a:srgbClr val="C99A1E"/>
                </a:solidFill>
                <a:latin typeface="Manrope"/>
              </a:rPr>
              <a:t>до 2035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12000" y="4896000"/>
            <a:ext cx="4896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C3E6D"/>
                </a:solidFill>
                <a:latin typeface="Manrope"/>
              </a:rPr>
              <a:t>«Суперфонд»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912000" y="5238000"/>
            <a:ext cx="4896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Manrope"/>
              </a:rPr>
              <a:t>Ведущая региональная платформа: ключевой партнёр международных организаций, оператор климатического финансирования, центр координации экологической повестки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33301" t="65431" r="13372"/>
          <a:stretch>
            <a:fillRect/>
          </a:stretch>
        </p:blipFill>
        <p:spPr>
          <a:xfrm rot="5400000">
            <a:off x="8005118" y="2176850"/>
            <a:ext cx="6363730" cy="2010033"/>
          </a:xfrm>
          <a:prstGeom prst="rect">
            <a:avLst/>
          </a:prstGeom>
        </p:spPr>
      </p:pic>
      <p:sp>
        <p:nvSpPr>
          <p:cNvPr id="2" name="Прямоугольник с двумя скругленными соседними углами 1"/>
          <p:cNvSpPr/>
          <p:nvPr/>
        </p:nvSpPr>
        <p:spPr>
          <a:xfrm>
            <a:off x="0" y="6363730"/>
            <a:ext cx="12192000" cy="494270"/>
          </a:xfrm>
          <a:prstGeom prst="round2Same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10181967" y="6426199"/>
            <a:ext cx="1841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577D277B-74FC-B344-B076-978C2AC2D30E}" type="slidenum">
              <a:rPr lang="ru-RU" smtClean="0">
                <a:solidFill>
                  <a:schemeClr val="bg1"/>
                </a:solidFill>
              </a:rPr>
              <a:t>4</a:t>
            </a:fld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9" name="Прямая соединительная линия 8"/>
          <p:cNvCxnSpPr/>
          <p:nvPr/>
        </p:nvCxnSpPr>
        <p:spPr>
          <a:xfrm flipV="1">
            <a:off x="202858" y="957477"/>
            <a:ext cx="10177145" cy="6350"/>
          </a:xfrm>
          <a:prstGeom prst="line">
            <a:avLst/>
          </a:prstGeom>
          <a:ln>
            <a:solidFill>
              <a:srgbClr val="3B7D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392589" y="86608"/>
            <a:ext cx="6098344" cy="798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  <a:t>Центрально-Азиатский климатический фонд</a:t>
            </a:r>
            <a:br>
              <a:rPr lang="ru-RU" b="1" dirty="0">
                <a:solidFill>
                  <a:srgbClr val="3B7D48"/>
                </a:solidFill>
                <a:cs typeface="Calibri" panose="020F0502020204030204" pitchFamily="34" charset="0"/>
              </a:rPr>
            </a:br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Проектный офис для Центральной Азии </a:t>
            </a:r>
          </a:p>
          <a:p>
            <a:r>
              <a:rPr lang="ru-RU" sz="1400" b="1" i="1" dirty="0">
                <a:solidFill>
                  <a:srgbClr val="3B7D48"/>
                </a:solidFill>
                <a:cs typeface="Calibri" panose="020F0502020204030204" pitchFamily="34" charset="0"/>
              </a:rPr>
              <a:t>по изменению климата и зеленой энергетике</a:t>
            </a:r>
          </a:p>
        </p:txBody>
      </p:sp>
      <p:pic>
        <p:nvPicPr>
          <p:cNvPr id="8" name="Изображение 7" descr="Color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565" y="157480"/>
            <a:ext cx="1951355" cy="65722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51999" y="1062000"/>
            <a:ext cx="11664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>
                <a:solidFill>
                  <a:srgbClr val="1C3E6D"/>
                </a:solidFill>
                <a:latin typeface="Manrope"/>
              </a:rPr>
              <a:t>Направления деятельности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999" y="1440000"/>
            <a:ext cx="72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3B7D48"/>
                </a:solidFill>
                <a:latin typeface="Manrope"/>
              </a:rPr>
              <a:t>Действующие направления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51999" y="1710000"/>
            <a:ext cx="3780000" cy="1242000"/>
          </a:xfrm>
          <a:prstGeom prst="roundRect">
            <a:avLst>
              <a:gd name="adj" fmla="val 8000"/>
            </a:avLst>
          </a:prstGeom>
          <a:solidFill>
            <a:srgbClr val="EE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51999" y="1710000"/>
            <a:ext cx="3780000" cy="43200"/>
          </a:xfrm>
          <a:prstGeom prst="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0000" y="1818000"/>
            <a:ext cx="356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1">
                <a:solidFill>
                  <a:srgbClr val="3B7D48"/>
                </a:solidFill>
                <a:latin typeface="Manrope"/>
              </a:rPr>
              <a:t>Региональный экологический саммит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0000" y="2196000"/>
            <a:ext cx="3564000" cy="70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404040"/>
                </a:solidFill>
                <a:latin typeface="Manrope"/>
              </a:rPr>
              <a:t>Сопровождение решений и инициатив РЭС-2026: 58 сессий как портфель проектов и программ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176000" y="1710000"/>
            <a:ext cx="3780000" cy="1242000"/>
          </a:xfrm>
          <a:prstGeom prst="roundRect">
            <a:avLst>
              <a:gd name="adj" fmla="val 8000"/>
            </a:avLst>
          </a:prstGeom>
          <a:solidFill>
            <a:srgbClr val="EC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176000" y="1710000"/>
            <a:ext cx="3780000" cy="432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84000" y="1818000"/>
            <a:ext cx="356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1">
                <a:solidFill>
                  <a:srgbClr val="156082"/>
                </a:solidFill>
                <a:latin typeface="Manrope"/>
              </a:rPr>
              <a:t>«Таза Қазақстан»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84000" y="2196000"/>
            <a:ext cx="3564000" cy="70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404040"/>
                </a:solidFill>
                <a:latin typeface="Manrope"/>
              </a:rPr>
              <a:t>Проектный офис и оператор мероприятий инициативы; адаптация практик для стран Центральной Азии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100000" y="1710000"/>
            <a:ext cx="3780000" cy="12420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100000" y="1710000"/>
            <a:ext cx="3780000" cy="432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08000" y="1818000"/>
            <a:ext cx="356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1">
                <a:solidFill>
                  <a:srgbClr val="1C3E6D"/>
                </a:solidFill>
                <a:latin typeface="Manrope"/>
              </a:rPr>
              <a:t>ESG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08000" y="2196000"/>
            <a:ext cx="3564000" cy="70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404040"/>
                </a:solidFill>
                <a:latin typeface="Manrope"/>
              </a:rPr>
              <a:t>Методическая поддержка, оценка, консультирование и обучение по устойчивому развитию и раскрытию нефинансовой информации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51999" y="3060000"/>
            <a:ext cx="3780000" cy="1242000"/>
          </a:xfrm>
          <a:prstGeom prst="roundRect">
            <a:avLst>
              <a:gd name="adj" fmla="val 8000"/>
            </a:avLst>
          </a:prstGeom>
          <a:solidFill>
            <a:srgbClr val="EC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51999" y="3060000"/>
            <a:ext cx="3780000" cy="432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0000" y="3168000"/>
            <a:ext cx="356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1">
                <a:solidFill>
                  <a:srgbClr val="156082"/>
                </a:solidFill>
                <a:latin typeface="Manrope"/>
              </a:rPr>
              <a:t>Климатические и экологические риски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0000" y="3546000"/>
            <a:ext cx="3564000" cy="70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404040"/>
                </a:solidFill>
                <a:latin typeface="Manrope"/>
              </a:rPr>
              <a:t>Оценка физических и переходных рисков для государственных органов, организаций и инвесторов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76000" y="3060000"/>
            <a:ext cx="3780000" cy="12420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76000" y="3060000"/>
            <a:ext cx="3780000" cy="432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284000" y="3168000"/>
            <a:ext cx="356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1">
                <a:solidFill>
                  <a:srgbClr val="1C3E6D"/>
                </a:solidFill>
                <a:latin typeface="Manrope"/>
              </a:rPr>
              <a:t>Аналитика и «Зелёный Think Tank»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84000" y="3546000"/>
            <a:ext cx="3564000" cy="70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404040"/>
                </a:solidFill>
                <a:latin typeface="Manrope"/>
              </a:rPr>
              <a:t>Обзоры по Центральной Азии, аналитика по «Таза Қазақстан», климатические риски, ежегодные доклады; сеть экспертов ЦА+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100000" y="3060000"/>
            <a:ext cx="3780000" cy="124200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00000" y="3060000"/>
            <a:ext cx="3780000" cy="43200"/>
          </a:xfrm>
          <a:prstGeom prst="rect">
            <a:avLst/>
          </a:prstGeom>
          <a:solidFill>
            <a:srgbClr val="C9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208000" y="3168000"/>
            <a:ext cx="356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00" b="1">
                <a:solidFill>
                  <a:srgbClr val="C99A1E"/>
                </a:solidFill>
                <a:latin typeface="Manrope"/>
              </a:rPr>
              <a:t>Обучение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08000" y="3546000"/>
            <a:ext cx="3564000" cy="70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404040"/>
                </a:solidFill>
                <a:latin typeface="Manrope"/>
              </a:rPr>
              <a:t>Учебный центр Фонда: обучение и повышение квалификации по экологии, климату, устойчивому развитию и ESG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51999" y="4446000"/>
            <a:ext cx="72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3B7D48"/>
                </a:solidFill>
                <a:latin typeface="Manrope"/>
              </a:rPr>
              <a:t>Перспективные направления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51999" y="4716000"/>
            <a:ext cx="2826000" cy="1548000"/>
          </a:xfrm>
          <a:prstGeom prst="roundRect">
            <a:avLst>
              <a:gd name="adj" fmla="val 8000"/>
            </a:avLst>
          </a:prstGeom>
          <a:solidFill>
            <a:srgbClr val="EE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51999" y="4716000"/>
            <a:ext cx="2826000" cy="43200"/>
          </a:xfrm>
          <a:prstGeom prst="rect">
            <a:avLst/>
          </a:prstGeom>
          <a:solidFill>
            <a:srgbClr val="3B7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0000" y="4824000"/>
            <a:ext cx="2610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3B7D48"/>
                </a:solidFill>
                <a:latin typeface="Manrope"/>
              </a:rPr>
              <a:t>Офсеты и климатическое финансирование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0000" y="5273999"/>
            <a:ext cx="2610000" cy="93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04040"/>
                </a:solidFill>
                <a:latin typeface="Manrope"/>
              </a:rPr>
              <a:t>Отбор и сопровождение офсетных проектов, привлечение климатического и грантового финансирования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193199" y="4716000"/>
            <a:ext cx="2826000" cy="1548000"/>
          </a:xfrm>
          <a:prstGeom prst="roundRect">
            <a:avLst>
              <a:gd name="adj" fmla="val 8000"/>
            </a:avLst>
          </a:prstGeom>
          <a:solidFill>
            <a:srgbClr val="EC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193199" y="4716000"/>
            <a:ext cx="2826000" cy="432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301200" y="4824000"/>
            <a:ext cx="2610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56082"/>
                </a:solidFill>
                <a:latin typeface="Manrope"/>
              </a:rPr>
              <a:t>Озоновый центр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301200" y="5273999"/>
            <a:ext cx="2610000" cy="93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04040"/>
                </a:solidFill>
                <a:latin typeface="Manrope"/>
              </a:rPr>
              <a:t>Мониторинг озоноразрушающих веществ, техническая поддержка, проекты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134400" y="4716000"/>
            <a:ext cx="2826000" cy="15480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134400" y="4716000"/>
            <a:ext cx="2826000" cy="43200"/>
          </a:xfrm>
          <a:prstGeom prst="rect">
            <a:avLst/>
          </a:prstGeom>
          <a:solidFill>
            <a:srgbClr val="1C3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242400" y="4824000"/>
            <a:ext cx="2610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C3E6D"/>
                </a:solidFill>
                <a:latin typeface="Manrope"/>
              </a:rPr>
              <a:t>«Зелёные школы» с ЮНИСЕФ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42400" y="5273999"/>
            <a:ext cx="2610000" cy="93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04040"/>
                </a:solidFill>
                <a:latin typeface="Manrope"/>
              </a:rPr>
              <a:t>Региональная координация программы в Центральной Азии, волонтёрство, экологическое просвещение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075599" y="4716000"/>
            <a:ext cx="2826000" cy="154800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075599" y="4716000"/>
            <a:ext cx="2826000" cy="43200"/>
          </a:xfrm>
          <a:prstGeom prst="rect">
            <a:avLst/>
          </a:prstGeom>
          <a:solidFill>
            <a:srgbClr val="C9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183600" y="4824000"/>
            <a:ext cx="2610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C99A1E"/>
                </a:solidFill>
                <a:latin typeface="Manrope"/>
              </a:rPr>
              <a:t>Цифровые решения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183600" y="5273999"/>
            <a:ext cx="2610000" cy="93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04040"/>
                </a:solidFill>
                <a:latin typeface="Manrope"/>
              </a:rPr>
              <a:t>Платформы на основе ИИ и ГИС для мониторинга экологических и климатических данных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1381</TotalTime>
  <Words>2806</Words>
  <Application>Microsoft Macintosh PowerPoint</Application>
  <PresentationFormat>Широкоэкранный</PresentationFormat>
  <Paragraphs>379</Paragraphs>
  <Slides>26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26</vt:i4>
      </vt:variant>
    </vt:vector>
  </HeadingPairs>
  <TitlesOfParts>
    <vt:vector size="40" baseType="lpstr">
      <vt:lpstr>Aptos</vt:lpstr>
      <vt:lpstr>Aptos Display</vt:lpstr>
      <vt:lpstr>Arial</vt:lpstr>
      <vt:lpstr>Arial Nova</vt:lpstr>
      <vt:lpstr>Calibri</vt:lpstr>
      <vt:lpstr>Cambria</vt:lpstr>
      <vt:lpstr>Courier New</vt:lpstr>
      <vt:lpstr>Inter</vt:lpstr>
      <vt:lpstr>Inter Bold</vt:lpstr>
      <vt:lpstr>Manrope</vt:lpstr>
      <vt:lpstr>Manrope ExtraBold</vt:lpstr>
      <vt:lpstr>Manrope Light</vt:lpstr>
      <vt:lpstr>Wingdings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  <Company>CACF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Центрально-Азиатский климатический фонд</dc:title>
  <dc:creator>YK2026 2019</dc:creator>
  <cp:lastModifiedBy>YERLIK KARAZHAN</cp:lastModifiedBy>
  <cp:revision>44</cp:revision>
  <dcterms:created xsi:type="dcterms:W3CDTF">2026-05-24T18:06:00Z</dcterms:created>
  <dcterms:modified xsi:type="dcterms:W3CDTF">2026-09-08T10:15:30Z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56953FD3133649F9A5ECDEB2F6CE4767_12</vt:lpwstr>
  </property>
  <property fmtid="{D5CDD505-2E9C-101B-9397-08002B2CF9AE}" pid="3" name="KSOProductBuildVer">
    <vt:lpwstr>1049-12.2.0.23203</vt:lpwstr>
  </property>
</Properties>
</file>