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65" r:id="rId3"/>
    <p:sldId id="267" r:id="rId4"/>
    <p:sldId id="308" r:id="rId5"/>
    <p:sldId id="257" r:id="rId6"/>
    <p:sldId id="289" r:id="rId7"/>
    <p:sldId id="269" r:id="rId8"/>
    <p:sldId id="299" r:id="rId9"/>
    <p:sldId id="288" r:id="rId10"/>
    <p:sldId id="298" r:id="rId11"/>
    <p:sldId id="309" r:id="rId12"/>
    <p:sldId id="300" r:id="rId13"/>
    <p:sldId id="282" r:id="rId14"/>
    <p:sldId id="310" r:id="rId15"/>
    <p:sldId id="311" r:id="rId16"/>
    <p:sldId id="312" r:id="rId17"/>
    <p:sldId id="290" r:id="rId18"/>
    <p:sldId id="258" r:id="rId19"/>
    <p:sldId id="285" r:id="rId20"/>
    <p:sldId id="296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3B7D48"/>
    <a:srgbClr val="479398"/>
    <a:srgbClr val="BFD5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7"/>
    <p:restoredTop sz="94475"/>
  </p:normalViewPr>
  <p:slideViewPr>
    <p:cSldViewPr snapToGrid="0">
      <p:cViewPr varScale="1">
        <p:scale>
          <a:sx n="182" d="100"/>
          <a:sy n="182" d="100"/>
        </p:scale>
        <p:origin x="2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0E622-3E01-144F-9ECD-D0AAB6AC4D3F}" type="datetimeFigureOut">
              <a:rPr lang="en-US" smtClean="0"/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B0C5-90C3-9C4B-8C2C-6021F84E466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microsoft.com/office/2007/relationships/hdphoto" Target="../media/image4.wdp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7.xml"/><Relationship Id="rId6" Type="http://schemas.microsoft.com/office/2007/relationships/hdphoto" Target="../media/hdphoto_cacf_grid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microsoft.com/office/2007/relationships/hdphoto" Target="../media/image4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7.xml"/><Relationship Id="rId7" Type="http://schemas.microsoft.com/office/2007/relationships/hdphoto" Target="../media/hdphoto_cacf_grid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7.xml"/><Relationship Id="rId8" Type="http://schemas.microsoft.com/office/2007/relationships/hdphoto" Target="../media/hdphoto_cacf_grid.wd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microsoft.com/office/2007/relationships/hdphoto" Target="../media/image14.wdp"/><Relationship Id="rId3" Type="http://schemas.openxmlformats.org/officeDocument/2006/relationships/image" Target="../media/image15.png"/><Relationship Id="rId4" Type="http://schemas.microsoft.com/office/2007/relationships/hdphoto" Target="../media/image16.wdp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7.xml"/><Relationship Id="rId8" Type="http://schemas.microsoft.com/office/2007/relationships/hdphoto" Target="../media/hdphoto_cacf_grid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microsoft.com/office/2007/relationships/hdphoto" Target="../media/image16.wdp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microsoft.com/office/2007/relationships/hdphoto" Target="../media/image4.wdp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7.xml"/><Relationship Id="rId6" Type="http://schemas.microsoft.com/office/2007/relationships/hdphoto" Target="../media/hdphoto_cacf_grid.wdp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microsoft.com/office/2007/relationships/hdphoto" Target="../media/image16.wdp"/><Relationship Id="rId3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microsoft.com/office/2007/relationships/hdphoto" Target="../media/image16.wdp"/><Relationship Id="rId3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5.png"/><Relationship Id="rId3" Type="http://schemas.microsoft.com/office/2007/relationships/hdphoto" Target="../media/image16.wdp"/><Relationship Id="rId4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microsoft.com/office/2007/relationships/hdphoto" Target="../media/image22.wdp"/><Relationship Id="rId4" Type="http://schemas.openxmlformats.org/officeDocument/2006/relationships/hyperlink" Target="mailto:office@caclimate.fund" TargetMode="External"/><Relationship Id="rId5" Type="http://schemas.openxmlformats.org/officeDocument/2006/relationships/hyperlink" Target="http://www.caclimate.fund/" TargetMode="External"/><Relationship Id="rId6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3958" y="181957"/>
            <a:ext cx="747527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noProof="1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</a:t>
            </a:r>
            <a: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  <a:t>климатический фонд</a:t>
            </a:r>
            <a:b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4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sz="4800" b="1" noProof="1">
                <a:solidFill>
                  <a:schemeClr val="bg1"/>
                </a:solidFill>
                <a:cs typeface="Calibri" panose="020F0502020204030204" pitchFamily="34" charset="0"/>
              </a:rPr>
              <a:t>Деятельность и возможности развития</a:t>
            </a:r>
            <a:endParaRPr lang="ru-RU" sz="4800" b="1" noProof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13" y="303599"/>
            <a:ext cx="2340887" cy="956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97089" y="4767828"/>
            <a:ext cx="54949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r"/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r"/>
            <a:r>
              <a:rPr lang="ru-RU" sz="2400" noProof="1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Астана</a:t>
            </a:r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r"/>
            <a:r>
              <a:rPr lang="ru-RU" sz="2400" noProof="1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октябрь 2026 г. </a:t>
            </a:r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1790" y="1106805"/>
            <a:ext cx="518033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климатический фонд </a:t>
            </a:r>
            <a:r>
              <a:rPr lang="ru-RU" sz="1700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(Фонд) был создан как самостоятельная международная организация в юрисдикции Международного финансового центра «Астана» для реализации региональных проектов в области изменения климата, устойчивого развития, зеленой энергетики и охраны окружающей среды. </a:t>
            </a:r>
            <a:endParaRPr lang="ru-RU" sz="1700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endParaRPr lang="ru-RU" sz="1700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r>
              <a:rPr lang="ru-RU" sz="1700" b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Во исполнение инициативы Президента Республики Казахстан</a:t>
            </a:r>
            <a:r>
              <a:rPr lang="ru-RU" sz="1700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 Токаева К.К., озвученной на 78-ой сессии Генеральной Ассамблеи ООН в 2023 году в рамках Фонда организован Проектный офис для Центральной Азии, занимающийся повестками изменения климата и зеленой энергетики.</a:t>
            </a:r>
            <a:endParaRPr lang="ru-RU" sz="1700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grpSp>
        <p:nvGrpSpPr>
          <p:cNvPr id="4" name="Group 6"/>
          <p:cNvGrpSpPr/>
          <p:nvPr/>
        </p:nvGrpSpPr>
        <p:grpSpPr>
          <a:xfrm>
            <a:off x="5866765" y="1270927"/>
            <a:ext cx="2152015" cy="3190875"/>
            <a:chOff x="110913" y="0"/>
            <a:chExt cx="745304" cy="1209146"/>
          </a:xfrm>
        </p:grpSpPr>
        <p:sp>
          <p:nvSpPr>
            <p:cNvPr id="7" name="Freeform 7"/>
            <p:cNvSpPr/>
            <p:nvPr/>
          </p:nvSpPr>
          <p:spPr>
            <a:xfrm>
              <a:off x="110913" y="0"/>
              <a:ext cx="745304" cy="1209146"/>
            </a:xfrm>
            <a:custGeom>
              <a:avLst/>
              <a:gdLst/>
              <a:ahLst/>
              <a:cxnLst/>
              <a:rect l="l" t="t" r="r" b="b"/>
              <a:pathLst>
                <a:path w="745304" h="1209146">
                  <a:moveTo>
                    <a:pt x="14098" y="0"/>
                  </a:moveTo>
                  <a:lnTo>
                    <a:pt x="731206" y="0"/>
                  </a:lnTo>
                  <a:cubicBezTo>
                    <a:pt x="738992" y="0"/>
                    <a:pt x="745304" y="6312"/>
                    <a:pt x="745304" y="14098"/>
                  </a:cubicBezTo>
                  <a:lnTo>
                    <a:pt x="745304" y="1195048"/>
                  </a:lnTo>
                  <a:cubicBezTo>
                    <a:pt x="745304" y="1202834"/>
                    <a:pt x="738992" y="1209146"/>
                    <a:pt x="731206" y="1209146"/>
                  </a:cubicBezTo>
                  <a:lnTo>
                    <a:pt x="14098" y="1209146"/>
                  </a:lnTo>
                  <a:cubicBezTo>
                    <a:pt x="6312" y="1209146"/>
                    <a:pt x="0" y="1202834"/>
                    <a:pt x="0" y="1195048"/>
                  </a:cubicBezTo>
                  <a:lnTo>
                    <a:pt x="0" y="14098"/>
                  </a:lnTo>
                  <a:cubicBezTo>
                    <a:pt x="0" y="6312"/>
                    <a:pt x="6312" y="0"/>
                    <a:pt x="14098" y="0"/>
                  </a:cubicBezTo>
                  <a:close/>
                </a:path>
              </a:pathLst>
            </a:custGeom>
            <a:blipFill>
              <a:blip r:embed="rId4"/>
              <a:stretch>
                <a:fillRect l="-57298" r="-57298"/>
              </a:stretch>
            </a:blipFill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80170" y="1270927"/>
            <a:ext cx="2199833" cy="3184524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 fontAlgn="auto">
              <a:lnSpc>
                <a:spcPct val="100000"/>
              </a:lnSpc>
              <a:spcBef>
                <a:spcPts val="600"/>
              </a:spcBef>
              <a:buClrTx/>
              <a:buSzTx/>
              <a:buFontTx/>
            </a:pPr>
            <a:r>
              <a:rPr lang="ru-RU" sz="1700" i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  <a:sym typeface="Inter" panose="020B0502030000000004"/>
              </a:rPr>
              <a:t>«...Постепенный, устойчивый и социально ответственный переход от использования угля стал бы большим преимуществом для достижения глобальных целей в области изменения климата.</a:t>
            </a:r>
            <a:endParaRPr lang="ru-RU" sz="1700" i="1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  <a:sym typeface="Inter" panose="020B0502030000000004"/>
            </a:endParaRPr>
          </a:p>
          <a:p>
            <a:pPr indent="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ru-RU" sz="1700" i="1" dirty="0">
              <a:solidFill>
                <a:srgbClr val="1C3E6D"/>
              </a:solidFill>
              <a:latin typeface="Arial Nova" panose="020B0504020202020204" charset="0"/>
              <a:ea typeface="Inter" panose="020B0502030000000004"/>
              <a:cs typeface="Arial Nova" panose="020B0504020202020204" charset="0"/>
              <a:sym typeface="Inter" panose="020B0502030000000004"/>
            </a:endParaRPr>
          </a:p>
          <a:p>
            <a:pPr algn="just">
              <a:lnSpc>
                <a:spcPts val="3720"/>
              </a:lnSpc>
            </a:pPr>
            <a:endParaRPr lang="ru-RU" sz="1700" i="1" dirty="0">
              <a:solidFill>
                <a:srgbClr val="1C3E6D"/>
              </a:solidFill>
              <a:latin typeface="Arial Nova" panose="020B0504020202020204" charset="0"/>
              <a:ea typeface="Inter" panose="020B0502030000000004"/>
              <a:cs typeface="Arial Nova" panose="020B0504020202020204" charset="0"/>
              <a:sym typeface="Inter" panose="020B0502030000000004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370377" y="5014279"/>
            <a:ext cx="10732168" cy="1200329"/>
          </a:xfrm>
          <a:prstGeom prst="roundRect">
            <a:avLst/>
          </a:prstGeom>
          <a:solidFill>
            <a:srgbClr val="3B7D48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C000"/>
                </a:solidFill>
                <a:latin typeface="Calibri" panose="020F0502020204030204"/>
              </a:defRPr>
            </a:lvl1pPr>
          </a:lstStyle>
          <a:p>
            <a:r>
              <a:rPr lang="ru-RU" dirty="0">
                <a:sym typeface="Inter Bold" panose="020B0802030000000004"/>
              </a:rPr>
              <a:t>«</a:t>
            </a:r>
            <a:r>
              <a:rPr lang="ru-RU" i="1" dirty="0">
                <a:sym typeface="Inter Bold" panose="020B0802030000000004"/>
              </a:rPr>
              <a:t>Инициатива Казахстана по открытию Проектного офиса для Центральной Азии по изменению климата и зеленой энергетике может способствовать решению этих вопросов ...»</a:t>
            </a:r>
            <a:endParaRPr lang="ru-RU" i="1" dirty="0">
              <a:sym typeface="Inter Bold" panose="020B0802030000000004"/>
            </a:endParaRPr>
          </a:p>
          <a:p>
            <a:endParaRPr lang="ru-RU" i="1" dirty="0">
              <a:sym typeface="Inter Bold" panose="020B0802030000000004"/>
            </a:endParaRPr>
          </a:p>
          <a:p>
            <a:r>
              <a:rPr lang="ru-RU" dirty="0">
                <a:sym typeface="Inter" panose="020B0502030000000004"/>
              </a:rPr>
              <a:t>Президент Республики Казахстан Токаев К.К., 78-я сессия ГА ООН, Нью-Йорк, 2023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Структура Фонда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320000" y="1548000"/>
            <a:ext cx="3564000" cy="342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0000" y="1548000"/>
            <a:ext cx="35640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nrope"/>
              </a:rPr>
              <a:t>Верховный попечитель</a:t>
            </a:r>
            <a:endParaRPr sz="14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94800" y="1890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20000" y="2070000"/>
            <a:ext cx="3564000" cy="522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0000" y="2070000"/>
            <a:ext cx="3564000" cy="52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Главный исполнительный директор</a:t>
            </a:r>
            <a:endParaRPr sz="1300" b="1">
              <a:solidFill>
                <a:srgbClr val="FFFFFF"/>
              </a:solidFill>
              <a:latin typeface="Manrope"/>
            </a:endParaRPr>
          </a:p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Председатель Управляющего совета</a:t>
            </a:r>
            <a:endParaRPr sz="1300" b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094800" y="259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55999" y="2772000"/>
            <a:ext cx="8892000" cy="18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56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4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4000" y="2951999"/>
            <a:ext cx="2736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3B7D48"/>
                </a:solidFill>
                <a:latin typeface="Manrope"/>
              </a:rPr>
              <a:t>Проектный офис для Центральной Азии по изменению климата и зелёной энергетике</a:t>
            </a:r>
            <a:endParaRPr sz="125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региональные климатические проекты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климатическая политика и сотрудничество стран ЦА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ESG, аналитика и оценка рисков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4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22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2000" y="2951999"/>
            <a:ext cx="2736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0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Manrope"/>
              </a:rPr>
              <a:t>Проектный офис «Таза Қазақстан»</a:t>
            </a:r>
            <a:endParaRPr sz="125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30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социология и аналитика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проектное управление и региональная координация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цифровое развитие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коммуникация и креатив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452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20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20000" y="2951999"/>
            <a:ext cx="2736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8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1C3E6D"/>
                </a:solidFill>
                <a:latin typeface="Manrope"/>
              </a:rPr>
              <a:t>Сеть экспертов Центральной Азии+</a:t>
            </a:r>
            <a:endParaRPr sz="125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28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экспертно-аналитическое сопровождение климатической, экологической и энергетической повестки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заключения и рекомендации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0350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018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18000" y="2951999"/>
            <a:ext cx="2736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26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C99A1E"/>
                </a:solidFill>
                <a:latin typeface="Manrope"/>
              </a:rPr>
              <a:t>Административно-финансовый блок</a:t>
            </a:r>
            <a:endParaRPr sz="125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26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административные вопросы, закупки, кадры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финансы и бухгалтерия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правовое сопровождение (МФЦА)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IT-поддержка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1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noProof="1" smtClean="0">
                <a:solidFill>
                  <a:schemeClr val="bg1"/>
                </a:solidFill>
              </a:rPr>
            </a:fld>
            <a:endParaRPr lang="ru-RU" noProof="1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431" y="2223661"/>
            <a:ext cx="447016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noProof="1">
                <a:latin typeface="Manrope" pitchFamily="2" charset="0"/>
                <a:cs typeface="Calibri" panose="020F0502020204030204" pitchFamily="34" charset="0"/>
              </a:rPr>
              <a:t>РЭС 2026</a:t>
            </a:r>
            <a:endParaRPr lang="ru-RU" sz="1600" b="1" noProof="1">
              <a:latin typeface="Manrope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более 11 300 посещений и проведено 58 ключевых сессий, включая 21 высокого уровня и 4 страновые сессии государств ЦА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В Пленарном заседании Саммита выступили президенты стран ЦА, Армении, Грузии, Монголии, Премьер-министр Азербайджана, Заместитель Генерального секретаря </a:t>
            </a:r>
            <a:r>
              <a:rPr lang="ru-RU" sz="1600" noProof="1">
                <a:latin typeface="Manrope Light" pitchFamily="2" charset="0"/>
                <a:cs typeface="Calibri" panose="020F0502020204030204" pitchFamily="34" charset="0"/>
                <a:sym typeface="+mn-ea"/>
              </a:rPr>
              <a:t>ООН </a:t>
            </a: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по экономическим и социальным вопросам, Заместитель Генсека - Исполнительный директор ЮНЕП, Заместитель Генсека ООН - Исполнительный секретарь ЕЭК ООН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4837" y="1021669"/>
            <a:ext cx="102162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noProof="1">
                <a:solidFill>
                  <a:srgbClr val="3B7D48"/>
                </a:solidFill>
                <a:latin typeface="Manrope" pitchFamily="2" charset="0"/>
                <a:cs typeface="Calibri" panose="020F0502020204030204" pitchFamily="34" charset="0"/>
              </a:rPr>
              <a:t>Фонд – уже не просто административная надстройка, а уникальная платформа, способная консолидировать межгосударственные интересы с международными институтами (ООН, МФИ) в единый рабочий механизм</a:t>
            </a:r>
            <a:endParaRPr lang="ru-RU" sz="2000" b="1" noProof="1">
              <a:solidFill>
                <a:srgbClr val="3B7D48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99591" y="2159417"/>
            <a:ext cx="6551930" cy="181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b="1" noProof="1">
                <a:latin typeface="Manrope" pitchFamily="2" charset="0"/>
                <a:cs typeface="Calibri" panose="020F0502020204030204" pitchFamily="34" charset="0"/>
              </a:rPr>
              <a:t>Фонд – это актив и мы имеем доказанную эффективность</a:t>
            </a:r>
            <a:endParaRPr lang="ru-RU" sz="1600" b="1" noProof="1">
              <a:latin typeface="Manrope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Политическая консолидация (Декларация ГГ ЦА)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Глобальное партнерство (Программа действий с ООН и МФО)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Региональная архитектура (11 консультационных встреч, вкл. Нью-Йорк, Бонн, Белем, Найроби, ЦА)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Стратегическая содержательная линия и дорожная карта </a:t>
            </a:r>
            <a:br>
              <a:rPr lang="ru-RU" sz="1600" noProof="1">
                <a:latin typeface="Manrope Light" pitchFamily="2" charset="0"/>
                <a:cs typeface="Calibri" panose="020F0502020204030204" pitchFamily="34" charset="0"/>
              </a:rPr>
            </a:b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(58 сессий, каждая с ощутимым «результатом»)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noProof="1">
                <a:latin typeface="Manrope Light" pitchFamily="2" charset="0"/>
                <a:cs typeface="Calibri" panose="020F0502020204030204" pitchFamily="34" charset="0"/>
              </a:rPr>
              <a:t>Проектный офис (Фонд) Поддержан Главами Государств Центральной Азии в Декларации п. 24. </a:t>
            </a: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ru-RU" sz="1600" noProof="1">
              <a:latin typeface="Manrope Light" pitchFamily="2" charset="0"/>
              <a:cs typeface="Calibri" panose="020F0502020204030204" pitchFamily="34" charset="0"/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783" y="4255770"/>
            <a:ext cx="4064000" cy="1968500"/>
          </a:xfrm>
          <a:prstGeom prst="roundRect">
            <a:avLst>
              <a:gd name="adj" fmla="val 25309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075" y="4705807"/>
            <a:ext cx="1617802" cy="151846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392589" y="25648"/>
            <a:ext cx="6098344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noProof="1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noProof="1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b="1" noProof="1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noProof="1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b="1" noProof="1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noProof="1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055" y="1032562"/>
            <a:ext cx="1133489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</a:t>
            </a: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климатический фонд</a:t>
            </a:r>
            <a:b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Комплексный анализ </a:t>
            </a: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рисков и возможностей устойчивого развития Центральной Азии </a:t>
            </a: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для энергетического сектора Казахстана согласно повестке Регионального экологического саммита 2026</a:t>
            </a:r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АНАЛИТИЧЕСКИЙ ОТЧЕТ </a:t>
            </a: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ДЛЯ АССОЦИАЦИИ KAZENERGY</a:t>
            </a:r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13" y="303599"/>
            <a:ext cx="2340887" cy="956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47939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58" y="1297748"/>
            <a:ext cx="5609359" cy="45964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921" y="4479499"/>
            <a:ext cx="4759269" cy="162628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657" y="1098526"/>
            <a:ext cx="4686533" cy="337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63914" y="140325"/>
            <a:ext cx="8873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3B7D48"/>
                </a:solidFill>
                <a:latin typeface="Manrope" pitchFamily="2" charset="0"/>
                <a:cs typeface="Calibri" panose="020F0502020204030204" pitchFamily="34" charset="0"/>
              </a:rPr>
              <a:t>Оценка рисков устойчивого развития Центральной Азии </a:t>
            </a:r>
            <a:br>
              <a:rPr lang="ru-RU" sz="2000" b="1" dirty="0">
                <a:solidFill>
                  <a:srgbClr val="3B7D48"/>
                </a:solidFill>
                <a:latin typeface="Manrope" pitchFamily="2" charset="0"/>
                <a:cs typeface="Calibri" panose="020F0502020204030204" pitchFamily="34" charset="0"/>
              </a:rPr>
            </a:br>
            <a:r>
              <a:rPr lang="ru-RU" sz="2000" b="1" dirty="0">
                <a:solidFill>
                  <a:srgbClr val="3B7D48"/>
                </a:solidFill>
                <a:latin typeface="Manrope" pitchFamily="2" charset="0"/>
                <a:cs typeface="Calibri" panose="020F0502020204030204" pitchFamily="34" charset="0"/>
              </a:rPr>
              <a:t>для энергетического сектора Казахстана согласно РЭС 2026</a:t>
            </a:r>
            <a:endParaRPr lang="ru-RU" sz="2000" b="1" dirty="0">
              <a:solidFill>
                <a:srgbClr val="3B7D48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055" y="1032562"/>
            <a:ext cx="1133489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</a:t>
            </a: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климатический фонд</a:t>
            </a:r>
            <a:b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ВЫСОКИЙ УПОЛНОМОЧЕННЫЙ </a:t>
            </a: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СОВЕТ ПО ЗЕЛЕНОМУ ПЕРЕХОДУ </a:t>
            </a: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sz="2800" b="1" dirty="0" err="1">
                <a:solidFill>
                  <a:schemeClr val="bg1"/>
                </a:solidFill>
                <a:cs typeface="Calibri" panose="020F0502020204030204" pitchFamily="34" charset="0"/>
              </a:rPr>
              <a:t>ORF’s</a:t>
            </a:r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 HIGH-LEVEL EMPOWERED </a:t>
            </a:r>
            <a:b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BOARD ON GREEN TRANSITION) </a:t>
            </a:r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13" y="303599"/>
            <a:ext cx="2340887" cy="956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45975" y="127981"/>
            <a:ext cx="8873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Высокий Уполномоченный совет по зеленому переходу </a:t>
            </a:r>
            <a:b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</a:b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(High-Level </a:t>
            </a:r>
            <a:r>
              <a:rPr lang="ru-RU" sz="2000" b="1" dirty="0" err="1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Empowered</a:t>
            </a: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 Board </a:t>
            </a:r>
            <a:r>
              <a:rPr lang="ru-RU" sz="2000" b="1" dirty="0" err="1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on</a:t>
            </a: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 Green </a:t>
            </a:r>
            <a:r>
              <a:rPr lang="ru-RU" sz="2000" b="1" dirty="0" err="1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Transition</a:t>
            </a: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) </a:t>
            </a:r>
            <a:endParaRPr lang="ru-RU" sz="2000" b="1" dirty="0">
              <a:solidFill>
                <a:srgbClr val="156082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774" y="1153709"/>
            <a:ext cx="802342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latin typeface="Manrope" pitchFamily="2" charset="0"/>
                <a:cs typeface="Calibri" panose="020F0502020204030204" pitchFamily="34" charset="0"/>
              </a:rPr>
              <a:t>Observer Research Foundation (ORF)</a:t>
            </a: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 — один из ведущих международных аналитических центров Индии в сфере геоэкономики, устойчивого развития, климатической политики и диалога стран Глобального Юга.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ORF формирует </a:t>
            </a:r>
            <a:r>
              <a:rPr lang="ru-RU" sz="1600" b="1" dirty="0">
                <a:latin typeface="Manrope ExtraBold" pitchFamily="2" charset="0"/>
                <a:cs typeface="Calibri" panose="020F0502020204030204" pitchFamily="34" charset="0"/>
              </a:rPr>
              <a:t>Высокий консультативный совет — </a:t>
            </a: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международную стратегическую платформу по вопросам зеленого перехода, климатического финансирования и реформы многосторонних банков развития (MDB).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Председатель Совета  -  </a:t>
            </a:r>
            <a:r>
              <a:rPr lang="ru-RU" sz="1600" b="1" dirty="0">
                <a:latin typeface="Manrope Light" pitchFamily="2" charset="0"/>
                <a:cs typeface="Calibri" panose="020F0502020204030204" pitchFamily="34" charset="0"/>
              </a:rPr>
              <a:t>Нанд </a:t>
            </a:r>
            <a:r>
              <a:rPr lang="ru-RU" sz="1600" b="1" dirty="0" err="1">
                <a:latin typeface="Manrope Light" pitchFamily="2" charset="0"/>
                <a:cs typeface="Calibri" panose="020F0502020204030204" pitchFamily="34" charset="0"/>
              </a:rPr>
              <a:t>Кишор</a:t>
            </a:r>
            <a:r>
              <a:rPr lang="ru-RU" sz="1600" b="1" dirty="0">
                <a:latin typeface="Manrope Light" pitchFamily="2" charset="0"/>
                <a:cs typeface="Calibri" panose="020F0502020204030204" pitchFamily="34" charset="0"/>
              </a:rPr>
              <a:t> Сингх, </a:t>
            </a: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сопредседатель Независимой экспертной группы G20 по реформе многосторонних банков развития.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248" y="1153709"/>
            <a:ext cx="3147091" cy="5408763"/>
          </a:xfrm>
          <a:prstGeom prst="roundRect">
            <a:avLst>
              <a:gd name="adj" fmla="val 16290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411829" y="3488301"/>
            <a:ext cx="819469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latin typeface="Manrope" pitchFamily="2" charset="0"/>
                <a:cs typeface="Calibri" panose="020F0502020204030204" pitchFamily="34" charset="0"/>
              </a:rPr>
              <a:t>Основные темы работы Совета:</a:t>
            </a:r>
            <a:endParaRPr lang="ru-RU" sz="1600" b="1" dirty="0">
              <a:latin typeface="Manrope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климатическое финансирование;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реформа многосторонних банков развития;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привлечение частного капитала;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смешанное финансирование;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зеленый переход для стран Глобального Юга.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Manrope Light" pitchFamily="2" charset="0"/>
                <a:cs typeface="Calibri" panose="020F0502020204030204" pitchFamily="34" charset="0"/>
              </a:rPr>
              <a:t>Мандат Совета на 2 года и включает подготовку стратегических рекомендаций, экспертных консультаций и развитие международного сотрудничества в сфере устойчивого развития.</a:t>
            </a:r>
            <a:endParaRPr lang="ru-RU" sz="1600" dirty="0">
              <a:latin typeface="Manrope Light" pitchFamily="2" charset="0"/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0457" y="125130"/>
            <a:ext cx="1368186" cy="73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41" name="TextBox 41"/>
          <p:cNvSpPr txBox="1"/>
          <p:nvPr/>
        </p:nvSpPr>
        <p:spPr>
          <a:xfrm>
            <a:off x="548640" y="136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Н.К. Сингх — Председатель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Глава 15-й </a:t>
            </a:r>
            <a:r>
              <a:rPr lang="ru-RU" sz="1200" b="0" i="0" dirty="0" err="1">
                <a:solidFill>
                  <a:srgbClr val="156082"/>
                </a:solidFill>
                <a:latin typeface="Calibri" panose="020F0502020204030204"/>
              </a:rPr>
              <a:t>Финкомиссии</a:t>
            </a:r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 Индии; соавтор «Тройной повестки» G20 по реформе банков развития.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48640" y="223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Лорд Николас Стерн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LSE / </a:t>
            </a:r>
            <a:r>
              <a:rPr lang="ru-RU" sz="1200" b="0" i="0" dirty="0" err="1">
                <a:solidFill>
                  <a:srgbClr val="156082"/>
                </a:solidFill>
                <a:latin typeface="Calibri" panose="020F0502020204030204"/>
              </a:rPr>
              <a:t>Grantham</a:t>
            </a:r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 Research Institute; автор «Обзора Стерна» по экономике климата.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48640" y="310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Рэйчел Кайт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Спецпредставитель Великобритании по климату; экс-вице-президент Всемирного банка, глава </a:t>
            </a:r>
            <a:r>
              <a:rPr lang="ru-RU" sz="1200" b="0" i="0" dirty="0" err="1">
                <a:solidFill>
                  <a:srgbClr val="156082"/>
                </a:solidFill>
                <a:latin typeface="Calibri" panose="020F0502020204030204"/>
              </a:rPr>
              <a:t>SEforALL</a:t>
            </a:r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48640" y="397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Том </a:t>
            </a:r>
            <a:r>
              <a:rPr lang="ru-RU" b="1" i="0" dirty="0" err="1">
                <a:solidFill>
                  <a:srgbClr val="156082"/>
                </a:solidFill>
                <a:latin typeface="Calibri" panose="020F0502020204030204"/>
              </a:rPr>
              <a:t>Тугендхат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Член парламента Великобритании; политика и надёжность поставок в зелёном переходе.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355560" y="136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Андре Корреа ду Лагу — Президент COP30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Климатическое финансирование и страновые платформы после Белена.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355560" y="223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Сэр Масуд Ахмед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Почётный президент Center </a:t>
            </a:r>
            <a:r>
              <a:rPr lang="ru-RU" sz="1200" b="0" i="0" dirty="0" err="1">
                <a:solidFill>
                  <a:srgbClr val="156082"/>
                </a:solidFill>
                <a:latin typeface="Calibri" panose="020F0502020204030204"/>
              </a:rPr>
              <a:t>for</a:t>
            </a:r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 Global Development; экс-МВФ и DFID.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355560" y="3106076"/>
            <a:ext cx="5257320" cy="76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120"/>
              </a:spcAft>
            </a:pPr>
            <a:r>
              <a:rPr lang="ru-RU" b="1" i="0" dirty="0">
                <a:solidFill>
                  <a:srgbClr val="156082"/>
                </a:solidFill>
                <a:latin typeface="Calibri" panose="020F0502020204030204"/>
              </a:rPr>
              <a:t>Самир Саран — Президент ORF</a:t>
            </a:r>
            <a:endParaRPr lang="ru-RU" b="1" i="0" dirty="0">
              <a:solidFill>
                <a:srgbClr val="156082"/>
              </a:solidFill>
              <a:latin typeface="Calibri" panose="020F0502020204030204"/>
            </a:endParaRPr>
          </a:p>
          <a:p>
            <a:pPr algn="l"/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Куратор </a:t>
            </a:r>
            <a:r>
              <a:rPr lang="ru-RU" sz="1200" b="0" i="0" dirty="0" err="1">
                <a:solidFill>
                  <a:srgbClr val="156082"/>
                </a:solidFill>
                <a:latin typeface="Calibri" panose="020F0502020204030204"/>
              </a:rPr>
              <a:t>Raisina</a:t>
            </a:r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 </a:t>
            </a:r>
            <a:r>
              <a:rPr lang="ru-RU" sz="1200" b="0" i="0" dirty="0" err="1">
                <a:solidFill>
                  <a:srgbClr val="156082"/>
                </a:solidFill>
                <a:latin typeface="Calibri" panose="020F0502020204030204"/>
              </a:rPr>
              <a:t>Dialogue</a:t>
            </a:r>
            <a:r>
              <a:rPr lang="ru-RU" sz="1200" b="0" i="0" dirty="0">
                <a:solidFill>
                  <a:srgbClr val="156082"/>
                </a:solidFill>
                <a:latin typeface="Calibri" panose="020F0502020204030204"/>
              </a:rPr>
              <a:t>; сеть инвесторов Глобального Юга.</a:t>
            </a:r>
            <a:endParaRPr lang="ru-RU" sz="1200" b="0" i="0" dirty="0">
              <a:solidFill>
                <a:srgbClr val="156082"/>
              </a:solidFill>
              <a:latin typeface="Calibri" panose="020F0502020204030204"/>
            </a:endParaRPr>
          </a:p>
        </p:txBody>
      </p:sp>
      <p:sp>
        <p:nvSpPr>
          <p:cNvPr id="48" name="RR 48"/>
          <p:cNvSpPr/>
          <p:nvPr/>
        </p:nvSpPr>
        <p:spPr>
          <a:xfrm>
            <a:off x="6262577" y="3830000"/>
            <a:ext cx="5157248" cy="1169216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49" name="TextBox 49"/>
          <p:cNvSpPr txBox="1"/>
          <p:nvPr/>
        </p:nvSpPr>
        <p:spPr>
          <a:xfrm>
            <a:off x="6343510" y="3838301"/>
            <a:ext cx="4927000" cy="11692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ru-RU" sz="1600" b="1" dirty="0" err="1">
                <a:solidFill>
                  <a:srgbClr val="FFC000"/>
                </a:solidFill>
                <a:latin typeface="Calibri" panose="020F0502020204030204"/>
              </a:rPr>
              <a:t>Ерлік</a:t>
            </a:r>
            <a:r>
              <a:rPr lang="ru-RU" sz="1600" b="1" dirty="0">
                <a:solidFill>
                  <a:srgbClr val="FFC000"/>
                </a:solidFill>
                <a:latin typeface="Calibri" panose="020F0502020204030204"/>
              </a:rPr>
              <a:t> Қаражан </a:t>
            </a:r>
            <a:br>
              <a:rPr lang="ru-RU" sz="1600" b="1" dirty="0">
                <a:solidFill>
                  <a:srgbClr val="FFC000"/>
                </a:solidFill>
                <a:latin typeface="Calibri" panose="020F0502020204030204"/>
              </a:rPr>
            </a:br>
            <a:r>
              <a:rPr lang="ru-RU" sz="1600" b="1" i="0" dirty="0">
                <a:solidFill>
                  <a:srgbClr val="FFFFFF"/>
                </a:solidFill>
                <a:latin typeface="Calibri" panose="020F0502020204030204"/>
              </a:rPr>
              <a:t>Представитель Центральной Азии в Совете</a:t>
            </a:r>
            <a:r>
              <a:rPr lang="ru-RU" sz="1600" b="0" i="0" dirty="0">
                <a:solidFill>
                  <a:srgbClr val="FFFFFF"/>
                </a:solidFill>
                <a:latin typeface="Calibri" panose="020F0502020204030204"/>
              </a:rPr>
              <a:t>, генеральный директор Фонда климата Центральной Азии (CACF).</a:t>
            </a:r>
            <a:endParaRPr lang="ru-RU" sz="1600" b="0" i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Прямоугольник с двумя скругленными соседними углами 2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45975" y="127981"/>
            <a:ext cx="8873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Высокий Уполномоченный совет по зеленому переходу </a:t>
            </a:r>
            <a:b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</a:b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(High-Level </a:t>
            </a:r>
            <a:r>
              <a:rPr lang="ru-RU" sz="2000" b="1" dirty="0" err="1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Empowered</a:t>
            </a: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 Board </a:t>
            </a:r>
            <a:r>
              <a:rPr lang="ru-RU" sz="2000" b="1" dirty="0" err="1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on</a:t>
            </a: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 Green </a:t>
            </a:r>
            <a:r>
              <a:rPr lang="ru-RU" sz="2000" b="1" dirty="0" err="1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Transition</a:t>
            </a:r>
            <a:r>
              <a:rPr lang="ru-RU" sz="2000" b="1" dirty="0">
                <a:solidFill>
                  <a:srgbClr val="156082"/>
                </a:solidFill>
                <a:latin typeface="Manrope" pitchFamily="2" charset="0"/>
                <a:cs typeface="Calibri" panose="020F0502020204030204" pitchFamily="34" charset="0"/>
              </a:rPr>
              <a:t>) </a:t>
            </a:r>
            <a:endParaRPr lang="ru-RU" sz="2000" b="1" dirty="0">
              <a:solidFill>
                <a:srgbClr val="156082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  <p:sp>
        <p:nvSpPr>
          <p:cNvPr id="9" name="RR 48"/>
          <p:cNvSpPr/>
          <p:nvPr/>
        </p:nvSpPr>
        <p:spPr>
          <a:xfrm>
            <a:off x="430932" y="5305625"/>
            <a:ext cx="10988892" cy="76000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ru-RU" sz="2400" dirty="0"/>
          </a:p>
        </p:txBody>
      </p:sp>
      <p:sp>
        <p:nvSpPr>
          <p:cNvPr id="10" name="TextBox 49"/>
          <p:cNvSpPr txBox="1"/>
          <p:nvPr/>
        </p:nvSpPr>
        <p:spPr>
          <a:xfrm>
            <a:off x="548640" y="5313926"/>
            <a:ext cx="10498287" cy="760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Calibri" panose="020F0502020204030204"/>
              </a:rPr>
              <a:t>Голос региона на глобальной площадке | Экспертный вход и связи | PR и позиционирование </a:t>
            </a:r>
            <a:br>
              <a:rPr lang="ru-RU" sz="1600" b="1" dirty="0">
                <a:solidFill>
                  <a:schemeClr val="bg1"/>
                </a:solidFill>
                <a:latin typeface="Calibri" panose="020F0502020204030204"/>
              </a:rPr>
            </a:br>
            <a:r>
              <a:rPr lang="ru-RU" sz="1600" b="1" dirty="0">
                <a:solidFill>
                  <a:schemeClr val="bg1"/>
                </a:solidFill>
                <a:latin typeface="Calibri" panose="020F0502020204030204"/>
              </a:rPr>
              <a:t>Доступ к </a:t>
            </a:r>
            <a:r>
              <a:rPr lang="ru-RU" sz="1600" b="1" dirty="0" err="1">
                <a:solidFill>
                  <a:schemeClr val="bg1"/>
                </a:solidFill>
                <a:latin typeface="Calibri" panose="020F0502020204030204"/>
              </a:rPr>
              <a:t>blended</a:t>
            </a:r>
            <a:r>
              <a:rPr lang="ru-RU" sz="1600" b="1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ru-RU" sz="1600" b="1" dirty="0" err="1">
                <a:solidFill>
                  <a:schemeClr val="bg1"/>
                </a:solidFill>
                <a:latin typeface="Calibri" panose="020F0502020204030204"/>
              </a:rPr>
              <a:t>finance</a:t>
            </a:r>
            <a:r>
              <a:rPr lang="ru-RU" sz="1600" dirty="0">
                <a:solidFill>
                  <a:schemeClr val="bg1"/>
                </a:solidFill>
                <a:latin typeface="Calibri" panose="020F0502020204030204"/>
              </a:rPr>
              <a:t>, частному капиталу и экспертизе MDB для зелёных/переходных инструментов</a:t>
            </a:r>
            <a:endParaRPr lang="ru-RU" sz="16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457" y="125130"/>
            <a:ext cx="1368186" cy="73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Информационная и аналитическая работа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999" y="1386000"/>
            <a:ext cx="116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3B7D48"/>
                </a:solidFill>
                <a:latin typeface="Manrope"/>
              </a:rPr>
              <a:t>июнь – октябрь 2026 года</a:t>
            </a:r>
            <a:endParaRPr sz="1200" b="0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1999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1999" y="1674000"/>
            <a:ext cx="43200" cy="7200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999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3B7D48"/>
                </a:solidFill>
                <a:latin typeface="Manrope"/>
              </a:rPr>
              <a:t>26</a:t>
            </a:r>
            <a:endParaRPr sz="20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7999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пресс-релизов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7999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59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92000" y="1674000"/>
            <a:ext cx="43200" cy="72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18000" y="1692000"/>
            <a:ext cx="2052000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56082"/>
                </a:solidFill>
                <a:latin typeface="Manrope"/>
              </a:rPr>
              <a:t>1</a:t>
            </a:r>
            <a:r>
              <a:rPr lang="ru-RU" sz="2000" b="1">
                <a:solidFill>
                  <a:srgbClr val="156082"/>
                </a:solidFill>
                <a:latin typeface="Manrope"/>
              </a:rPr>
              <a:t>27+</a:t>
            </a:r>
            <a:endParaRPr lang="ru-RU" sz="20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18000" y="2015999"/>
            <a:ext cx="2052000" cy="2044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публикаци</a:t>
            </a:r>
            <a:r>
              <a:rPr lang="ru-RU" sz="1100" b="1">
                <a:solidFill>
                  <a:srgbClr val="1C3E6D"/>
                </a:solidFill>
                <a:latin typeface="Manrope"/>
              </a:rPr>
              <a:t>й</a:t>
            </a:r>
            <a:r>
              <a:rPr sz="1100" b="1">
                <a:solidFill>
                  <a:srgbClr val="1C3E6D"/>
                </a:solidFill>
                <a:latin typeface="Manrope"/>
              </a:rPr>
              <a:t> в СМИ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71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июнь – сентябрь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93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32000" y="1674000"/>
            <a:ext cx="43200" cy="72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58000" y="1692000"/>
            <a:ext cx="2052000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130</a:t>
            </a:r>
            <a:r>
              <a:rPr lang="ru-RU" sz="2000" b="1">
                <a:solidFill>
                  <a:srgbClr val="1C3E6D"/>
                </a:solidFill>
                <a:latin typeface="Manrope"/>
              </a:rPr>
              <a:t>+</a:t>
            </a:r>
            <a:endParaRPr lang="ru-RU"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5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постов в соцсетях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5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27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72000" y="1674000"/>
            <a:ext cx="43200" cy="7200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98000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C99A1E"/>
                </a:solidFill>
                <a:latin typeface="Manrope"/>
              </a:rPr>
              <a:t>1 865</a:t>
            </a:r>
            <a:endParaRPr sz="20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39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подписчиков в 6 соцсетях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9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в т.ч. журналисты и СМИ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61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12000" y="1674000"/>
            <a:ext cx="43200" cy="7200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8000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3B7D48"/>
                </a:solidFill>
                <a:latin typeface="Manrope"/>
              </a:rPr>
              <a:t>24</a:t>
            </a:r>
            <a:endParaRPr sz="20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73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материала на сайте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73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caclimate.fund, 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51999" y="2484000"/>
            <a:ext cx="5742000" cy="2718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999" y="2484000"/>
            <a:ext cx="5742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000" y="2538000"/>
            <a:ext cx="552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Опубликованные исследования и аналитика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0000" y="2826000"/>
            <a:ext cx="5526000" cy="23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12.10  </a:t>
            </a:r>
            <a:r>
              <a:rPr sz="1050" b="0">
                <a:solidFill>
                  <a:srgbClr val="404040"/>
                </a:solidFill>
                <a:latin typeface="Manrope"/>
              </a:rPr>
              <a:t>Климатические риски Казахстана: 12 видов опасностей, оценка 20 регионов – совместно с ESGQ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21.07  </a:t>
            </a:r>
            <a:r>
              <a:rPr sz="1050" b="0">
                <a:solidFill>
                  <a:srgbClr val="404040"/>
                </a:solidFill>
                <a:latin typeface="Manrope"/>
              </a:rPr>
              <a:t>Рекомендации KAZENERGY по снижению рисков устойчивого развития для энергетики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июль–окт.  </a:t>
            </a:r>
            <a:r>
              <a:rPr sz="1050" b="0">
                <a:solidFill>
                  <a:srgbClr val="404040"/>
                </a:solidFill>
                <a:latin typeface="Manrope"/>
              </a:rPr>
              <a:t>Серия «Как обеспечить Центральную Азию едой, водой, электроэнергией в условиях меняющегося климата», «Чем грозит изменение климата Центральной Азии»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27.10  </a:t>
            </a:r>
            <a:r>
              <a:rPr sz="1050" b="0">
                <a:solidFill>
                  <a:srgbClr val="404040"/>
                </a:solidFill>
                <a:latin typeface="Manrope"/>
              </a:rPr>
              <a:t>Центральная Азия потеряла 44% площади ледников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июль–окт.  </a:t>
            </a:r>
            <a:r>
              <a:rPr sz="1050" b="0">
                <a:solidFill>
                  <a:srgbClr val="404040"/>
                </a:solidFill>
                <a:latin typeface="Manrope"/>
              </a:rPr>
              <a:t>Климатические аномалии: самое жаркое лето за 80 лет, рост погодных аномалий, последствия жары для здоровья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июнь–авг.  </a:t>
            </a:r>
            <a:r>
              <a:rPr sz="1050" b="0">
                <a:solidFill>
                  <a:srgbClr val="404040"/>
                </a:solidFill>
                <a:latin typeface="Manrope"/>
              </a:rPr>
              <a:t>Экологические данные: эмиссии (3,4 млн т), нарушения экологического законодательства, лесной фонд, редкие животные, нацпарки</a:t>
            </a:r>
            <a:endParaRPr sz="10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02000" y="2484000"/>
            <a:ext cx="5850000" cy="2718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02000" y="2484000"/>
            <a:ext cx="585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0000" y="2538000"/>
            <a:ext cx="563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56082"/>
                </a:solidFill>
                <a:latin typeface="Manrope"/>
              </a:rPr>
              <a:t>Научно-аналитические мероприятия</a:t>
            </a:r>
            <a:endParaRPr sz="14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10000" y="2826000"/>
            <a:ext cx="5634000" cy="23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26.06  </a:t>
            </a:r>
            <a:r>
              <a:rPr sz="1050" b="0">
                <a:solidFill>
                  <a:srgbClr val="404040"/>
                </a:solidFill>
                <a:latin typeface="Manrope"/>
              </a:rPr>
              <a:t>Лондон: Высокий консультативный совет ORF по зелёному переходу, глава Фонда вошёл в его состав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30.06  </a:t>
            </a:r>
            <a:r>
              <a:rPr sz="1050" b="0">
                <a:solidFill>
                  <a:srgbClr val="404040"/>
                </a:solidFill>
                <a:latin typeface="Manrope"/>
              </a:rPr>
              <a:t>Гамбург: конференция по устойчивому развитию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август  </a:t>
            </a:r>
            <a:r>
              <a:rPr sz="1050" b="0">
                <a:solidFill>
                  <a:srgbClr val="404040"/>
                </a:solidFill>
                <a:latin typeface="Manrope"/>
              </a:rPr>
              <a:t>Курс «ESG-оценка предприятий Казахстана по официальным экологическим данным» совместно с ИАЦ ООС МЭПР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28–29.08  </a:t>
            </a:r>
            <a:r>
              <a:rPr sz="1050" b="0">
                <a:solidFill>
                  <a:srgbClr val="404040"/>
                </a:solidFill>
                <a:latin typeface="Manrope"/>
              </a:rPr>
              <a:t>Молодёжная климатическая конференция LCOY Kazakhstan 2026, Назарбаев Университет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28.09  </a:t>
            </a:r>
            <a:r>
              <a:rPr sz="1050" b="0">
                <a:solidFill>
                  <a:srgbClr val="404040"/>
                </a:solidFill>
                <a:latin typeface="Manrope"/>
              </a:rPr>
              <a:t>Меморандум о сотрудничестве с Рейтинговым агентством ESGQ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03–05.10  </a:t>
            </a:r>
            <a:r>
              <a:rPr sz="1050" b="0">
                <a:solidFill>
                  <a:srgbClr val="404040"/>
                </a:solidFill>
                <a:latin typeface="Manrope"/>
              </a:rPr>
              <a:t>Нью-Дели: 5-й Экономический конклав Каутильи, выступление главы Фонда; аналитическая записка с рекомендациями для Казахстана</a:t>
            </a:r>
            <a:endParaRPr sz="10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51999" y="5238000"/>
            <a:ext cx="11700000" cy="11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C3E6D"/>
                </a:solidFill>
                <a:latin typeface="Manrope"/>
              </a:rPr>
              <a:t>Публикации выходят на трёх языках: казахском, русском и английском.</a:t>
            </a:r>
            <a:endParaRPr sz="950" b="1">
              <a:solidFill>
                <a:srgbClr val="1C3E6D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1C3E6D"/>
                </a:solidFill>
                <a:latin typeface="Manrope"/>
              </a:rPr>
              <a:t>Казахстанские СМИ (28): </a:t>
            </a:r>
            <a:r>
              <a:rPr sz="950" b="0">
                <a:solidFill>
                  <a:srgbClr val="404040"/>
                </a:solidFill>
                <a:latin typeface="Manrope"/>
              </a:rPr>
              <a:t>Казинформ, KazTag, Kazakhstan Today, Егемен Қазақстан, Egemen Times, Kursiv, Vlast, Orda, BAQ.kz, 24.kz, Улысмедиа, Lifenews, Qumash, Bes.Media, Kapital.kz, Informburo.kz, Exclusive, Inbusiness, DKnews, E-Karaganda, Newsline, Vesti.kz, Spik.kz, AIT Media, Astana Times, Ser-Per.kz, FBRK.kz, CZHR.kz</a:t>
            </a:r>
            <a:endParaRPr sz="9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1C3E6D"/>
                </a:solidFill>
                <a:latin typeface="Manrope"/>
              </a:rPr>
              <a:t>Зарубежные СМИ (13): </a:t>
            </a:r>
            <a:r>
              <a:rPr sz="950" b="0">
                <a:solidFill>
                  <a:srgbClr val="404040"/>
                </a:solidFill>
                <a:latin typeface="Manrope"/>
              </a:rPr>
              <a:t>Euronews, Ultima Bozza (Италия), Travel Tomorrow (Бельгия), Interfax (Россия), Central Asia News, Toshkent.Today (Узбекистан), Open.kg (Кыргызстан), ORIENT.tm (Туркменистан), Imruz и Pamir Inside (Таджикистан), Ekois.net, Getaway (ЮАР), Malaysia News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055" y="1032562"/>
            <a:ext cx="113348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</a:t>
            </a: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климатический фонд</a:t>
            </a:r>
            <a:b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cs typeface="Calibri" panose="020F0502020204030204" pitchFamily="34" charset="0"/>
              </a:rPr>
              <a:t>СТРАТЕГИЧЕСКИЕ ВОЗМОЖНОСТИ</a:t>
            </a:r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13" y="303599"/>
            <a:ext cx="2340887" cy="9567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255" y="956310"/>
            <a:ext cx="2304415" cy="493981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Фонд обладает уникальным сочетанием </a:t>
            </a:r>
            <a:r>
              <a:rPr lang="ru-RU" sz="1600" b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преимуществ</a:t>
            </a:r>
            <a:r>
              <a:rPr lang="ru-RU" sz="1600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:</a:t>
            </a:r>
            <a:endParaRPr lang="ru-RU" sz="1600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ctr"/>
            <a:r>
              <a:rPr lang="ru-RU" sz="1600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 </a:t>
            </a:r>
            <a:endParaRPr lang="ru-RU" sz="1600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marL="154305" indent="-154305" algn="l" fontAlgn="auto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ru-RU" sz="1500" i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международным позиционированием, </a:t>
            </a:r>
            <a:endParaRPr lang="ru-RU" sz="1500" i="1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marL="154305" indent="-154305" algn="l" fontAlgn="auto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ru-RU" sz="1500" i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региональным мандатом, </a:t>
            </a:r>
            <a:endParaRPr lang="ru-RU" sz="1500" i="1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marL="154305" indent="-154305" algn="l" fontAlgn="auto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ru-RU" sz="1500" i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опытом реализации крупнейшего экологического мероприятия Центральной Азии, </a:t>
            </a:r>
            <a:endParaRPr lang="ru-RU" sz="1500" i="1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marL="154305" indent="-154305" algn="l" fontAlgn="auto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ru-RU" sz="1500" i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функционированием в юрисдикции МФЦА  </a:t>
            </a:r>
            <a:endParaRPr lang="ru-RU" sz="1500" i="1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marL="154305" indent="-154305" algn="l" fontAlgn="auto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ru-RU" sz="1500" i="1" dirty="0">
                <a:solidFill>
                  <a:schemeClr val="tx2"/>
                </a:solidFill>
                <a:latin typeface="Manrope" pitchFamily="2" charset="0"/>
                <a:cs typeface="Calibri" panose="020F0502020204030204" pitchFamily="34" charset="0"/>
              </a:rPr>
              <a:t>сформированной сетью международных партнерств.</a:t>
            </a:r>
            <a:endParaRPr lang="ru-RU" sz="1500" i="1" dirty="0">
              <a:solidFill>
                <a:schemeClr val="tx2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4"/>
          <a:srcRect l="2128" t="15927" r="2032" b="11223"/>
          <a:stretch>
            <a:fillRect/>
          </a:stretch>
        </p:blipFill>
        <p:spPr>
          <a:xfrm>
            <a:off x="2494915" y="1106805"/>
            <a:ext cx="8771890" cy="3441700"/>
          </a:xfrm>
          <a:prstGeom prst="rect">
            <a:avLst/>
          </a:prstGeom>
        </p:spPr>
      </p:pic>
      <p:sp>
        <p:nvSpPr>
          <p:cNvPr id="13" name="Текстовое поле 12"/>
          <p:cNvSpPr txBox="1"/>
          <p:nvPr/>
        </p:nvSpPr>
        <p:spPr>
          <a:xfrm>
            <a:off x="2566670" y="4477385"/>
            <a:ext cx="8700135" cy="1814830"/>
          </a:xfrm>
          <a:prstGeom prst="rect">
            <a:avLst/>
          </a:prstGeom>
          <a:noFill/>
          <a:effectLst/>
          <a:scene3d>
            <a:camera prst="orthographicFront"/>
            <a:lightRig rig="threePt" dir="t"/>
          </a:scene3d>
          <a:sp3d extrusionH="76200">
            <a:extrusionClr>
              <a:srgbClr val="156082"/>
            </a:extrusionClr>
          </a:sp3d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Manrope" pitchFamily="2" charset="0"/>
                <a:cs typeface="Calibri" panose="020F0502020204030204" pitchFamily="34" charset="0"/>
                <a:sym typeface="+mn-ea"/>
              </a:rPr>
              <a:t>Созданная при Фонде «Сеть экспертов Центральной Азии+» позволяет обеспечивать экспертно-аналитическое сопровождение климатической, экологической и энергетической повестки региона, научно-практическое изучение отраслевых вопросов и выработки экспертных заключений, аналитики, рекомендаций и реализации программ по вопросам изменения климата, устойчивого развития и принципов ESG, зеленой энергетики и охраны окружающей среды, в т.ч. отходов, загрязнений, воздуха, деградации земель, опустынивание и т.д.</a:t>
            </a:r>
            <a:endParaRPr lang="ru-RU" sz="1600" dirty="0">
              <a:solidFill>
                <a:schemeClr val="tx1"/>
              </a:solidFill>
              <a:latin typeface="Manrope" pitchFamily="2" charset="0"/>
              <a:cs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Стратегические цели и этапы развития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999" y="1512000"/>
            <a:ext cx="48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Цели по уставу Фонда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88000" y="18359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00" y="18359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01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2000" y="1818000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Ускорение региональных климатических действий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88000" y="24552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8000" y="24552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02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2000" y="2437200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Региональная климатическая политика и сотрудничество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88000" y="30743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00" y="30743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03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2000" y="3056399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Поддержка разработки политик и регулирования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88000" y="36936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00" y="36936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04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2000" y="3675599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Исследования и инновации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88000" y="43128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00" y="43128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05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2000" y="4294800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Партнёрства с МФИ, НПО, бизнесом и наукой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88000" y="49320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00" y="49320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06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2000" y="4914000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Климатические данные и наука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88000" y="55512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8000" y="55512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07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2000" y="5533200"/>
            <a:ext cx="424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Повышение осведомлённости и развитие потенциала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28000" y="1512000"/>
            <a:ext cx="648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Стратегия 2026–2035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328000" y="1835999"/>
            <a:ext cx="6588000" cy="1332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28000" y="1835999"/>
            <a:ext cx="43200" cy="1332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72000" y="1943999"/>
            <a:ext cx="136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156082"/>
                </a:solidFill>
                <a:latin typeface="Manrope"/>
              </a:rPr>
              <a:t>2026–2027</a:t>
            </a:r>
            <a:endParaRPr sz="18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12000" y="1943999"/>
            <a:ext cx="4896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Устойчивость и проектный портфель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12000" y="2286000"/>
            <a:ext cx="489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Сопровождение решений РЭС, ESG, «Таза Қазақстан», сеть экспертов, международное сотрудничество, тендеры и гранты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328000" y="3311999"/>
            <a:ext cx="6588000" cy="133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28000" y="3311999"/>
            <a:ext cx="43200" cy="1332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72000" y="3420000"/>
            <a:ext cx="136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1C3E6D"/>
                </a:solidFill>
                <a:latin typeface="Manrope"/>
              </a:rPr>
              <a:t>до 2028</a:t>
            </a:r>
            <a:endParaRPr sz="18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912000" y="3420000"/>
            <a:ext cx="4896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«Зелёный Think Tank» Центральной Азии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912000" y="3761999"/>
            <a:ext cx="489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Собственная аналитическая платформа, регулярная аналитика, признанный центр компетенций региона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328000" y="4788000"/>
            <a:ext cx="6588000" cy="1332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28000" y="4788000"/>
            <a:ext cx="43200" cy="13320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72000" y="4896000"/>
            <a:ext cx="136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C99A1E"/>
                </a:solidFill>
                <a:latin typeface="Manrope"/>
              </a:rPr>
              <a:t>до 2035</a:t>
            </a:r>
            <a:endParaRPr sz="18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912000" y="4896000"/>
            <a:ext cx="4896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«Суперфонд»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912000" y="5238000"/>
            <a:ext cx="489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Ведущая региональная платформа: ключевой партнёр международных организаций, оператор климатического финансирования, центр координации экологической повестки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Направления деятельности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999" y="144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Действующие направления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1999" y="171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1999" y="1710000"/>
            <a:ext cx="3780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000" y="181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3B7D48"/>
                </a:solidFill>
                <a:latin typeface="Manrope"/>
              </a:rPr>
              <a:t>Региональный экологический саммит</a:t>
            </a:r>
            <a:endParaRPr sz="13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0000" y="2196000"/>
            <a:ext cx="3564000" cy="566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404040"/>
                </a:solidFill>
                <a:latin typeface="Manrope"/>
              </a:rPr>
              <a:t>Сопровождение </a:t>
            </a:r>
            <a:r>
              <a:rPr sz="1150" b="0">
                <a:solidFill>
                  <a:srgbClr val="404040"/>
                </a:solidFill>
                <a:latin typeface="Manrope"/>
              </a:rPr>
              <a:t>решений и инициатив РЭС-2026: 58 сессий как портфель проектов и программ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176000" y="171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76000" y="1710000"/>
            <a:ext cx="378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84000" y="181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  <a:latin typeface="Manrope"/>
              </a:rPr>
              <a:t>«Таза Қазақстан»</a:t>
            </a:r>
            <a:endParaRPr sz="13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84000" y="2196000"/>
            <a:ext cx="3564000" cy="566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Проектный офис и </a:t>
            </a:r>
            <a:r>
              <a:rPr sz="1150" b="1">
                <a:solidFill>
                  <a:srgbClr val="404040"/>
                </a:solidFill>
                <a:latin typeface="Manrope"/>
              </a:rPr>
              <a:t>оператор </a:t>
            </a:r>
            <a:r>
              <a:rPr sz="1150" b="0">
                <a:solidFill>
                  <a:srgbClr val="404040"/>
                </a:solidFill>
                <a:latin typeface="Manrope"/>
              </a:rPr>
              <a:t>мероприятий инициативы; адаптация практик для стран Центральной Азии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00000" y="171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00000" y="1710000"/>
            <a:ext cx="3780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8000" y="181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ESG</a:t>
            </a:r>
            <a:endParaRPr sz="13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08000" y="2196000"/>
            <a:ext cx="3564000" cy="74295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Методическая поддержка, </a:t>
            </a:r>
            <a:r>
              <a:rPr sz="1150" b="1">
                <a:solidFill>
                  <a:srgbClr val="404040"/>
                </a:solidFill>
                <a:latin typeface="Manrope"/>
              </a:rPr>
              <a:t>оценка</a:t>
            </a:r>
            <a:r>
              <a:rPr sz="1150" b="0">
                <a:solidFill>
                  <a:srgbClr val="404040"/>
                </a:solidFill>
                <a:latin typeface="Manrope"/>
              </a:rPr>
              <a:t>, консультирование и обучение по устойчивому развитию и раскрытию нефинансовой информации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51999" y="306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999" y="3060000"/>
            <a:ext cx="378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000" y="316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  <a:latin typeface="Manrope"/>
              </a:rPr>
              <a:t>Климатические и экологические риски</a:t>
            </a:r>
            <a:endParaRPr sz="13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0000" y="3546000"/>
            <a:ext cx="3564000" cy="566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404040"/>
                </a:solidFill>
                <a:latin typeface="Manrope"/>
              </a:rPr>
              <a:t>Оценка </a:t>
            </a:r>
            <a:r>
              <a:rPr sz="1150" b="0">
                <a:solidFill>
                  <a:srgbClr val="404040"/>
                </a:solidFill>
                <a:latin typeface="Manrope"/>
              </a:rPr>
              <a:t>физических и переходных рисков для государственных органов, организаций и инвесторов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176000" y="306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76000" y="3060000"/>
            <a:ext cx="3780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84000" y="316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Аналитика и «Зелёный Think Tank»</a:t>
            </a:r>
            <a:endParaRPr sz="13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84000" y="3546000"/>
            <a:ext cx="3564000" cy="566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404040"/>
                </a:solidFill>
                <a:latin typeface="Manrope"/>
              </a:rPr>
              <a:t>Обзоры </a:t>
            </a:r>
            <a:r>
              <a:rPr sz="1150" b="0">
                <a:solidFill>
                  <a:srgbClr val="404040"/>
                </a:solidFill>
                <a:latin typeface="Manrope"/>
              </a:rPr>
              <a:t>по Центральной Азии, аналитика по «Таза Қазақстан», климатические риски, ежегодные доклады; сеть экспертов ЦА+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100000" y="306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00000" y="3060000"/>
            <a:ext cx="3780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8000" y="316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C99A1E"/>
                </a:solidFill>
                <a:latin typeface="Manrope"/>
              </a:rPr>
              <a:t>Обучение</a:t>
            </a:r>
            <a:endParaRPr sz="13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8000" y="3546000"/>
            <a:ext cx="3564000" cy="5664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404040"/>
                </a:solidFill>
                <a:latin typeface="Manrope"/>
              </a:rPr>
              <a:t>Учебный центр Фонда</a:t>
            </a:r>
            <a:r>
              <a:rPr sz="1150" b="0">
                <a:solidFill>
                  <a:srgbClr val="404040"/>
                </a:solidFill>
                <a:latin typeface="Manrope"/>
              </a:rPr>
              <a:t>: обучение и повышение квалификации по экологии, климату, устойчивому развитию и ESG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51999" y="4446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Перспективные направления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51999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999" y="4716000"/>
            <a:ext cx="2826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0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3B7D48"/>
                </a:solidFill>
                <a:latin typeface="Manrope"/>
              </a:rPr>
              <a:t>Офсеты и климатическое финансирование</a:t>
            </a:r>
            <a:endParaRPr sz="12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00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Отбор и сопровождение офсетных проектов, привлечение климатического и грантового финансирования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193199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93199" y="4716000"/>
            <a:ext cx="2826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012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56082"/>
                </a:solidFill>
                <a:latin typeface="Manrope"/>
              </a:rPr>
              <a:t>Озоновый центр</a:t>
            </a:r>
            <a:endParaRPr sz="12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3012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Мониторинг озоноразрушающих веществ, техническая поддержка, проекты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134400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34400" y="4716000"/>
            <a:ext cx="2826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424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C3E6D"/>
                </a:solidFill>
                <a:latin typeface="Manrope"/>
              </a:rPr>
              <a:t>«Зелёные школы» с ЮНИСЕФ</a:t>
            </a:r>
            <a:endParaRPr sz="12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424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Региональная координация программы в Центральной Азии, волонтёрство, экологическое просвещение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075599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75599" y="4716000"/>
            <a:ext cx="2826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36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Manrope"/>
              </a:rPr>
              <a:t>Цифровые решения</a:t>
            </a:r>
            <a:endParaRPr sz="12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1836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Платформы на основе ИИ и ГИС для мониторинга экологических и климатических данных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Проектный офис «Таза Қазақстан» на базе Фонда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51999" y="1512000"/>
            <a:ext cx="11664000" cy="97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1999" y="1512000"/>
            <a:ext cx="43200" cy="972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000" y="1548000"/>
            <a:ext cx="113760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1C3E6D"/>
                </a:solidFill>
                <a:latin typeface="Manrope"/>
              </a:rPr>
              <a:t>Экологические решения – от сокращения выбросов до обращения с отходами – дают результат только тогда, когда их поддерживает общество и они становятся частью повседневного поведения людей и бизнеса. </a:t>
            </a:r>
            <a:r>
              <a:rPr sz="1400" b="1">
                <a:solidFill>
                  <a:srgbClr val="1C3E6D"/>
                </a:solidFill>
                <a:latin typeface="Manrope"/>
              </a:rPr>
              <a:t>Эту задачу на национальном уровне решает инициатива Главы государства «Таза Қазақстан».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51999" y="2592000"/>
            <a:ext cx="3780000" cy="1764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51999" y="2592000"/>
            <a:ext cx="3780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2700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3B7D48"/>
                </a:solidFill>
                <a:latin typeface="Manrope"/>
              </a:rPr>
              <a:t>МЭПР</a:t>
            </a:r>
            <a:endParaRPr sz="15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60000" y="3078000"/>
            <a:ext cx="3564000" cy="12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Общее руководство, определение приоритетов, координация государственных органов и акиматов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193999" y="2592000"/>
            <a:ext cx="3780000" cy="1764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93999" y="2592000"/>
            <a:ext cx="378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02000" y="2700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Manrope"/>
              </a:rPr>
              <a:t>Проектный офис</a:t>
            </a:r>
            <a:endParaRPr sz="15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302000" y="3078000"/>
            <a:ext cx="3564000" cy="12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Реализация задач инициативы: социология, проектное управление и регионы, цифровизация, коммуникация и креатив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135999" y="2592000"/>
            <a:ext cx="3780000" cy="1764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5999" y="2592000"/>
            <a:ext cx="3780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3999" y="2700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C3E6D"/>
                </a:solidFill>
                <a:latin typeface="Manrope"/>
              </a:rPr>
              <a:t>Фонд</a:t>
            </a:r>
            <a:endParaRPr sz="15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43999" y="3078000"/>
            <a:ext cx="3564000" cy="12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Организационная, правовая и финансовая платформа, методология и проверка данных, аналитика, международные методики и партнёрства, привлечение внебюджетных средств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1999" y="4482000"/>
            <a:ext cx="115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Итоги Концепции «Таза Қазақстан» 2024–2029 на сегодня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51999" y="4788000"/>
            <a:ext cx="280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3B7D48"/>
                </a:solidFill>
                <a:latin typeface="Manrope"/>
              </a:rPr>
              <a:t>≈3 млн т</a:t>
            </a:r>
            <a:endParaRPr sz="2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51999" y="5274000"/>
            <a:ext cx="280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отходов собрано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193199" y="4788000"/>
            <a:ext cx="280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56082"/>
                </a:solidFill>
                <a:latin typeface="Manrope"/>
              </a:rPr>
              <a:t>≈3 млн га</a:t>
            </a:r>
            <a:endParaRPr sz="24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193199" y="5274000"/>
            <a:ext cx="280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территорий очищено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34400" y="4788000"/>
            <a:ext cx="280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C3E6D"/>
                </a:solidFill>
                <a:latin typeface="Manrope"/>
              </a:rPr>
              <a:t>≈5,8 млн</a:t>
            </a:r>
            <a:endParaRPr sz="2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34400" y="5274000"/>
            <a:ext cx="280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деревьев высажено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075599" y="4788000"/>
            <a:ext cx="280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C99A1E"/>
                </a:solidFill>
                <a:latin typeface="Manrope"/>
              </a:rPr>
              <a:t>6+ млн</a:t>
            </a:r>
            <a:endParaRPr sz="24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075599" y="5274000"/>
            <a:ext cx="280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участников ежегодно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51999" y="5616000"/>
            <a:ext cx="116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Размещение Проектного офиса на базе Фонда не требует создания новой государственной структуры и позволяет сразу использовать инфраструктуру, опыт и международные партнёрства Фонда.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551" y="303599"/>
            <a:ext cx="1133489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</a:t>
            </a: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климатический фонд</a:t>
            </a:r>
            <a:b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5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5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sz="5400" b="1" dirty="0">
                <a:solidFill>
                  <a:schemeClr val="bg1"/>
                </a:solidFill>
                <a:cs typeface="Calibri" panose="020F0502020204030204" pitchFamily="34" charset="0"/>
              </a:rPr>
              <a:t>ESG принципы</a:t>
            </a:r>
            <a:endParaRPr lang="ru-RU" sz="5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13" y="303599"/>
            <a:ext cx="2340887" cy="9567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3000" b="1" i="0" dirty="0">
                <a:solidFill>
                  <a:srgbClr val="2E9E6B"/>
                </a:solidFill>
                <a:latin typeface="Cambria" panose="02040503050406030204"/>
              </a:rPr>
              <a:t>02</a:t>
            </a:r>
            <a:endParaRPr lang="ru-RU" sz="3000" b="1" i="0" dirty="0">
              <a:solidFill>
                <a:srgbClr val="2E9E6B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05313" y="157787"/>
            <a:ext cx="996696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3000" b="1" dirty="0">
                <a:solidFill>
                  <a:srgbClr val="1F3864"/>
                </a:solidFill>
                <a:latin typeface="Cambria" panose="02040503050406030204"/>
              </a:rPr>
              <a:t>ESG методология</a:t>
            </a:r>
            <a:endParaRPr lang="ru-RU" sz="3000" b="1" i="0" dirty="0">
              <a:solidFill>
                <a:srgbClr val="1F3864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500" b="0" i="0" dirty="0" err="1">
                <a:solidFill>
                  <a:srgbClr val="595959"/>
                </a:solidFill>
                <a:latin typeface="Calibri" panose="020F0502020204030204"/>
              </a:rPr>
              <a:t>Rаждый</a:t>
            </a:r>
            <a:r>
              <a:rPr lang="ru-RU" sz="1500" b="0" i="0" dirty="0">
                <a:solidFill>
                  <a:srgbClr val="595959"/>
                </a:solidFill>
                <a:latin typeface="Calibri" panose="020F0502020204030204"/>
              </a:rPr>
              <a:t> показатель опирается на признанный стандарт или норму права.</a:t>
            </a:r>
            <a:endParaRPr lang="ru-RU" sz="1500" b="0" i="0" dirty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03520" cy="33832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60120" y="2560320"/>
            <a:ext cx="777240" cy="77724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3200" b="1" dirty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ru-RU" sz="32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20240" y="265176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2000" b="1" i="0" dirty="0">
                <a:solidFill>
                  <a:srgbClr val="2F5597"/>
                </a:solidFill>
                <a:latin typeface="Cambria" panose="02040503050406030204"/>
              </a:rPr>
              <a:t>Международные стандарты</a:t>
            </a:r>
            <a:endParaRPr lang="ru-RU" sz="2000" b="1" i="0" dirty="0">
              <a:solidFill>
                <a:srgbClr val="2F5597"/>
              </a:solidFill>
              <a:latin typeface="Cambria" panose="0204050305040603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960120" y="3666744"/>
            <a:ext cx="182880" cy="18288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325880" y="361188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450" b="0" i="0" dirty="0">
                <a:solidFill>
                  <a:srgbClr val="3A3A3A"/>
                </a:solidFill>
                <a:latin typeface="Calibri" panose="020F0502020204030204"/>
              </a:rPr>
              <a:t>IFRS S1 / S2 — раскрытие устойчивости</a:t>
            </a:r>
            <a:endParaRPr lang="ru-RU" sz="14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0120" y="4142232"/>
            <a:ext cx="182880" cy="18288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325880" y="408736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450" b="0" i="0" dirty="0">
                <a:solidFill>
                  <a:srgbClr val="3A3A3A"/>
                </a:solidFill>
                <a:latin typeface="Calibri" panose="020F0502020204030204"/>
              </a:rPr>
              <a:t>SASB — отраслевая существенность</a:t>
            </a:r>
            <a:endParaRPr lang="ru-RU" sz="14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60120" y="4617720"/>
            <a:ext cx="182880" cy="18288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325880" y="456285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450" b="0" i="0" dirty="0">
                <a:solidFill>
                  <a:srgbClr val="3A3A3A"/>
                </a:solidFill>
                <a:latin typeface="Calibri" panose="020F0502020204030204"/>
              </a:rPr>
              <a:t>GRI — стандарты отчётности</a:t>
            </a:r>
            <a:endParaRPr lang="ru-RU" sz="14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60120" y="5093207"/>
            <a:ext cx="182880" cy="18288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325880" y="503834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450" b="0" i="0" dirty="0">
                <a:solidFill>
                  <a:srgbClr val="3A3A3A"/>
                </a:solidFill>
                <a:latin typeface="Calibri" panose="020F0502020204030204"/>
              </a:rPr>
              <a:t>Принцип двойной существенности</a:t>
            </a:r>
            <a:endParaRPr lang="ru-RU" sz="14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5352" y="2240280"/>
            <a:ext cx="5303520" cy="33832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Oval 17"/>
          <p:cNvSpPr/>
          <p:nvPr/>
        </p:nvSpPr>
        <p:spPr>
          <a:xfrm>
            <a:off x="6565392" y="2560320"/>
            <a:ext cx="777240" cy="7772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3200" b="1" dirty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ru-RU" sz="32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25512" y="265176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2000" b="1" i="0" dirty="0">
                <a:solidFill>
                  <a:srgbClr val="FFFFFF"/>
                </a:solidFill>
                <a:latin typeface="Cambria" panose="02040503050406030204"/>
              </a:rPr>
              <a:t>Право Казахстана</a:t>
            </a:r>
            <a:endParaRPr lang="ru-RU" sz="2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5392" y="365760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5400" b="1" i="0" dirty="0">
                <a:solidFill>
                  <a:srgbClr val="2E9E6B"/>
                </a:solidFill>
                <a:latin typeface="Cambria" panose="02040503050406030204"/>
              </a:rPr>
              <a:t>≈ 800</a:t>
            </a:r>
            <a:endParaRPr lang="ru-RU" sz="5400" b="1" i="0" dirty="0">
              <a:solidFill>
                <a:srgbClr val="2E9E6B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5392" y="45720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400" b="1" i="0" dirty="0">
                <a:solidFill>
                  <a:srgbClr val="CADCFC"/>
                </a:solidFill>
                <a:latin typeface="Calibri" panose="020F0502020204030204"/>
              </a:rPr>
              <a:t>действующих НПА Республики Казахстан</a:t>
            </a:r>
            <a:endParaRPr lang="ru-RU" sz="1400" b="1" i="0" dirty="0">
              <a:solidFill>
                <a:srgbClr val="CADCF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5392" y="4965192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300" b="0" i="0" dirty="0">
                <a:solidFill>
                  <a:srgbClr val="B9CCEC"/>
                </a:solidFill>
                <a:latin typeface="Calibri" panose="020F0502020204030204"/>
              </a:rPr>
              <a:t>экология · труд · охрана здоровья · корпоративное управление</a:t>
            </a:r>
            <a:endParaRPr lang="ru-RU" sz="1300" b="0" i="0" dirty="0">
              <a:solidFill>
                <a:srgbClr val="B9CCEC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6072" y="5765136"/>
            <a:ext cx="10881360" cy="4290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300" b="0" i="1" dirty="0">
                <a:solidFill>
                  <a:srgbClr val="595959"/>
                </a:solidFill>
                <a:latin typeface="Calibri" panose="020F0502020204030204"/>
              </a:rPr>
              <a:t>Международная рамка задаёт, что оценивать; национальное право — по каким требованиям. </a:t>
            </a:r>
            <a:br>
              <a:rPr lang="ru-RU" sz="1300" b="0" i="1" dirty="0">
                <a:solidFill>
                  <a:srgbClr val="595959"/>
                </a:solidFill>
                <a:latin typeface="Calibri" panose="020F0502020204030204"/>
              </a:rPr>
            </a:br>
            <a:r>
              <a:rPr lang="ru-RU" sz="1300" b="0" i="1" dirty="0">
                <a:solidFill>
                  <a:srgbClr val="595959"/>
                </a:solidFill>
                <a:latin typeface="Calibri" panose="020F0502020204030204"/>
              </a:rPr>
              <a:t>Методология сводит их вместе и поддерживается в актуальном состоянии.</a:t>
            </a:r>
            <a:endParaRPr lang="ru-RU" sz="1300" b="0" i="1" dirty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24" name="Прямоугольник с двумя скругленными соседними углами 23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cxnSp>
        <p:nvCxnSpPr>
          <p:cNvPr id="27" name="Прямая соединительная линия 26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217008" y="-4325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3000" b="1" i="0" dirty="0">
                <a:solidFill>
                  <a:srgbClr val="1F3864"/>
                </a:solidFill>
                <a:latin typeface="Cambria" panose="02040503050406030204"/>
              </a:rPr>
              <a:t>Шкала — ступени зрелости</a:t>
            </a:r>
            <a:endParaRPr lang="ru-RU" sz="3000" b="1" i="0" dirty="0">
              <a:solidFill>
                <a:srgbClr val="1F3864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137647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400" b="0" i="0" dirty="0">
                <a:solidFill>
                  <a:srgbClr val="595959"/>
                </a:solidFill>
                <a:latin typeface="Calibri" panose="020F0502020204030204"/>
              </a:rPr>
              <a:t>Каждая оценка — достигнутый рубеж и следующий шаг вверх. Даже старт — уже результат: компания вступила на путь.</a:t>
            </a:r>
            <a:endParaRPr lang="ru-RU" sz="1400" b="0" i="0" dirty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905" y="1596493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Rounded Rectangle 6"/>
          <p:cNvSpPr/>
          <p:nvPr/>
        </p:nvSpPr>
        <p:spPr>
          <a:xfrm>
            <a:off x="609905" y="1596493"/>
            <a:ext cx="1600200" cy="786384"/>
          </a:xfrm>
          <a:prstGeom prst="roundRect">
            <a:avLst>
              <a:gd name="adj" fmla="val 6000"/>
            </a:avLst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609905" y="1596493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lang="ru-RU" sz="2000" b="1" i="0" dirty="0">
                <a:solidFill>
                  <a:srgbClr val="FFFFFF"/>
                </a:solidFill>
                <a:latin typeface="Cambria" panose="02040503050406030204"/>
              </a:rPr>
              <a:t>+ / </a:t>
            </a:r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A</a:t>
            </a:r>
            <a:endParaRPr lang="ru-RU" sz="2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92985" y="1596493"/>
            <a:ext cx="2743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800" b="1" i="0" dirty="0">
                <a:solidFill>
                  <a:srgbClr val="1E6E4A"/>
                </a:solidFill>
                <a:latin typeface="Cambria" panose="02040503050406030204"/>
              </a:rPr>
              <a:t>Лидирующий</a:t>
            </a:r>
            <a:endParaRPr lang="ru-RU" sz="1800" b="1" i="0" dirty="0">
              <a:solidFill>
                <a:srgbClr val="1E6E4A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27625" y="1596493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350" b="0" i="0" dirty="0">
                <a:solidFill>
                  <a:srgbClr val="3A3A3A"/>
                </a:solidFill>
                <a:latin typeface="Calibri" panose="020F0502020204030204"/>
              </a:rPr>
              <a:t>эталонные практики, ориентир отрасли</a:t>
            </a:r>
            <a:endParaRPr lang="ru-RU" sz="13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9905" y="2474317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ounded Rectangle 11"/>
          <p:cNvSpPr/>
          <p:nvPr/>
        </p:nvSpPr>
        <p:spPr>
          <a:xfrm>
            <a:off x="609905" y="2474317"/>
            <a:ext cx="1600200" cy="786384"/>
          </a:xfrm>
          <a:prstGeom prst="roundRect">
            <a:avLst>
              <a:gd name="adj" fmla="val 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09905" y="2474317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lang="ru-RU" sz="2000" b="1" i="0" dirty="0">
                <a:solidFill>
                  <a:srgbClr val="FFFFFF"/>
                </a:solidFill>
                <a:latin typeface="Cambria" panose="02040503050406030204"/>
              </a:rPr>
              <a:t>+ / </a:t>
            </a:r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B</a:t>
            </a:r>
            <a:endParaRPr lang="ru-RU" sz="2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92985" y="2474317"/>
            <a:ext cx="2743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800" b="1" i="0" dirty="0">
                <a:solidFill>
                  <a:srgbClr val="2E9E6B"/>
                </a:solidFill>
                <a:latin typeface="Cambria" panose="02040503050406030204"/>
              </a:rPr>
              <a:t>Зрелый</a:t>
            </a:r>
            <a:endParaRPr lang="ru-RU" sz="1800" b="1" i="0" dirty="0">
              <a:solidFill>
                <a:srgbClr val="2E9E6B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27625" y="2474317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350" b="0" i="0" dirty="0">
                <a:solidFill>
                  <a:srgbClr val="3A3A3A"/>
                </a:solidFill>
                <a:latin typeface="Calibri" panose="020F0502020204030204"/>
              </a:rPr>
              <a:t>управление выстроено системно и полно</a:t>
            </a:r>
            <a:endParaRPr lang="ru-RU" sz="13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905" y="3352141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ounded Rectangle 16"/>
          <p:cNvSpPr/>
          <p:nvPr/>
        </p:nvSpPr>
        <p:spPr>
          <a:xfrm>
            <a:off x="609905" y="3352141"/>
            <a:ext cx="1600200" cy="786384"/>
          </a:xfrm>
          <a:prstGeom prst="roundRect">
            <a:avLst>
              <a:gd name="adj" fmla="val 6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609905" y="3352141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C</a:t>
            </a:r>
            <a:r>
              <a:rPr lang="ru-RU" sz="2000" b="1" i="0" dirty="0">
                <a:solidFill>
                  <a:srgbClr val="FFFFFF"/>
                </a:solidFill>
                <a:latin typeface="Cambria" panose="02040503050406030204"/>
              </a:rPr>
              <a:t>+ / </a:t>
            </a:r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C</a:t>
            </a:r>
            <a:endParaRPr lang="ru-RU" sz="2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92985" y="3352141"/>
            <a:ext cx="2743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800" b="1" i="0" dirty="0">
                <a:solidFill>
                  <a:srgbClr val="2F5597"/>
                </a:solidFill>
                <a:latin typeface="Cambria" panose="02040503050406030204"/>
              </a:rPr>
              <a:t>Уверенный</a:t>
            </a:r>
            <a:endParaRPr lang="ru-RU" sz="1800" b="1" i="0" dirty="0">
              <a:solidFill>
                <a:srgbClr val="2F5597"/>
              </a:solidFill>
              <a:latin typeface="Cambria" panose="02040503050406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27625" y="3352141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350" b="0" i="0" dirty="0">
                <a:solidFill>
                  <a:srgbClr val="3A3A3A"/>
                </a:solidFill>
                <a:latin typeface="Calibri" panose="020F0502020204030204"/>
              </a:rPr>
              <a:t>ключевые аспекты под системным управлением</a:t>
            </a:r>
            <a:endParaRPr lang="ru-RU" sz="13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9905" y="4229965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609905" y="4229965"/>
            <a:ext cx="1600200" cy="786384"/>
          </a:xfrm>
          <a:prstGeom prst="roundRect">
            <a:avLst>
              <a:gd name="adj" fmla="val 6000"/>
            </a:avLst>
          </a:prstGeom>
          <a:solidFill>
            <a:srgbClr val="3E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609905" y="4229965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D</a:t>
            </a:r>
            <a:r>
              <a:rPr lang="ru-RU" sz="2000" b="1" i="0" dirty="0">
                <a:solidFill>
                  <a:srgbClr val="FFFFFF"/>
                </a:solidFill>
                <a:latin typeface="Cambria" panose="02040503050406030204"/>
              </a:rPr>
              <a:t>+ / </a:t>
            </a:r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D</a:t>
            </a:r>
            <a:endParaRPr lang="ru-RU" sz="2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92985" y="4229965"/>
            <a:ext cx="2743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800" b="1" i="0" dirty="0">
                <a:solidFill>
                  <a:srgbClr val="3E63A8"/>
                </a:solidFill>
                <a:latin typeface="Cambria" panose="02040503050406030204"/>
              </a:rPr>
              <a:t>Развивающийся</a:t>
            </a:r>
            <a:endParaRPr lang="ru-RU" sz="1800" b="1" i="0" dirty="0">
              <a:solidFill>
                <a:srgbClr val="3E63A8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27625" y="4229965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350" b="0" i="0" dirty="0">
                <a:solidFill>
                  <a:srgbClr val="3A3A3A"/>
                </a:solidFill>
                <a:latin typeface="Calibri" panose="020F0502020204030204"/>
              </a:rPr>
              <a:t>базовые практики действуют, приоритеты видны</a:t>
            </a:r>
            <a:endParaRPr lang="ru-RU" sz="13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9905" y="5107789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ounded Rectangle 26"/>
          <p:cNvSpPr/>
          <p:nvPr/>
        </p:nvSpPr>
        <p:spPr>
          <a:xfrm>
            <a:off x="609905" y="5107789"/>
            <a:ext cx="1600200" cy="786384"/>
          </a:xfrm>
          <a:prstGeom prst="roundRect">
            <a:avLst>
              <a:gd name="adj" fmla="val 6000"/>
            </a:avLst>
          </a:prstGeom>
          <a:solidFill>
            <a:srgbClr val="6E8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609905" y="5107789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E</a:t>
            </a:r>
            <a:r>
              <a:rPr lang="ru-RU" sz="2000" b="1" i="0" dirty="0">
                <a:solidFill>
                  <a:srgbClr val="FFFFFF"/>
                </a:solidFill>
                <a:latin typeface="Cambria" panose="02040503050406030204"/>
              </a:rPr>
              <a:t>+ / </a:t>
            </a:r>
            <a:r>
              <a:rPr lang="ru-RU" sz="2000" b="1" i="0" dirty="0" err="1">
                <a:solidFill>
                  <a:srgbClr val="FFFFFF"/>
                </a:solidFill>
                <a:latin typeface="Cambria" panose="02040503050406030204"/>
              </a:rPr>
              <a:t>E</a:t>
            </a:r>
            <a:endParaRPr lang="ru-RU" sz="2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92985" y="5107789"/>
            <a:ext cx="27432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800" b="1" i="0" dirty="0">
                <a:solidFill>
                  <a:srgbClr val="6E8ABE"/>
                </a:solidFill>
                <a:latin typeface="Cambria" panose="02040503050406030204"/>
              </a:rPr>
              <a:t>Стартовый</a:t>
            </a:r>
            <a:endParaRPr lang="ru-RU" sz="1800" b="1" i="0" dirty="0">
              <a:solidFill>
                <a:srgbClr val="6E8ABE"/>
              </a:solidFill>
              <a:latin typeface="Cambria" panose="02040503050406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27625" y="5107789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ru-RU" sz="1350" b="0" i="0" dirty="0">
                <a:solidFill>
                  <a:srgbClr val="3A3A3A"/>
                </a:solidFill>
                <a:latin typeface="Calibri" panose="020F0502020204030204"/>
              </a:rPr>
              <a:t>компания ведёт учёт, формирует процедуры</a:t>
            </a:r>
            <a:endParaRPr lang="ru-RU" sz="1350" b="0" i="0" dirty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31" name="Up Arrow 30"/>
          <p:cNvSpPr/>
          <p:nvPr/>
        </p:nvSpPr>
        <p:spPr>
          <a:xfrm>
            <a:off x="11658600" y="1965960"/>
            <a:ext cx="365760" cy="4224528"/>
          </a:xfrm>
          <a:prstGeom prst="upArrow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609905" y="5985613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250" b="0" i="1" dirty="0">
                <a:solidFill>
                  <a:srgbClr val="595959"/>
                </a:solidFill>
                <a:latin typeface="Calibri" panose="020F0502020204030204"/>
              </a:rPr>
              <a:t>Темы ниже 60 % — это «зоны роста»: измеримые возможности подняться на следующую ступень.</a:t>
            </a:r>
            <a:endParaRPr lang="ru-RU" sz="1250" b="0" i="1" dirty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33" name="Прямоугольник с двумя скругленными соседними углами 32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cxnSp>
        <p:nvCxnSpPr>
          <p:cNvPr id="36" name="Прямая соединительная линия 35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492" y="1587755"/>
            <a:ext cx="6141463" cy="35045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32392" y="125972"/>
            <a:ext cx="1106424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ru-RU" sz="3200" b="1" i="0" dirty="0">
                <a:solidFill>
                  <a:srgbClr val="156082"/>
                </a:solidFill>
                <a:latin typeface="Cambria" panose="02040503050406030204"/>
              </a:rPr>
              <a:t>Пример оценки </a:t>
            </a:r>
            <a:r>
              <a:rPr lang="en-US" sz="3200" b="1" i="0" dirty="0">
                <a:solidFill>
                  <a:srgbClr val="156082"/>
                </a:solidFill>
                <a:latin typeface="Cambria" panose="02040503050406030204"/>
              </a:rPr>
              <a:t>ESG</a:t>
            </a:r>
            <a:r>
              <a:rPr lang="ru-RU" sz="3200" b="1" i="0" dirty="0">
                <a:solidFill>
                  <a:srgbClr val="156082"/>
                </a:solidFill>
                <a:latin typeface="Cambria" panose="02040503050406030204"/>
              </a:rPr>
              <a:t>-зрелости банка </a:t>
            </a:r>
            <a:endParaRPr lang="ru-RU" sz="3200" b="1" i="0" dirty="0">
              <a:solidFill>
                <a:srgbClr val="156082"/>
              </a:solidFill>
              <a:latin typeface="Cambria" panose="02040503050406030204"/>
            </a:endParaRPr>
          </a:p>
        </p:txBody>
      </p:sp>
      <p:sp>
        <p:nvSpPr>
          <p:cNvPr id="3" name="Rounded Rectangle 4"/>
          <p:cNvSpPr/>
          <p:nvPr/>
        </p:nvSpPr>
        <p:spPr>
          <a:xfrm>
            <a:off x="7964512" y="1128777"/>
            <a:ext cx="3383280" cy="2026843"/>
          </a:xfrm>
          <a:prstGeom prst="roundRect">
            <a:avLst>
              <a:gd name="adj" fmla="val 1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7890624" y="1212462"/>
            <a:ext cx="33832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ru-RU" sz="1100" b="1" i="0" dirty="0">
                <a:solidFill>
                  <a:srgbClr val="CFE0D3"/>
                </a:solidFill>
                <a:latin typeface="Calibri" panose="020F0502020204030204"/>
              </a:rPr>
              <a:t>ИТОГОВАЯ ОЦЕНКА</a:t>
            </a:r>
            <a:endParaRPr lang="ru-RU" sz="1100" b="1" i="0" dirty="0">
              <a:solidFill>
                <a:srgbClr val="CFE0D3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93229" y="1190767"/>
            <a:ext cx="2425568" cy="144655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8800" b="1" i="0" dirty="0" err="1">
                <a:solidFill>
                  <a:srgbClr val="FFFFFF"/>
                </a:solidFill>
                <a:latin typeface="Cambria" panose="02040503050406030204"/>
              </a:rPr>
              <a:t>C</a:t>
            </a:r>
            <a:endParaRPr lang="ru-RU" sz="88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90624" y="2454438"/>
            <a:ext cx="3383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ru-RU" sz="1400" b="1" i="0" dirty="0">
                <a:solidFill>
                  <a:srgbClr val="C8922B"/>
                </a:solidFill>
                <a:latin typeface="Calibri" panose="020F0502020204030204"/>
              </a:rPr>
              <a:t>УВЕРЕННЫЙ · 41–60 %</a:t>
            </a:r>
            <a:endParaRPr lang="ru-RU" sz="1400" b="1" i="0" dirty="0">
              <a:solidFill>
                <a:srgbClr val="C8922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90624" y="2774478"/>
            <a:ext cx="33832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ru-RU" sz="1200" b="0" i="0" dirty="0">
                <a:solidFill>
                  <a:srgbClr val="CFE0D3"/>
                </a:solidFill>
                <a:latin typeface="Calibri" panose="020F0502020204030204"/>
              </a:rPr>
              <a:t>EQ ≈ 43 %</a:t>
            </a:r>
            <a:endParaRPr lang="ru-RU" sz="1200" b="0" i="0" dirty="0">
              <a:solidFill>
                <a:srgbClr val="CFE0D3"/>
              </a:solidFill>
              <a:latin typeface="Calibri" panose="020F0502020204030204"/>
            </a:endParaRPr>
          </a:p>
        </p:txBody>
      </p:sp>
      <p:sp>
        <p:nvSpPr>
          <p:cNvPr id="8" name="Rounded Rectangle 9"/>
          <p:cNvSpPr/>
          <p:nvPr/>
        </p:nvSpPr>
        <p:spPr>
          <a:xfrm>
            <a:off x="8127075" y="3284911"/>
            <a:ext cx="3146829" cy="86868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 w="12700">
            <a:solidFill>
              <a:srgbClr val="D3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9" name="Rounded Rectangle 10"/>
          <p:cNvSpPr/>
          <p:nvPr/>
        </p:nvSpPr>
        <p:spPr>
          <a:xfrm>
            <a:off x="8264235" y="342207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8264235" y="3488418"/>
            <a:ext cx="5943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2400" b="1" i="0" dirty="0" err="1">
                <a:solidFill>
                  <a:srgbClr val="FFFFFF"/>
                </a:solidFill>
                <a:latin typeface="Cambria" panose="02040503050406030204"/>
              </a:rPr>
              <a:t>E</a:t>
            </a:r>
            <a:endParaRPr lang="ru-RU" sz="24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41475" y="3549973"/>
            <a:ext cx="1628761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ru-RU" sz="1600" b="1" i="0" dirty="0" err="1">
                <a:solidFill>
                  <a:srgbClr val="1F2A24"/>
                </a:solidFill>
                <a:latin typeface="Calibri" panose="020F0502020204030204"/>
              </a:rPr>
              <a:t>Environmental</a:t>
            </a:r>
            <a:endParaRPr lang="ru-RU" sz="1600" b="1" i="0" dirty="0">
              <a:solidFill>
                <a:srgbClr val="1F2A24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04456" y="3446856"/>
            <a:ext cx="1371600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3200" b="1" i="0" dirty="0" err="1">
                <a:solidFill>
                  <a:srgbClr val="B26B1E"/>
                </a:solidFill>
                <a:latin typeface="Cambria" panose="02040503050406030204"/>
              </a:rPr>
              <a:t>D</a:t>
            </a:r>
            <a:endParaRPr lang="ru-RU" sz="3200" b="1" i="0" dirty="0">
              <a:solidFill>
                <a:srgbClr val="B26B1E"/>
              </a:solidFill>
              <a:latin typeface="Cambria" panose="02040503050406030204"/>
            </a:endParaRPr>
          </a:p>
        </p:txBody>
      </p:sp>
      <p:sp>
        <p:nvSpPr>
          <p:cNvPr id="13" name="Rounded Rectangle 14"/>
          <p:cNvSpPr/>
          <p:nvPr/>
        </p:nvSpPr>
        <p:spPr>
          <a:xfrm>
            <a:off x="8127075" y="4336471"/>
            <a:ext cx="3146829" cy="86868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 w="12700">
            <a:solidFill>
              <a:srgbClr val="D3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14" name="Rounded Rectangle 15"/>
          <p:cNvSpPr/>
          <p:nvPr/>
        </p:nvSpPr>
        <p:spPr>
          <a:xfrm>
            <a:off x="8264235" y="447363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8264235" y="4539978"/>
            <a:ext cx="5943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2400" b="1" i="0" dirty="0" err="1">
                <a:solidFill>
                  <a:srgbClr val="FFFFFF"/>
                </a:solidFill>
                <a:latin typeface="Cambria" panose="02040503050406030204"/>
              </a:rPr>
              <a:t>S</a:t>
            </a:r>
            <a:endParaRPr lang="ru-RU" sz="24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41475" y="4601533"/>
            <a:ext cx="1628761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ru-RU" sz="1600" b="1" i="0" dirty="0">
                <a:solidFill>
                  <a:srgbClr val="1F2A24"/>
                </a:solidFill>
                <a:latin typeface="Calibri" panose="020F0502020204030204"/>
              </a:rPr>
              <a:t>Social</a:t>
            </a:r>
            <a:endParaRPr lang="ru-RU" sz="1600" b="1" i="0" dirty="0">
              <a:solidFill>
                <a:srgbClr val="1F2A24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04456" y="4498416"/>
            <a:ext cx="1371600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3200" b="1" i="0" dirty="0" err="1">
                <a:solidFill>
                  <a:srgbClr val="B26B1E"/>
                </a:solidFill>
                <a:latin typeface="Cambria" panose="02040503050406030204"/>
              </a:rPr>
              <a:t>D</a:t>
            </a:r>
            <a:endParaRPr lang="ru-RU" sz="3200" b="1" i="0" dirty="0">
              <a:solidFill>
                <a:srgbClr val="B26B1E"/>
              </a:solidFill>
              <a:latin typeface="Cambria" panose="02040503050406030204"/>
            </a:endParaRPr>
          </a:p>
        </p:txBody>
      </p:sp>
      <p:sp>
        <p:nvSpPr>
          <p:cNvPr id="18" name="Rounded Rectangle 19"/>
          <p:cNvSpPr/>
          <p:nvPr/>
        </p:nvSpPr>
        <p:spPr>
          <a:xfrm>
            <a:off x="8127075" y="5388030"/>
            <a:ext cx="3146829" cy="86868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 w="12700">
            <a:solidFill>
              <a:srgbClr val="D3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19" name="Rounded Rectangle 20"/>
          <p:cNvSpPr/>
          <p:nvPr/>
        </p:nvSpPr>
        <p:spPr>
          <a:xfrm>
            <a:off x="8264235" y="552519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8264235" y="5591538"/>
            <a:ext cx="5943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2400" b="1" i="0" dirty="0" err="1">
                <a:solidFill>
                  <a:srgbClr val="FFFFFF"/>
                </a:solidFill>
                <a:latin typeface="Cambria" panose="02040503050406030204"/>
              </a:rPr>
              <a:t>G</a:t>
            </a:r>
            <a:endParaRPr lang="ru-RU" sz="24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1475" y="5653093"/>
            <a:ext cx="1628761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ru-RU" sz="1600" b="1" i="0" dirty="0" err="1">
                <a:solidFill>
                  <a:srgbClr val="1F2A24"/>
                </a:solidFill>
                <a:latin typeface="Calibri" panose="020F0502020204030204"/>
              </a:rPr>
              <a:t>Governance</a:t>
            </a:r>
            <a:endParaRPr lang="ru-RU" sz="1600" b="1" i="0" dirty="0">
              <a:solidFill>
                <a:srgbClr val="1F2A24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04456" y="5549975"/>
            <a:ext cx="1371600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ru-RU" sz="3200" b="1" i="0" dirty="0" err="1">
                <a:solidFill>
                  <a:srgbClr val="2C5F2D"/>
                </a:solidFill>
                <a:latin typeface="Cambria" panose="02040503050406030204"/>
              </a:rPr>
              <a:t>B</a:t>
            </a:r>
            <a:r>
              <a:rPr lang="ru-RU" sz="3200" b="1" i="0" dirty="0">
                <a:solidFill>
                  <a:srgbClr val="2C5F2D"/>
                </a:solidFill>
                <a:latin typeface="Cambria" panose="02040503050406030204"/>
              </a:rPr>
              <a:t>+</a:t>
            </a:r>
            <a:endParaRPr lang="ru-RU" sz="3200" b="1" i="0" dirty="0">
              <a:solidFill>
                <a:srgbClr val="2C5F2D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2701" y="5333009"/>
            <a:ext cx="5913510" cy="528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0" i="0" dirty="0">
                <a:solidFill>
                  <a:srgbClr val="1F2A24"/>
                </a:solidFill>
                <a:latin typeface="Calibri" panose="020F0502020204030204"/>
              </a:rPr>
              <a:t>Казахстан · финансовая отрасль · период оценки 2024</a:t>
            </a:r>
            <a:endParaRPr lang="ru-RU" sz="1300" b="0" i="0" dirty="0">
              <a:solidFill>
                <a:srgbClr val="1F2A24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lang="ru-RU" sz="1200" b="0" i="0" dirty="0">
                <a:solidFill>
                  <a:srgbClr val="5B6B62"/>
                </a:solidFill>
                <a:latin typeface="Calibri" panose="020F0502020204030204"/>
              </a:rPr>
              <a:t>Сертификат QZ2024FINESG0001 · дата выдачи 31.01.2025</a:t>
            </a:r>
            <a:endParaRPr lang="ru-RU" sz="1200" b="0" i="0" dirty="0">
              <a:solidFill>
                <a:srgbClr val="5B6B62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1492" y="6312249"/>
            <a:ext cx="11064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ru-RU" sz="900" b="0" i="1" dirty="0">
                <a:solidFill>
                  <a:srgbClr val="5B6B62"/>
                </a:solidFill>
                <a:latin typeface="Calibri" panose="020F0502020204030204"/>
              </a:rPr>
              <a:t>Экспертное мнение ТОО «Рейтинговое агентство ESGQ» · не кредитный рейтинг · не инвестиционная рекомендация</a:t>
            </a:r>
            <a:endParaRPr lang="ru-RU" sz="900" b="0" i="1" dirty="0">
              <a:solidFill>
                <a:srgbClr val="5B6B62"/>
              </a:solidFill>
              <a:latin typeface="Calibri" panose="020F0502020204030204"/>
            </a:endParaRPr>
          </a:p>
        </p:txBody>
      </p:sp>
      <p:sp>
        <p:nvSpPr>
          <p:cNvPr id="25" name="Прямоугольник с двумя скругленными соседними углами 24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430" y="117904"/>
            <a:ext cx="1910148" cy="711225"/>
          </a:xfrm>
          <a:prstGeom prst="rect">
            <a:avLst/>
          </a:prstGeom>
        </p:spPr>
      </p:pic>
      <p:cxnSp>
        <p:nvCxnSpPr>
          <p:cNvPr id="28" name="Прямая соединительная линия 27"/>
          <p:cNvCxnSpPr/>
          <p:nvPr/>
        </p:nvCxnSpPr>
        <p:spPr>
          <a:xfrm>
            <a:off x="202858" y="963827"/>
            <a:ext cx="11647273" cy="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191768" y="2690295"/>
            <a:ext cx="1485083" cy="86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04" y="319942"/>
            <a:ext cx="2178050" cy="18008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78704" y="4149084"/>
            <a:ext cx="6182750" cy="2193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u="sng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  <a:hlinkClick r:id="rId4"/>
              </a:rPr>
              <a:t>office@caclimate.fund</a:t>
            </a:r>
            <a: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  <a:t> </a:t>
            </a:r>
            <a:b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</a:br>
            <a:r>
              <a:rPr lang="ru-RU" sz="1800" u="none" strike="noStrike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  <a:hlinkClick r:id="rId5"/>
              </a:rPr>
              <a:t>www.caclimate.fund</a:t>
            </a:r>
            <a: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  <a:t> </a:t>
            </a:r>
            <a:b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</a:br>
            <a: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  <a:t>+77083457971</a:t>
            </a:r>
            <a:endParaRPr lang="ru-RU" sz="1400" kern="100" noProof="1">
              <a:solidFill>
                <a:schemeClr val="bg1"/>
              </a:solidFill>
              <a:effectLst/>
              <a:latin typeface="Aptos" charset="0"/>
              <a:ea typeface="Aptos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  <a:t>010000, Қазақстан, Астана, </a:t>
            </a:r>
            <a:b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</a:br>
            <a: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  <a:t>Мәңгілік Ел даң., 11/1, оф. 703 </a:t>
            </a:r>
            <a:endParaRPr lang="ru-RU" sz="1400" kern="100" noProof="1">
              <a:solidFill>
                <a:schemeClr val="bg1"/>
              </a:solidFill>
              <a:effectLst/>
              <a:latin typeface="Aptos" charset="0"/>
              <a:ea typeface="Aptos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noProof="1">
                <a:solidFill>
                  <a:schemeClr val="bg1"/>
                </a:solidFill>
                <a:effectLst/>
                <a:latin typeface="Aptos" charset="0"/>
                <a:ea typeface="Aptos" charset="0"/>
                <a:cs typeface="Times New Roman" panose="02020603050405020304" pitchFamily="18" charset="0"/>
              </a:rPr>
              <a:t>BIN/БИН 240240900538</a:t>
            </a:r>
            <a:endParaRPr lang="ru-RU" sz="1400" kern="100" noProof="1">
              <a:solidFill>
                <a:schemeClr val="bg1"/>
              </a:solidFill>
              <a:effectLst/>
              <a:latin typeface="Aptos" charset="0"/>
              <a:ea typeface="Aptos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14427</Words>
  <Application>WPS Presentation</Application>
  <PresentationFormat>Широкоэкранный</PresentationFormat>
  <Paragraphs>499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5" baseType="lpstr">
      <vt:lpstr>Arial</vt:lpstr>
      <vt:lpstr>SimSun</vt:lpstr>
      <vt:lpstr>Wingdings</vt:lpstr>
      <vt:lpstr>Manrope</vt:lpstr>
      <vt:lpstr>Calibri</vt:lpstr>
      <vt:lpstr>Inter</vt:lpstr>
      <vt:lpstr>MV Boli</vt:lpstr>
      <vt:lpstr>Arial Nova</vt:lpstr>
      <vt:lpstr>Calibri</vt:lpstr>
      <vt:lpstr>Inter Bold</vt:lpstr>
      <vt:lpstr>Manrope</vt:lpstr>
      <vt:lpstr>Manrope Light</vt:lpstr>
      <vt:lpstr>Courier New</vt:lpstr>
      <vt:lpstr>Manrope ExtraBold</vt:lpstr>
      <vt:lpstr>Aptos</vt:lpstr>
      <vt:lpstr>Segoe UI</vt:lpstr>
      <vt:lpstr>Microsoft YaHei</vt:lpstr>
      <vt:lpstr>Arial Unicode MS</vt:lpstr>
      <vt:lpstr>Aptos Display</vt:lpstr>
      <vt:lpstr>Segoe UI Variable Display</vt:lpstr>
      <vt:lpstr>Wingdings</vt:lpstr>
      <vt:lpstr>Cambria</vt:lpstr>
      <vt:lpstr>Times New Roman</vt:lpstr>
      <vt:lpstr>Geometr415 Blk BT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Центрально-Азиатский климатический фонд</dc:title>
  <dc:creator>YK2026 2019</dc:creator>
  <cp:lastModifiedBy>User</cp:lastModifiedBy>
  <cp:revision>46</cp:revision>
  <dcterms:created xsi:type="dcterms:W3CDTF">2026-05-24T18:06:00Z</dcterms:created>
  <dcterms:modified xsi:type="dcterms:W3CDTF">2026-10-29T07:15:01Z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56953FD3133649F9A5ECDEB2F6CE4767_12</vt:lpwstr>
  </property>
  <property fmtid="{D5CDD505-2E9C-101B-9397-08002B2CF9AE}" pid="3" name="KSOProductBuildVer">
    <vt:lpwstr>1049-12.2.0.23206</vt:lpwstr>
  </property>
</Properties>
</file>