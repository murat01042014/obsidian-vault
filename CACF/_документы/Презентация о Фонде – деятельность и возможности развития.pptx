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2"/>
  </p:notesMasterIdLst>
  <p:sldIdLst>
    <p:sldId id="265" r:id="rId2"/>
    <p:sldId id="267" r:id="rId3"/>
    <p:sldId id="308" r:id="rId4"/>
    <p:sldId id="257" r:id="rId5"/>
    <p:sldId id="289" r:id="rId6"/>
    <p:sldId id="269" r:id="rId7"/>
    <p:sldId id="299" r:id="rId8"/>
    <p:sldId id="288" r:id="rId9"/>
    <p:sldId id="298" r:id="rId10"/>
    <p:sldId id="309" r:id="rId11"/>
    <p:sldId id="300" r:id="rId12"/>
    <p:sldId id="282" r:id="rId13"/>
    <p:sldId id="310" r:id="rId14"/>
    <p:sldId id="311" r:id="rId15"/>
    <p:sldId id="312" r:id="rId16"/>
    <p:sldId id="290" r:id="rId17"/>
    <p:sldId id="258" r:id="rId18"/>
    <p:sldId id="285" r:id="rId19"/>
    <p:sldId id="296" r:id="rId20"/>
    <p:sldId id="266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3B7D48"/>
    <a:srgbClr val="479398"/>
    <a:srgbClr val="BFD5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587"/>
    <p:restoredTop sz="94475"/>
  </p:normalViewPr>
  <p:slideViewPr>
    <p:cSldViewPr snapToGrid="0">
      <p:cViewPr varScale="1">
        <p:scale>
          <a:sx n="182" d="100"/>
          <a:sy n="182" d="100"/>
        </p:scale>
        <p:origin x="24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A0E622-3E01-144F-9ECD-D0AAB6AC4D3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02B0C5-90C3-9C4B-8C2C-6021F84E46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369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FC49F1-F1CE-1340-8047-D9DA1EB2898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7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7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microsoft.com/office/2007/relationships/hdphoto" Target="../media/hdphoto4.wdp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microsoft.com/office/2007/relationships/hdphoto" Target="../media/hdphoto4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://www.caclimate.fund/" TargetMode="External"/><Relationship Id="rId5" Type="http://schemas.openxmlformats.org/officeDocument/2006/relationships/hyperlink" Target="mailto:office@caclimate.fund" TargetMode="External"/><Relationship Id="rId4" Type="http://schemas.microsoft.com/office/2007/relationships/hdphoto" Target="../media/hdphoto5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368696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43958" y="181957"/>
            <a:ext cx="7475279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noProof="1">
                <a:solidFill>
                  <a:schemeClr val="bg1"/>
                </a:solidFill>
                <a:latin typeface="Manrope" pitchFamily="2" charset="0"/>
                <a:cs typeface="Calibri" panose="020F0502020204030204" pitchFamily="34" charset="0"/>
              </a:rPr>
              <a:t>Центрально-Азиатский </a:t>
            </a:r>
            <a:r>
              <a:rPr lang="ru-RU" b="1" noProof="1">
                <a:solidFill>
                  <a:schemeClr val="bg1"/>
                </a:solidFill>
                <a:cs typeface="Calibri" panose="020F0502020204030204" pitchFamily="34" charset="0"/>
              </a:rPr>
              <a:t>климатический фонд</a:t>
            </a:r>
            <a:br>
              <a:rPr lang="ru-RU" b="1" noProof="1">
                <a:solidFill>
                  <a:schemeClr val="bg1"/>
                </a:solidFill>
                <a:cs typeface="Calibri" panose="020F0502020204030204" pitchFamily="34" charset="0"/>
              </a:rPr>
            </a:br>
            <a:r>
              <a:rPr lang="ru-RU" b="1" noProof="1">
                <a:solidFill>
                  <a:schemeClr val="bg1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b="1" noProof="1">
                <a:solidFill>
                  <a:schemeClr val="bg1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  <a:p>
            <a:endParaRPr lang="ru-RU" sz="2400" b="1" noProof="1">
              <a:solidFill>
                <a:schemeClr val="bg1"/>
              </a:solidFill>
              <a:cs typeface="Calibri" panose="020F0502020204030204" pitchFamily="34" charset="0"/>
            </a:endParaRPr>
          </a:p>
          <a:p>
            <a:pPr algn="ctr"/>
            <a:endParaRPr lang="ru-RU" sz="2800" b="1" noProof="1">
              <a:solidFill>
                <a:schemeClr val="bg1"/>
              </a:solidFill>
              <a:cs typeface="Calibri" panose="020F0502020204030204" pitchFamily="34" charset="0"/>
            </a:endParaRPr>
          </a:p>
          <a:p>
            <a:pPr algn="ctr"/>
            <a:endParaRPr lang="ru-RU" sz="2800" b="1" noProof="1">
              <a:solidFill>
                <a:schemeClr val="bg1"/>
              </a:solidFill>
              <a:cs typeface="Calibri" panose="020F0502020204030204" pitchFamily="34" charset="0"/>
            </a:endParaRPr>
          </a:p>
          <a:p>
            <a:pPr algn="ctr"/>
            <a:endParaRPr lang="ru-RU" sz="2800" b="1" noProof="1">
              <a:solidFill>
                <a:schemeClr val="bg1"/>
              </a:solidFill>
              <a:cs typeface="Calibri" panose="020F0502020204030204" pitchFamily="34" charset="0"/>
            </a:endParaRPr>
          </a:p>
          <a:p>
            <a:r>
              <a:rPr lang="ru-RU" sz="4800" b="1" noProof="1">
                <a:solidFill>
                  <a:schemeClr val="bg1"/>
                </a:solidFill>
                <a:cs typeface="Calibri" panose="020F0502020204030204" pitchFamily="34" charset="0"/>
              </a:rPr>
              <a:t>Деятельность и возможности развития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1113" y="303599"/>
            <a:ext cx="2340887" cy="956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97089" y="4767828"/>
            <a:ext cx="549491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 lang="ru-RU" sz="2400" noProof="1">
              <a:solidFill>
                <a:schemeClr val="bg1"/>
              </a:solidFill>
              <a:latin typeface="Manrope" pitchFamily="2" charset="0"/>
              <a:cs typeface="Calibri" panose="020F0502020204030204" pitchFamily="34" charset="0"/>
            </a:endParaRPr>
          </a:p>
          <a:p>
            <a:pPr algn="r"/>
            <a:endParaRPr lang="ru-RU" sz="2400" noProof="1">
              <a:solidFill>
                <a:schemeClr val="bg1"/>
              </a:solidFill>
              <a:latin typeface="Manrope" pitchFamily="2" charset="0"/>
              <a:cs typeface="Calibri" panose="020F0502020204030204" pitchFamily="34" charset="0"/>
            </a:endParaRPr>
          </a:p>
          <a:p>
            <a:pPr algn="r"/>
            <a:r>
              <a:rPr lang="ru-RU" sz="2400" noProof="1">
                <a:solidFill>
                  <a:schemeClr val="bg1"/>
                </a:solidFill>
                <a:latin typeface="Manrope" pitchFamily="2" charset="0"/>
                <a:cs typeface="Calibri" panose="020F0502020204030204" pitchFamily="34" charset="0"/>
              </a:rPr>
              <a:t>Астана</a:t>
            </a:r>
          </a:p>
          <a:p>
            <a:pPr algn="r"/>
            <a:r>
              <a:rPr lang="ru-RU" sz="2400" noProof="1">
                <a:solidFill>
                  <a:schemeClr val="bg1"/>
                </a:solidFill>
                <a:latin typeface="Manrope" pitchFamily="2" charset="0"/>
                <a:cs typeface="Calibri" panose="020F0502020204030204" pitchFamily="34" charset="0"/>
              </a:rPr>
              <a:t>октябрь 2026 г.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t>2</a:t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51790" y="1106805"/>
            <a:ext cx="5180330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700" b="1" dirty="0">
                <a:solidFill>
                  <a:schemeClr val="tx2"/>
                </a:solidFill>
                <a:latin typeface="Manrope" pitchFamily="2" charset="0"/>
                <a:cs typeface="Calibri" panose="020F0502020204030204" pitchFamily="34" charset="0"/>
              </a:rPr>
              <a:t>Центрально-Азиатский климатический фонд </a:t>
            </a:r>
            <a:r>
              <a:rPr lang="ru-RU" sz="1700" dirty="0">
                <a:solidFill>
                  <a:schemeClr val="tx2"/>
                </a:solidFill>
                <a:latin typeface="Manrope" pitchFamily="2" charset="0"/>
                <a:cs typeface="Calibri" panose="020F0502020204030204" pitchFamily="34" charset="0"/>
              </a:rPr>
              <a:t>(Фонд) был создан как самостоятельная международная организация в юрисдикции Международного финансового центра «Астана» для реализации региональных проектов в области изменения климата, устойчивого развития, зеленой энергетики и охраны окружающей среды. </a:t>
            </a:r>
          </a:p>
          <a:p>
            <a:endParaRPr lang="ru-RU" sz="1700" dirty="0">
              <a:solidFill>
                <a:schemeClr val="tx2"/>
              </a:solidFill>
              <a:latin typeface="Manrope" pitchFamily="2" charset="0"/>
              <a:cs typeface="Calibri" panose="020F0502020204030204" pitchFamily="34" charset="0"/>
            </a:endParaRPr>
          </a:p>
          <a:p>
            <a:r>
              <a:rPr lang="ru-RU" sz="1700" b="1" dirty="0">
                <a:solidFill>
                  <a:schemeClr val="tx2"/>
                </a:solidFill>
                <a:latin typeface="Manrope" pitchFamily="2" charset="0"/>
                <a:cs typeface="Calibri" panose="020F0502020204030204" pitchFamily="34" charset="0"/>
              </a:rPr>
              <a:t>Во исполнение инициативы Президента Республики Казахстан</a:t>
            </a:r>
            <a:r>
              <a:rPr lang="ru-RU" sz="1700" dirty="0">
                <a:solidFill>
                  <a:schemeClr val="tx2"/>
                </a:solidFill>
                <a:latin typeface="Manrope" pitchFamily="2" charset="0"/>
                <a:cs typeface="Calibri" panose="020F0502020204030204" pitchFamily="34" charset="0"/>
              </a:rPr>
              <a:t> Токаева К.К., озвученной на 78-ой сессии Генеральной Ассамблеи ООН в 2023 году в рамках Фонда организован Проектный офис для Центральной Азии, занимающийся повестками изменения климата и зеленой энергетики.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grpSp>
        <p:nvGrpSpPr>
          <p:cNvPr id="4" name="Group 6"/>
          <p:cNvGrpSpPr/>
          <p:nvPr/>
        </p:nvGrpSpPr>
        <p:grpSpPr>
          <a:xfrm>
            <a:off x="5866765" y="1270927"/>
            <a:ext cx="2152015" cy="3190875"/>
            <a:chOff x="110913" y="0"/>
            <a:chExt cx="745304" cy="1209146"/>
          </a:xfrm>
        </p:grpSpPr>
        <p:sp>
          <p:nvSpPr>
            <p:cNvPr id="7" name="Freeform 7"/>
            <p:cNvSpPr/>
            <p:nvPr/>
          </p:nvSpPr>
          <p:spPr>
            <a:xfrm>
              <a:off x="110913" y="0"/>
              <a:ext cx="745304" cy="1209146"/>
            </a:xfrm>
            <a:custGeom>
              <a:avLst/>
              <a:gdLst/>
              <a:ahLst/>
              <a:cxnLst/>
              <a:rect l="l" t="t" r="r" b="b"/>
              <a:pathLst>
                <a:path w="745304" h="1209146">
                  <a:moveTo>
                    <a:pt x="14098" y="0"/>
                  </a:moveTo>
                  <a:lnTo>
                    <a:pt x="731206" y="0"/>
                  </a:lnTo>
                  <a:cubicBezTo>
                    <a:pt x="738992" y="0"/>
                    <a:pt x="745304" y="6312"/>
                    <a:pt x="745304" y="14098"/>
                  </a:cubicBezTo>
                  <a:lnTo>
                    <a:pt x="745304" y="1195048"/>
                  </a:lnTo>
                  <a:cubicBezTo>
                    <a:pt x="745304" y="1202834"/>
                    <a:pt x="738992" y="1209146"/>
                    <a:pt x="731206" y="1209146"/>
                  </a:cubicBezTo>
                  <a:lnTo>
                    <a:pt x="14098" y="1209146"/>
                  </a:lnTo>
                  <a:cubicBezTo>
                    <a:pt x="6312" y="1209146"/>
                    <a:pt x="0" y="1202834"/>
                    <a:pt x="0" y="1195048"/>
                  </a:cubicBezTo>
                  <a:lnTo>
                    <a:pt x="0" y="14098"/>
                  </a:lnTo>
                  <a:cubicBezTo>
                    <a:pt x="0" y="6312"/>
                    <a:pt x="6312" y="0"/>
                    <a:pt x="14098" y="0"/>
                  </a:cubicBezTo>
                  <a:close/>
                </a:path>
              </a:pathLst>
            </a:custGeom>
            <a:blipFill>
              <a:blip r:embed="rId5"/>
              <a:stretch>
                <a:fillRect l="-57298" r="-57298"/>
              </a:stretch>
            </a:blipFill>
          </p:spPr>
          <p:txBody>
            <a:bodyPr/>
            <a:lstStyle/>
            <a:p>
              <a:endParaRPr lang="ru-RU" dirty="0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8180170" y="1270927"/>
            <a:ext cx="2199833" cy="3184524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algn="ctr" fontAlgn="auto">
              <a:lnSpc>
                <a:spcPct val="100000"/>
              </a:lnSpc>
              <a:spcBef>
                <a:spcPts val="600"/>
              </a:spcBef>
              <a:buClrTx/>
              <a:buSzTx/>
              <a:buFontTx/>
            </a:pPr>
            <a:r>
              <a:rPr lang="ru-RU" sz="1700" i="1" dirty="0">
                <a:solidFill>
                  <a:schemeClr val="tx2"/>
                </a:solidFill>
                <a:latin typeface="Manrope" pitchFamily="2" charset="0"/>
                <a:cs typeface="Calibri" panose="020F0502020204030204" pitchFamily="34" charset="0"/>
                <a:sym typeface="Inter" panose="020B0502030000000004"/>
              </a:rPr>
              <a:t>«...Постепенный, устойчивый и социально ответственный переход от использования угля стал бы большим преимуществом для достижения глобальных целей в области изменения климата.</a:t>
            </a:r>
          </a:p>
          <a:p>
            <a:pPr indent="0" algn="just"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endParaRPr lang="ru-RU" sz="1700" i="1" dirty="0">
              <a:solidFill>
                <a:srgbClr val="1C3E6D"/>
              </a:solidFill>
              <a:latin typeface="Arial Nova" panose="020B0504020202020204" charset="0"/>
              <a:ea typeface="Inter" panose="020B0502030000000004"/>
              <a:cs typeface="Arial Nova" panose="020B0504020202020204" charset="0"/>
              <a:sym typeface="Inter" panose="020B0502030000000004"/>
            </a:endParaRPr>
          </a:p>
          <a:p>
            <a:pPr algn="just">
              <a:lnSpc>
                <a:spcPts val="3720"/>
              </a:lnSpc>
            </a:pPr>
            <a:endParaRPr lang="ru-RU" sz="1700" i="1" dirty="0">
              <a:solidFill>
                <a:srgbClr val="1C3E6D"/>
              </a:solidFill>
              <a:latin typeface="Arial Nova" panose="020B0504020202020204" charset="0"/>
              <a:ea typeface="Inter" panose="020B0502030000000004"/>
              <a:cs typeface="Arial Nova" panose="020B0504020202020204" charset="0"/>
              <a:sym typeface="Inter" panose="020B0502030000000004"/>
            </a:endParaRPr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370377" y="5014279"/>
            <a:ext cx="10732168" cy="1200329"/>
          </a:xfrm>
          <a:prstGeom prst="roundRect">
            <a:avLst/>
          </a:prstGeom>
          <a:solidFill>
            <a:srgbClr val="3B7D48"/>
          </a:solidFill>
          <a:ln>
            <a:noFill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 b="1">
                <a:solidFill>
                  <a:srgbClr val="FFC000"/>
                </a:solidFill>
                <a:latin typeface="Calibri"/>
              </a:defRPr>
            </a:lvl1pPr>
          </a:lstStyle>
          <a:p>
            <a:r>
              <a:rPr lang="ru-RU" dirty="0">
                <a:sym typeface="Inter Bold" panose="020B0802030000000004"/>
              </a:rPr>
              <a:t>«</a:t>
            </a:r>
            <a:r>
              <a:rPr lang="ru-RU" i="1" dirty="0">
                <a:sym typeface="Inter Bold" panose="020B0802030000000004"/>
              </a:rPr>
              <a:t>Инициатива Казахстана по открытию Проектного офиса для Центральной Азии по изменению климата и зеленой энергетике может способствовать решению этих вопросов ...»</a:t>
            </a:r>
          </a:p>
          <a:p>
            <a:endParaRPr lang="ru-RU" i="1" dirty="0">
              <a:sym typeface="Inter Bold" panose="020B0802030000000004"/>
            </a:endParaRPr>
          </a:p>
          <a:p>
            <a:r>
              <a:rPr lang="ru-RU" dirty="0">
                <a:sym typeface="Inter" panose="020B0502030000000004"/>
              </a:rPr>
              <a:t>Президент Республики Казахстан Токаев К.К., 78-я сессия ГА ООН, Нью-Йорк, 2023</a:t>
            </a:r>
            <a:endParaRPr lang="ru-R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51999" y="1062000"/>
            <a:ext cx="116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Структура Фонда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20000" y="1548000"/>
            <a:ext cx="3564000" cy="342000"/>
          </a:xfrm>
          <a:prstGeom prst="roundRect">
            <a:avLst>
              <a:gd name="adj" fmla="val 8000"/>
            </a:avLst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320000" y="1548000"/>
            <a:ext cx="3564000" cy="342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nrope"/>
              </a:rPr>
              <a:t>Верховный попечитель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4800" y="1890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4320000" y="2070000"/>
            <a:ext cx="3564000" cy="522000"/>
          </a:xfrm>
          <a:prstGeom prst="roundRect">
            <a:avLst>
              <a:gd name="adj" fmla="val 8000"/>
            </a:avLst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320000" y="2070000"/>
            <a:ext cx="3564000" cy="522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Главный исполнительный директор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Manrope"/>
              </a:rPr>
              <a:t>Председатель Управляющего совета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4800" y="2592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655999" y="2772000"/>
            <a:ext cx="8892000" cy="18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1656000" y="2772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24000" y="2951999"/>
            <a:ext cx="2736000" cy="2808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324000" y="2951999"/>
            <a:ext cx="2736000" cy="432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32000" y="3060000"/>
            <a:ext cx="2520000" cy="97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50" b="1">
                <a:solidFill>
                  <a:srgbClr val="3B7D48"/>
                </a:solidFill>
                <a:latin typeface="Manrope"/>
              </a:rPr>
              <a:t>Проектный офис для Центральной Азии по изменению климата и зелёной энергетике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2000" y="4085999"/>
            <a:ext cx="2520000" cy="162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региональные климатические проекты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климатическая политика и сотрудничество стран ЦА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ESG, аналитика и оценка рисков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54000" y="2772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3222000" y="2951999"/>
            <a:ext cx="2736000" cy="2808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222000" y="2951999"/>
            <a:ext cx="2736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330000" y="3060000"/>
            <a:ext cx="2520000" cy="97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50" b="1">
                <a:solidFill>
                  <a:srgbClr val="156082"/>
                </a:solidFill>
                <a:latin typeface="Manrope"/>
              </a:rPr>
              <a:t>Проектный офис «Таза Қазақстан»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30000" y="4085999"/>
            <a:ext cx="2520000" cy="162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социология и аналитика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проектное управление и региональная координация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цифровое развитие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коммуникация и креатив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452000" y="2772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6120000" y="2951999"/>
            <a:ext cx="2736000" cy="2808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6120000" y="2951999"/>
            <a:ext cx="2736000" cy="432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228000" y="3060000"/>
            <a:ext cx="2520000" cy="97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50" b="1">
                <a:solidFill>
                  <a:srgbClr val="1C3E6D"/>
                </a:solidFill>
                <a:latin typeface="Manrope"/>
              </a:rPr>
              <a:t>Сеть экспертов Центральной Азии+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28000" y="4085999"/>
            <a:ext cx="2520000" cy="162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экспертно-аналитическое сопровождение климатической, экологической и энергетической повестки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заключения и рекомендации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50000" y="2772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9018000" y="2951999"/>
            <a:ext cx="2736000" cy="28080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9018000" y="2951999"/>
            <a:ext cx="2736000" cy="432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126000" y="3060000"/>
            <a:ext cx="2520000" cy="97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50" b="1">
                <a:solidFill>
                  <a:srgbClr val="C99A1E"/>
                </a:solidFill>
                <a:latin typeface="Manrope"/>
              </a:rPr>
              <a:t>Административно-финансовый блок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26000" y="4085999"/>
            <a:ext cx="2520000" cy="162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административные вопросы, закупки, кадры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финансы и бухгалтерия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правовое сопровождение (МФЦА)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IT-поддержка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noProof="1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noProof="1" smtClean="0">
                <a:solidFill>
                  <a:schemeClr val="bg1"/>
                </a:solidFill>
              </a:rPr>
              <a:t>4</a:t>
            </a:fld>
            <a:endParaRPr lang="ru-RU" noProof="1">
              <a:solidFill>
                <a:schemeClr val="bg1"/>
              </a:solidFill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30" y="117904"/>
            <a:ext cx="1910148" cy="7112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29431" y="2223661"/>
            <a:ext cx="4470160" cy="3784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noProof="1">
                <a:latin typeface="Manrope" pitchFamily="2" charset="0"/>
                <a:cs typeface="Calibri" panose="020F0502020204030204" pitchFamily="34" charset="0"/>
              </a:rPr>
              <a:t>РЭС 2026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1600" noProof="1">
                <a:latin typeface="Manrope Light" pitchFamily="2" charset="0"/>
                <a:cs typeface="Calibri" panose="020F0502020204030204" pitchFamily="34" charset="0"/>
              </a:rPr>
              <a:t>более 11 300 посещений и проведено 58 ключевых сессий, включая 21 высокого уровня и 4 страновые сессии государств ЦА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1600" noProof="1">
                <a:latin typeface="Manrope Light" pitchFamily="2" charset="0"/>
                <a:cs typeface="Calibri" panose="020F0502020204030204" pitchFamily="34" charset="0"/>
              </a:rPr>
              <a:t>В Пленарном заседании Саммита выступили президенты стран ЦА, Армении, Грузии, Монголии, Премьер-министр Азербайджана, Заместитель Генерального секретаря </a:t>
            </a:r>
            <a:r>
              <a:rPr lang="ru-RU" sz="1600" noProof="1">
                <a:latin typeface="Manrope Light" pitchFamily="2" charset="0"/>
                <a:cs typeface="Calibri" panose="020F0502020204030204" pitchFamily="34" charset="0"/>
                <a:sym typeface="+mn-ea"/>
              </a:rPr>
              <a:t>ООН </a:t>
            </a:r>
            <a:r>
              <a:rPr lang="ru-RU" sz="1600" noProof="1">
                <a:latin typeface="Manrope Light" pitchFamily="2" charset="0"/>
                <a:cs typeface="Calibri" panose="020F0502020204030204" pitchFamily="34" charset="0"/>
              </a:rPr>
              <a:t>по экономическим и социальным вопросам, Заместитель Генсека - Исполнительный директор ЮНЕП, Заместитель Генсека ООН - Исполнительный секретарь ЕЭК ООН</a:t>
            </a: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>
            <a:off x="202858" y="963827"/>
            <a:ext cx="11647273" cy="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4837" y="1021669"/>
            <a:ext cx="102162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noProof="1">
                <a:solidFill>
                  <a:srgbClr val="3B7D48"/>
                </a:solidFill>
                <a:latin typeface="Manrope" pitchFamily="2" charset="0"/>
                <a:cs typeface="Calibri" panose="020F0502020204030204" pitchFamily="34" charset="0"/>
              </a:rPr>
              <a:t>Фонд – уже не просто административная надстройка, а уникальная платформа, способная консолидировать межгосударственные интересы с международными институтами (ООН, МФИ) в единый рабочий механизм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99591" y="2159417"/>
            <a:ext cx="6551930" cy="18167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ru-RU" sz="1600" b="1" noProof="1">
                <a:latin typeface="Manrope" pitchFamily="2" charset="0"/>
                <a:cs typeface="Calibri" panose="020F0502020204030204" pitchFamily="34" charset="0"/>
              </a:rPr>
              <a:t>Фонд – это актив и мы имеем доказанную эффективность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1600" noProof="1">
                <a:latin typeface="Manrope Light" pitchFamily="2" charset="0"/>
                <a:cs typeface="Calibri" panose="020F0502020204030204" pitchFamily="34" charset="0"/>
              </a:rPr>
              <a:t>Политическая консолидация (Декларация ГГ ЦА)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1600" noProof="1">
                <a:latin typeface="Manrope Light" pitchFamily="2" charset="0"/>
                <a:cs typeface="Calibri" panose="020F0502020204030204" pitchFamily="34" charset="0"/>
              </a:rPr>
              <a:t>Глобальное партнерство (Программа действий с ООН и МФО)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1600" noProof="1">
                <a:latin typeface="Manrope Light" pitchFamily="2" charset="0"/>
                <a:cs typeface="Calibri" panose="020F0502020204030204" pitchFamily="34" charset="0"/>
              </a:rPr>
              <a:t>Региональная архитектура (11 консультационных встреч, вкл. Нью-Йорк, Бонн, Белем, Найроби, ЦА)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1600" noProof="1">
                <a:latin typeface="Manrope Light" pitchFamily="2" charset="0"/>
                <a:cs typeface="Calibri" panose="020F0502020204030204" pitchFamily="34" charset="0"/>
              </a:rPr>
              <a:t>Стратегическая содержательная линия и дорожная карта </a:t>
            </a:r>
            <a:br>
              <a:rPr lang="ru-RU" sz="1600" noProof="1">
                <a:latin typeface="Manrope Light" pitchFamily="2" charset="0"/>
                <a:cs typeface="Calibri" panose="020F0502020204030204" pitchFamily="34" charset="0"/>
              </a:rPr>
            </a:br>
            <a:r>
              <a:rPr lang="ru-RU" sz="1600" noProof="1">
                <a:latin typeface="Manrope Light" pitchFamily="2" charset="0"/>
                <a:cs typeface="Calibri" panose="020F0502020204030204" pitchFamily="34" charset="0"/>
              </a:rPr>
              <a:t>(58 сессий, каждая с ощутимым «результатом»)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1600" noProof="1">
                <a:latin typeface="Manrope Light" pitchFamily="2" charset="0"/>
                <a:cs typeface="Calibri" panose="020F0502020204030204" pitchFamily="34" charset="0"/>
              </a:rPr>
              <a:t>Проектный офис (Фонд) Поддержан Главами Государств Центральной Азии в Декларации п. 24. 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endParaRPr lang="ru-RU" sz="1600" noProof="1">
              <a:latin typeface="Manrope Light" pitchFamily="2" charset="0"/>
              <a:cs typeface="Calibri" panose="020F0502020204030204" pitchFamily="34" charset="0"/>
            </a:endParaRPr>
          </a:p>
        </p:txBody>
      </p:sp>
      <p:pic>
        <p:nvPicPr>
          <p:cNvPr id="37" name="Рисунок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7783" y="4255770"/>
            <a:ext cx="4064000" cy="1968500"/>
          </a:xfrm>
          <a:prstGeom prst="roundRect">
            <a:avLst>
              <a:gd name="adj" fmla="val 25309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9" name="Рисунок 3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4075" y="4705807"/>
            <a:ext cx="1617802" cy="1518463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392589" y="25648"/>
            <a:ext cx="6098344" cy="9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noProof="1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noProof="1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b="1" noProof="1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b="1" noProof="1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4F9C59AF-7B85-FDEB-57D9-0C700C334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368696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0B4072C1-957B-5BBE-2D8B-EF24ED2C184A}"/>
              </a:ext>
            </a:extLst>
          </p:cNvPr>
          <p:cNvSpPr txBox="1"/>
          <p:nvPr/>
        </p:nvSpPr>
        <p:spPr>
          <a:xfrm>
            <a:off x="733055" y="1032562"/>
            <a:ext cx="11334897" cy="473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chemeClr val="bg1"/>
                </a:solidFill>
                <a:latin typeface="Manrope" pitchFamily="2" charset="0"/>
                <a:cs typeface="Calibri" panose="020F0502020204030204" pitchFamily="34" charset="0"/>
              </a:rPr>
              <a:t>Центрально-азиатский </a:t>
            </a:r>
            <a:r>
              <a:rPr lang="ru-RU" b="1" dirty="0">
                <a:solidFill>
                  <a:schemeClr val="bg1"/>
                </a:solidFill>
                <a:cs typeface="Calibri" panose="020F0502020204030204" pitchFamily="34" charset="0"/>
              </a:rPr>
              <a:t>климатический фонд</a:t>
            </a:r>
            <a:br>
              <a:rPr lang="ru-RU" b="1" dirty="0">
                <a:solidFill>
                  <a:schemeClr val="bg1"/>
                </a:solidFill>
                <a:cs typeface="Calibri" panose="020F0502020204030204" pitchFamily="34" charset="0"/>
              </a:rPr>
            </a:br>
            <a:r>
              <a:rPr lang="ru-RU" b="1" dirty="0">
                <a:solidFill>
                  <a:schemeClr val="bg1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b="1" dirty="0">
                <a:solidFill>
                  <a:schemeClr val="bg1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  <a:p>
            <a:endParaRPr lang="ru-RU" sz="2400" b="1" dirty="0">
              <a:solidFill>
                <a:schemeClr val="bg1"/>
              </a:solidFill>
              <a:cs typeface="Calibri" panose="020F0502020204030204" pitchFamily="34" charset="0"/>
            </a:endParaRPr>
          </a:p>
          <a:p>
            <a:pPr algn="ctr"/>
            <a:r>
              <a:rPr lang="ru-RU" sz="2800" b="1" dirty="0">
                <a:solidFill>
                  <a:schemeClr val="bg1"/>
                </a:solidFill>
                <a:cs typeface="Calibri" panose="020F0502020204030204" pitchFamily="34" charset="0"/>
              </a:rPr>
              <a:t>Комплексный анализ </a:t>
            </a:r>
            <a:br>
              <a:rPr lang="ru-RU" sz="2800" b="1" dirty="0">
                <a:solidFill>
                  <a:schemeClr val="bg1"/>
                </a:solidFill>
                <a:cs typeface="Calibri" panose="020F0502020204030204" pitchFamily="34" charset="0"/>
              </a:rPr>
            </a:br>
            <a:r>
              <a:rPr lang="ru-RU" sz="2800" b="1" dirty="0">
                <a:solidFill>
                  <a:schemeClr val="bg1"/>
                </a:solidFill>
                <a:cs typeface="Calibri" panose="020F0502020204030204" pitchFamily="34" charset="0"/>
              </a:rPr>
              <a:t>рисков и возможностей устойчивого развития Центральной Азии </a:t>
            </a:r>
            <a:br>
              <a:rPr lang="ru-RU" sz="2800" b="1" dirty="0">
                <a:solidFill>
                  <a:schemeClr val="bg1"/>
                </a:solidFill>
                <a:cs typeface="Calibri" panose="020F0502020204030204" pitchFamily="34" charset="0"/>
              </a:rPr>
            </a:br>
            <a:r>
              <a:rPr lang="ru-RU" sz="2800" b="1" dirty="0">
                <a:solidFill>
                  <a:schemeClr val="bg1"/>
                </a:solidFill>
                <a:cs typeface="Calibri" panose="020F0502020204030204" pitchFamily="34" charset="0"/>
              </a:rPr>
              <a:t>для энергетического сектора Казахстана согласно повестке Регионального экологического саммита 2026</a:t>
            </a:r>
          </a:p>
          <a:p>
            <a:pPr algn="ctr"/>
            <a:endParaRPr lang="ru-RU" sz="2800" b="1" dirty="0">
              <a:solidFill>
                <a:schemeClr val="bg1"/>
              </a:solidFill>
              <a:cs typeface="Calibri" panose="020F0502020204030204" pitchFamily="34" charset="0"/>
            </a:endParaRPr>
          </a:p>
          <a:p>
            <a:pPr algn="ctr"/>
            <a:endParaRPr lang="ru-RU" sz="2800" b="1" dirty="0">
              <a:solidFill>
                <a:schemeClr val="bg1"/>
              </a:solidFill>
              <a:cs typeface="Calibri" panose="020F0502020204030204" pitchFamily="34" charset="0"/>
            </a:endParaRPr>
          </a:p>
          <a:p>
            <a:r>
              <a:rPr lang="ru-RU" sz="2800" b="1" dirty="0">
                <a:solidFill>
                  <a:schemeClr val="bg1"/>
                </a:solidFill>
                <a:cs typeface="Calibri" panose="020F0502020204030204" pitchFamily="34" charset="0"/>
              </a:rPr>
              <a:t>АНАЛИТИЧЕСКИЙ ОТЧЕТ </a:t>
            </a:r>
            <a:br>
              <a:rPr lang="ru-RU" sz="2800" b="1" dirty="0">
                <a:solidFill>
                  <a:schemeClr val="bg1"/>
                </a:solidFill>
                <a:cs typeface="Calibri" panose="020F0502020204030204" pitchFamily="34" charset="0"/>
              </a:rPr>
            </a:br>
            <a:r>
              <a:rPr lang="ru-RU" sz="2800" b="1" dirty="0">
                <a:solidFill>
                  <a:schemeClr val="bg1"/>
                </a:solidFill>
                <a:cs typeface="Calibri" panose="020F0502020204030204" pitchFamily="34" charset="0"/>
              </a:rPr>
              <a:t>ДЛЯ АССОЦИАЦИИ KAZENERGY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xmlns="" id="{51C0053B-F6D3-EC53-8797-BA6143551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1113" y="303599"/>
            <a:ext cx="2340887" cy="95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5111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xmlns="" id="{F7D30E5B-D4DD-C192-B5E2-CA1114F972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>
            <a:extLst>
              <a:ext uri="{FF2B5EF4-FFF2-40B4-BE49-F238E27FC236}">
                <a16:creationId xmlns:a16="http://schemas.microsoft.com/office/drawing/2014/main" xmlns="" id="{35FFB220-8AF8-C968-D573-382BCC2BD6B5}"/>
              </a:ext>
            </a:extLst>
          </p:cNvPr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47939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4CD7BB57-4D4A-5DF0-D8AB-3398134D5A4F}"/>
              </a:ext>
            </a:extLst>
          </p:cNvPr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pPr algn="r"/>
              <a:t>6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xmlns="" id="{B848484B-BC97-1E39-6C99-598943CDE8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30" y="117904"/>
            <a:ext cx="1910148" cy="711225"/>
          </a:xfrm>
          <a:prstGeom prst="rect">
            <a:avLst/>
          </a:prstGeom>
        </p:spPr>
      </p:pic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xmlns="" id="{0689EE3D-31BA-FA5B-9B79-87F32EB7F532}"/>
              </a:ext>
            </a:extLst>
          </p:cNvPr>
          <p:cNvCxnSpPr/>
          <p:nvPr/>
        </p:nvCxnSpPr>
        <p:spPr>
          <a:xfrm>
            <a:off x="202858" y="963827"/>
            <a:ext cx="11647273" cy="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Рисунок 8">
            <a:extLst>
              <a:ext uri="{FF2B5EF4-FFF2-40B4-BE49-F238E27FC236}">
                <a16:creationId xmlns:a16="http://schemas.microsoft.com/office/drawing/2014/main" xmlns="" id="{B0589008-35FE-3692-2253-B800187413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2858" y="1297748"/>
            <a:ext cx="5609359" cy="459642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xmlns="" id="{29A4C1E7-56F6-ABD2-F252-3E077E0C20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3921" y="4479499"/>
            <a:ext cx="4759269" cy="1626283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xmlns="" id="{05402AEA-5F36-D701-101D-C70D949A74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6657" y="1098526"/>
            <a:ext cx="4686533" cy="337430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3CD45009-E6B7-1CD1-1966-8AB93CAE0E76}"/>
              </a:ext>
            </a:extLst>
          </p:cNvPr>
          <p:cNvSpPr txBox="1"/>
          <p:nvPr/>
        </p:nvSpPr>
        <p:spPr>
          <a:xfrm>
            <a:off x="2263914" y="140325"/>
            <a:ext cx="887384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solidFill>
                  <a:srgbClr val="3B7D48"/>
                </a:solidFill>
                <a:latin typeface="Manrope" pitchFamily="2" charset="0"/>
                <a:cs typeface="Calibri" panose="020F0502020204030204" pitchFamily="34" charset="0"/>
              </a:rPr>
              <a:t>Оценка рисков устойчивого развития Центральной Азии </a:t>
            </a:r>
            <a:br>
              <a:rPr lang="ru-RU" sz="2000" b="1" dirty="0">
                <a:solidFill>
                  <a:srgbClr val="3B7D48"/>
                </a:solidFill>
                <a:latin typeface="Manrope" pitchFamily="2" charset="0"/>
                <a:cs typeface="Calibri" panose="020F0502020204030204" pitchFamily="34" charset="0"/>
              </a:rPr>
            </a:br>
            <a:r>
              <a:rPr lang="ru-RU" sz="2000" b="1" dirty="0">
                <a:solidFill>
                  <a:srgbClr val="3B7D48"/>
                </a:solidFill>
                <a:latin typeface="Manrope" pitchFamily="2" charset="0"/>
                <a:cs typeface="Calibri" panose="020F0502020204030204" pitchFamily="34" charset="0"/>
              </a:rPr>
              <a:t>для энергетического сектора Казахстана согласно РЭС 2026</a:t>
            </a:r>
          </a:p>
        </p:txBody>
      </p:sp>
    </p:spTree>
    <p:extLst>
      <p:ext uri="{BB962C8B-B14F-4D97-AF65-F5344CB8AC3E}">
        <p14:creationId xmlns:p14="http://schemas.microsoft.com/office/powerpoint/2010/main" val="2633755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4F9C59AF-7B85-FDEB-57D9-0C700C334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368696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0B4072C1-957B-5BBE-2D8B-EF24ED2C184A}"/>
              </a:ext>
            </a:extLst>
          </p:cNvPr>
          <p:cNvSpPr txBox="1"/>
          <p:nvPr/>
        </p:nvSpPr>
        <p:spPr>
          <a:xfrm>
            <a:off x="733055" y="1032562"/>
            <a:ext cx="11334897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chemeClr val="bg1"/>
                </a:solidFill>
                <a:latin typeface="Manrope" pitchFamily="2" charset="0"/>
                <a:cs typeface="Calibri" panose="020F0502020204030204" pitchFamily="34" charset="0"/>
              </a:rPr>
              <a:t>Центрально-азиатский </a:t>
            </a:r>
            <a:r>
              <a:rPr lang="ru-RU" b="1" dirty="0">
                <a:solidFill>
                  <a:schemeClr val="bg1"/>
                </a:solidFill>
                <a:cs typeface="Calibri" panose="020F0502020204030204" pitchFamily="34" charset="0"/>
              </a:rPr>
              <a:t>климатический фонд</a:t>
            </a:r>
            <a:br>
              <a:rPr lang="ru-RU" b="1" dirty="0">
                <a:solidFill>
                  <a:schemeClr val="bg1"/>
                </a:solidFill>
                <a:cs typeface="Calibri" panose="020F0502020204030204" pitchFamily="34" charset="0"/>
              </a:rPr>
            </a:br>
            <a:r>
              <a:rPr lang="ru-RU" b="1" dirty="0">
                <a:solidFill>
                  <a:schemeClr val="bg1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b="1" dirty="0">
                <a:solidFill>
                  <a:schemeClr val="bg1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  <a:p>
            <a:endParaRPr lang="ru-RU" sz="2400" b="1" dirty="0">
              <a:solidFill>
                <a:schemeClr val="bg1"/>
              </a:solidFill>
              <a:cs typeface="Calibri" panose="020F0502020204030204" pitchFamily="34" charset="0"/>
            </a:endParaRPr>
          </a:p>
          <a:p>
            <a:pPr algn="ctr"/>
            <a:endParaRPr lang="ru-RU" sz="2800" b="1" dirty="0">
              <a:solidFill>
                <a:schemeClr val="bg1"/>
              </a:solidFill>
              <a:cs typeface="Calibri" panose="020F0502020204030204" pitchFamily="34" charset="0"/>
            </a:endParaRPr>
          </a:p>
          <a:p>
            <a:r>
              <a:rPr lang="ru-RU" sz="2800" b="1" dirty="0">
                <a:solidFill>
                  <a:schemeClr val="bg1"/>
                </a:solidFill>
                <a:cs typeface="Calibri" panose="020F0502020204030204" pitchFamily="34" charset="0"/>
              </a:rPr>
              <a:t>ВЫСОКИЙ УПОЛНОМОЧЕННЫЙ </a:t>
            </a:r>
            <a:br>
              <a:rPr lang="ru-RU" sz="2800" b="1" dirty="0">
                <a:solidFill>
                  <a:schemeClr val="bg1"/>
                </a:solidFill>
                <a:cs typeface="Calibri" panose="020F0502020204030204" pitchFamily="34" charset="0"/>
              </a:rPr>
            </a:br>
            <a:r>
              <a:rPr lang="ru-RU" sz="2800" b="1" dirty="0">
                <a:solidFill>
                  <a:schemeClr val="bg1"/>
                </a:solidFill>
                <a:cs typeface="Calibri" panose="020F0502020204030204" pitchFamily="34" charset="0"/>
              </a:rPr>
              <a:t>СОВЕТ ПО ЗЕЛЕНОМУ ПЕРЕХОДУ </a:t>
            </a:r>
            <a:br>
              <a:rPr lang="ru-RU" sz="2800" b="1" dirty="0">
                <a:solidFill>
                  <a:schemeClr val="bg1"/>
                </a:solidFill>
                <a:cs typeface="Calibri" panose="020F0502020204030204" pitchFamily="34" charset="0"/>
              </a:rPr>
            </a:br>
            <a:r>
              <a:rPr lang="ru-RU" sz="2800" b="1" dirty="0">
                <a:solidFill>
                  <a:schemeClr val="bg1"/>
                </a:solidFill>
                <a:cs typeface="Calibri" panose="020F0502020204030204" pitchFamily="34" charset="0"/>
              </a:rPr>
              <a:t/>
            </a:r>
            <a:br>
              <a:rPr lang="ru-RU" sz="2800" b="1" dirty="0">
                <a:solidFill>
                  <a:schemeClr val="bg1"/>
                </a:solidFill>
                <a:cs typeface="Calibri" panose="020F0502020204030204" pitchFamily="34" charset="0"/>
              </a:rPr>
            </a:br>
            <a:r>
              <a:rPr lang="ru-RU" sz="2800" b="1" dirty="0" err="1">
                <a:solidFill>
                  <a:schemeClr val="bg1"/>
                </a:solidFill>
                <a:cs typeface="Calibri" panose="020F0502020204030204" pitchFamily="34" charset="0"/>
              </a:rPr>
              <a:t>ORF’s</a:t>
            </a:r>
            <a:r>
              <a:rPr lang="ru-RU" sz="2800" b="1" dirty="0">
                <a:solidFill>
                  <a:schemeClr val="bg1"/>
                </a:solidFill>
                <a:cs typeface="Calibri" panose="020F0502020204030204" pitchFamily="34" charset="0"/>
              </a:rPr>
              <a:t> HIGH-LEVEL EMPOWERED </a:t>
            </a:r>
            <a:br>
              <a:rPr lang="ru-RU" sz="2800" b="1" dirty="0">
                <a:solidFill>
                  <a:schemeClr val="bg1"/>
                </a:solidFill>
                <a:cs typeface="Calibri" panose="020F0502020204030204" pitchFamily="34" charset="0"/>
              </a:rPr>
            </a:br>
            <a:r>
              <a:rPr lang="ru-RU" sz="2800" b="1" dirty="0">
                <a:solidFill>
                  <a:schemeClr val="bg1"/>
                </a:solidFill>
                <a:cs typeface="Calibri" panose="020F0502020204030204" pitchFamily="34" charset="0"/>
              </a:rPr>
              <a:t>BOARD ON GREEN TRANSITION) </a:t>
            </a:r>
          </a:p>
          <a:p>
            <a:endParaRPr lang="ru-RU" sz="2800" b="1" dirty="0">
              <a:solidFill>
                <a:schemeClr val="bg1"/>
              </a:solidFill>
              <a:cs typeface="Calibri" panose="020F0502020204030204" pitchFamily="34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xmlns="" id="{51C0053B-F6D3-EC53-8797-BA6143551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1113" y="303599"/>
            <a:ext cx="2340887" cy="95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686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xmlns="" id="{F7D30E5B-D4DD-C192-B5E2-CA1114F972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>
            <a:extLst>
              <a:ext uri="{FF2B5EF4-FFF2-40B4-BE49-F238E27FC236}">
                <a16:creationId xmlns:a16="http://schemas.microsoft.com/office/drawing/2014/main" xmlns="" id="{35FFB220-8AF8-C968-D573-382BCC2BD6B5}"/>
              </a:ext>
            </a:extLst>
          </p:cNvPr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4CD7BB57-4D4A-5DF0-D8AB-3398134D5A4F}"/>
              </a:ext>
            </a:extLst>
          </p:cNvPr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pPr algn="r"/>
              <a:t>8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xmlns="" id="{B848484B-BC97-1E39-6C99-598943CDE8D2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3430" y="117904"/>
            <a:ext cx="1910148" cy="711225"/>
          </a:xfrm>
          <a:prstGeom prst="rect">
            <a:avLst/>
          </a:prstGeom>
        </p:spPr>
      </p:pic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xmlns="" id="{0689EE3D-31BA-FA5B-9B79-87F32EB7F532}"/>
              </a:ext>
            </a:extLst>
          </p:cNvPr>
          <p:cNvCxnSpPr/>
          <p:nvPr/>
        </p:nvCxnSpPr>
        <p:spPr>
          <a:xfrm>
            <a:off x="202858" y="963827"/>
            <a:ext cx="11647273" cy="0"/>
          </a:xfrm>
          <a:prstGeom prst="line">
            <a:avLst/>
          </a:prstGeom>
          <a:ln>
            <a:solidFill>
              <a:srgbClr val="1560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F6E5005C-7082-22F1-E131-484199F2F7FB}"/>
              </a:ext>
            </a:extLst>
          </p:cNvPr>
          <p:cNvSpPr txBox="1"/>
          <p:nvPr/>
        </p:nvSpPr>
        <p:spPr>
          <a:xfrm>
            <a:off x="2545975" y="127981"/>
            <a:ext cx="887384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solidFill>
                  <a:srgbClr val="156082"/>
                </a:solidFill>
                <a:latin typeface="Manrope" pitchFamily="2" charset="0"/>
                <a:cs typeface="Calibri" panose="020F0502020204030204" pitchFamily="34" charset="0"/>
              </a:rPr>
              <a:t>Высокий Уполномоченный совет по зеленому переходу </a:t>
            </a:r>
            <a:br>
              <a:rPr lang="ru-RU" sz="2000" b="1" dirty="0">
                <a:solidFill>
                  <a:srgbClr val="156082"/>
                </a:solidFill>
                <a:latin typeface="Manrope" pitchFamily="2" charset="0"/>
                <a:cs typeface="Calibri" panose="020F0502020204030204" pitchFamily="34" charset="0"/>
              </a:rPr>
            </a:br>
            <a:r>
              <a:rPr lang="ru-RU" sz="2000" b="1" dirty="0">
                <a:solidFill>
                  <a:srgbClr val="156082"/>
                </a:solidFill>
                <a:latin typeface="Manrope" pitchFamily="2" charset="0"/>
                <a:cs typeface="Calibri" panose="020F0502020204030204" pitchFamily="34" charset="0"/>
              </a:rPr>
              <a:t>(High-Level </a:t>
            </a:r>
            <a:r>
              <a:rPr lang="ru-RU" sz="2000" b="1" dirty="0" err="1">
                <a:solidFill>
                  <a:srgbClr val="156082"/>
                </a:solidFill>
                <a:latin typeface="Manrope" pitchFamily="2" charset="0"/>
                <a:cs typeface="Calibri" panose="020F0502020204030204" pitchFamily="34" charset="0"/>
              </a:rPr>
              <a:t>Empowered</a:t>
            </a:r>
            <a:r>
              <a:rPr lang="ru-RU" sz="2000" b="1" dirty="0">
                <a:solidFill>
                  <a:srgbClr val="156082"/>
                </a:solidFill>
                <a:latin typeface="Manrope" pitchFamily="2" charset="0"/>
                <a:cs typeface="Calibri" panose="020F0502020204030204" pitchFamily="34" charset="0"/>
              </a:rPr>
              <a:t> Board </a:t>
            </a:r>
            <a:r>
              <a:rPr lang="ru-RU" sz="2000" b="1" dirty="0" err="1">
                <a:solidFill>
                  <a:srgbClr val="156082"/>
                </a:solidFill>
                <a:latin typeface="Manrope" pitchFamily="2" charset="0"/>
                <a:cs typeface="Calibri" panose="020F0502020204030204" pitchFamily="34" charset="0"/>
              </a:rPr>
              <a:t>on</a:t>
            </a:r>
            <a:r>
              <a:rPr lang="ru-RU" sz="2000" b="1" dirty="0">
                <a:solidFill>
                  <a:srgbClr val="156082"/>
                </a:solidFill>
                <a:latin typeface="Manrope" pitchFamily="2" charset="0"/>
                <a:cs typeface="Calibri" panose="020F0502020204030204" pitchFamily="34" charset="0"/>
              </a:rPr>
              <a:t> Green </a:t>
            </a:r>
            <a:r>
              <a:rPr lang="ru-RU" sz="2000" b="1" dirty="0" err="1">
                <a:solidFill>
                  <a:srgbClr val="156082"/>
                </a:solidFill>
                <a:latin typeface="Manrope" pitchFamily="2" charset="0"/>
                <a:cs typeface="Calibri" panose="020F0502020204030204" pitchFamily="34" charset="0"/>
              </a:rPr>
              <a:t>Transition</a:t>
            </a:r>
            <a:r>
              <a:rPr lang="ru-RU" sz="2000" b="1" dirty="0">
                <a:solidFill>
                  <a:srgbClr val="156082"/>
                </a:solidFill>
                <a:latin typeface="Manrope" pitchFamily="2" charset="0"/>
                <a:cs typeface="Calibri" panose="020F0502020204030204" pitchFamily="34" charset="0"/>
              </a:rPr>
              <a:t>)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xmlns="" id="{F5AFB52B-6216-A102-6616-2B4BA0DD2C11}"/>
              </a:ext>
            </a:extLst>
          </p:cNvPr>
          <p:cNvSpPr txBox="1"/>
          <p:nvPr/>
        </p:nvSpPr>
        <p:spPr>
          <a:xfrm>
            <a:off x="382774" y="1153709"/>
            <a:ext cx="8023423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>
                <a:latin typeface="Manrope" pitchFamily="2" charset="0"/>
                <a:cs typeface="Calibri" panose="020F0502020204030204" pitchFamily="34" charset="0"/>
              </a:rPr>
              <a:t>Observer Research Foundation (ORF)</a:t>
            </a:r>
            <a:r>
              <a:rPr lang="ru-RU" sz="1600" dirty="0">
                <a:latin typeface="Manrope Light" pitchFamily="2" charset="0"/>
                <a:cs typeface="Calibri" panose="020F0502020204030204" pitchFamily="34" charset="0"/>
              </a:rPr>
              <a:t> — один из ведущих международных аналитических центров Индии в сфере геоэкономики, устойчивого развития, климатической политики и диалога стран Глобального Юга.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dirty="0">
                <a:latin typeface="Manrope Light" pitchFamily="2" charset="0"/>
                <a:cs typeface="Calibri" panose="020F0502020204030204" pitchFamily="34" charset="0"/>
              </a:rPr>
              <a:t>ORF формирует </a:t>
            </a:r>
            <a:r>
              <a:rPr lang="ru-RU" sz="1600" b="1" dirty="0">
                <a:latin typeface="Manrope ExtraBold" pitchFamily="2" charset="0"/>
                <a:cs typeface="Calibri" panose="020F0502020204030204" pitchFamily="34" charset="0"/>
              </a:rPr>
              <a:t>Высокий консультативный совет — </a:t>
            </a:r>
            <a:r>
              <a:rPr lang="ru-RU" sz="1600" dirty="0">
                <a:latin typeface="Manrope Light" pitchFamily="2" charset="0"/>
                <a:cs typeface="Calibri" panose="020F0502020204030204" pitchFamily="34" charset="0"/>
              </a:rPr>
              <a:t>международную стратегическую платформу по вопросам зеленого перехода, климатического финансирования и реформы многосторонних банков развития (MDB).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dirty="0">
                <a:latin typeface="Manrope Light" pitchFamily="2" charset="0"/>
                <a:cs typeface="Calibri" panose="020F0502020204030204" pitchFamily="34" charset="0"/>
              </a:rPr>
              <a:t>Председатель Совета  -  </a:t>
            </a:r>
            <a:r>
              <a:rPr lang="ru-RU" sz="1600" b="1" dirty="0">
                <a:latin typeface="Manrope Light" pitchFamily="2" charset="0"/>
                <a:cs typeface="Calibri" panose="020F0502020204030204" pitchFamily="34" charset="0"/>
              </a:rPr>
              <a:t>Нанд </a:t>
            </a:r>
            <a:r>
              <a:rPr lang="ru-RU" sz="1600" b="1" dirty="0" err="1">
                <a:latin typeface="Manrope Light" pitchFamily="2" charset="0"/>
                <a:cs typeface="Calibri" panose="020F0502020204030204" pitchFamily="34" charset="0"/>
              </a:rPr>
              <a:t>Кишор</a:t>
            </a:r>
            <a:r>
              <a:rPr lang="ru-RU" sz="1600" b="1" dirty="0">
                <a:latin typeface="Manrope Light" pitchFamily="2" charset="0"/>
                <a:cs typeface="Calibri" panose="020F0502020204030204" pitchFamily="34" charset="0"/>
              </a:rPr>
              <a:t> Сингх, </a:t>
            </a:r>
            <a:r>
              <a:rPr lang="ru-RU" sz="1600" dirty="0">
                <a:latin typeface="Manrope Light" pitchFamily="2" charset="0"/>
                <a:cs typeface="Calibri" panose="020F0502020204030204" pitchFamily="34" charset="0"/>
              </a:rPr>
              <a:t>сопредседатель Независимой экспертной группы G20 по реформе многосторонних банков развития.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xmlns="" id="{EC551E1A-9052-D36D-464D-B5EDE9E0A9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9248" y="1153709"/>
            <a:ext cx="3147091" cy="5408763"/>
          </a:xfrm>
          <a:prstGeom prst="roundRect">
            <a:avLst>
              <a:gd name="adj" fmla="val 16290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C30DA7AF-2018-8059-977E-C55EA9FBD5BC}"/>
              </a:ext>
            </a:extLst>
          </p:cNvPr>
          <p:cNvSpPr txBox="1"/>
          <p:nvPr/>
        </p:nvSpPr>
        <p:spPr>
          <a:xfrm>
            <a:off x="411829" y="3488301"/>
            <a:ext cx="8194699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>
                <a:latin typeface="Manrope" pitchFamily="2" charset="0"/>
                <a:cs typeface="Calibri" panose="020F0502020204030204" pitchFamily="34" charset="0"/>
              </a:rPr>
              <a:t>Основные темы работы Совета: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dirty="0">
                <a:latin typeface="Manrope Light" pitchFamily="2" charset="0"/>
                <a:cs typeface="Calibri" panose="020F0502020204030204" pitchFamily="34" charset="0"/>
              </a:rPr>
              <a:t>климатическое финансирование;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dirty="0">
                <a:latin typeface="Manrope Light" pitchFamily="2" charset="0"/>
                <a:cs typeface="Calibri" panose="020F0502020204030204" pitchFamily="34" charset="0"/>
              </a:rPr>
              <a:t>реформа многосторонних банков развития;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dirty="0">
                <a:latin typeface="Manrope Light" pitchFamily="2" charset="0"/>
                <a:cs typeface="Calibri" panose="020F0502020204030204" pitchFamily="34" charset="0"/>
              </a:rPr>
              <a:t>привлечение частного капитала;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dirty="0">
                <a:latin typeface="Manrope Light" pitchFamily="2" charset="0"/>
                <a:cs typeface="Calibri" panose="020F0502020204030204" pitchFamily="34" charset="0"/>
              </a:rPr>
              <a:t>смешанное финансирование;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dirty="0">
                <a:latin typeface="Manrope Light" pitchFamily="2" charset="0"/>
                <a:cs typeface="Calibri" panose="020F0502020204030204" pitchFamily="34" charset="0"/>
              </a:rPr>
              <a:t>зеленый переход для стран Глобального Юга.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dirty="0">
                <a:latin typeface="Manrope Light" pitchFamily="2" charset="0"/>
                <a:cs typeface="Calibri" panose="020F0502020204030204" pitchFamily="34" charset="0"/>
              </a:rPr>
              <a:t>Мандат Совета на 2 года и включает подготовку стратегических рекомендаций, экспертных консультаций и развитие международного сотрудничества в сфере устойчивого развития.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xmlns="" id="{081615E3-75C0-0BF9-5206-98DECE2DD3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00457" y="125130"/>
            <a:ext cx="1368186" cy="73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943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ru-RU" dirty="0"/>
          </a:p>
        </p:txBody>
      </p:sp>
      <p:sp>
        <p:nvSpPr>
          <p:cNvPr id="41" name="TextBox 41"/>
          <p:cNvSpPr txBox="1"/>
          <p:nvPr/>
        </p:nvSpPr>
        <p:spPr>
          <a:xfrm>
            <a:off x="548640" y="1366076"/>
            <a:ext cx="5257320" cy="7600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spcAft>
                <a:spcPts val="120"/>
              </a:spcAft>
            </a:pPr>
            <a:r>
              <a:rPr lang="ru-RU" b="1" i="0" dirty="0">
                <a:solidFill>
                  <a:srgbClr val="156082"/>
                </a:solidFill>
                <a:latin typeface="Calibri"/>
              </a:rPr>
              <a:t>Н.К. Сингх — Председатель</a:t>
            </a:r>
          </a:p>
          <a:p>
            <a:pPr algn="l"/>
            <a:r>
              <a:rPr lang="ru-RU" sz="1200" b="0" i="0" dirty="0">
                <a:solidFill>
                  <a:srgbClr val="156082"/>
                </a:solidFill>
                <a:latin typeface="Calibri"/>
              </a:rPr>
              <a:t>Глава 15-й </a:t>
            </a:r>
            <a:r>
              <a:rPr lang="ru-RU" sz="1200" b="0" i="0" dirty="0" err="1">
                <a:solidFill>
                  <a:srgbClr val="156082"/>
                </a:solidFill>
                <a:latin typeface="Calibri"/>
              </a:rPr>
              <a:t>Финкомиссии</a:t>
            </a:r>
            <a:r>
              <a:rPr lang="ru-RU" sz="1200" b="0" i="0" dirty="0">
                <a:solidFill>
                  <a:srgbClr val="156082"/>
                </a:solidFill>
                <a:latin typeface="Calibri"/>
              </a:rPr>
              <a:t> Индии; соавтор «Тройной повестки» G20 по реформе банков развития.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48640" y="2236076"/>
            <a:ext cx="5257320" cy="7600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spcAft>
                <a:spcPts val="120"/>
              </a:spcAft>
            </a:pPr>
            <a:r>
              <a:rPr lang="ru-RU" b="1" i="0" dirty="0">
                <a:solidFill>
                  <a:srgbClr val="156082"/>
                </a:solidFill>
                <a:latin typeface="Calibri"/>
              </a:rPr>
              <a:t>Лорд Николас Стерн</a:t>
            </a:r>
          </a:p>
          <a:p>
            <a:pPr algn="l"/>
            <a:r>
              <a:rPr lang="ru-RU" sz="1200" b="0" i="0" dirty="0">
                <a:solidFill>
                  <a:srgbClr val="156082"/>
                </a:solidFill>
                <a:latin typeface="Calibri"/>
              </a:rPr>
              <a:t>LSE / </a:t>
            </a:r>
            <a:r>
              <a:rPr lang="ru-RU" sz="1200" b="0" i="0" dirty="0" err="1">
                <a:solidFill>
                  <a:srgbClr val="156082"/>
                </a:solidFill>
                <a:latin typeface="Calibri"/>
              </a:rPr>
              <a:t>Grantham</a:t>
            </a:r>
            <a:r>
              <a:rPr lang="ru-RU" sz="1200" b="0" i="0" dirty="0">
                <a:solidFill>
                  <a:srgbClr val="156082"/>
                </a:solidFill>
                <a:latin typeface="Calibri"/>
              </a:rPr>
              <a:t> Research Institute; автор «Обзора Стерна» по экономике климата.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48640" y="3106076"/>
            <a:ext cx="5257320" cy="7600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spcAft>
                <a:spcPts val="120"/>
              </a:spcAft>
            </a:pPr>
            <a:r>
              <a:rPr lang="ru-RU" b="1" i="0" dirty="0">
                <a:solidFill>
                  <a:srgbClr val="156082"/>
                </a:solidFill>
                <a:latin typeface="Calibri"/>
              </a:rPr>
              <a:t>Рэйчел Кайт</a:t>
            </a:r>
          </a:p>
          <a:p>
            <a:pPr algn="l"/>
            <a:r>
              <a:rPr lang="ru-RU" sz="1200" b="0" i="0" dirty="0">
                <a:solidFill>
                  <a:srgbClr val="156082"/>
                </a:solidFill>
                <a:latin typeface="Calibri"/>
              </a:rPr>
              <a:t>Спецпредставитель Великобритании по климату; экс-вице-президент Всемирного банка, глава </a:t>
            </a:r>
            <a:r>
              <a:rPr lang="ru-RU" sz="1200" b="0" i="0" dirty="0" err="1">
                <a:solidFill>
                  <a:srgbClr val="156082"/>
                </a:solidFill>
                <a:latin typeface="Calibri"/>
              </a:rPr>
              <a:t>SEforALL</a:t>
            </a:r>
            <a:r>
              <a:rPr lang="ru-RU" sz="1200" b="0" i="0" dirty="0">
                <a:solidFill>
                  <a:srgbClr val="156082"/>
                </a:solidFill>
                <a:latin typeface="Calibri"/>
              </a:rPr>
              <a:t>.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48640" y="3976076"/>
            <a:ext cx="5257320" cy="7600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spcAft>
                <a:spcPts val="120"/>
              </a:spcAft>
            </a:pPr>
            <a:r>
              <a:rPr lang="ru-RU" b="1" i="0" dirty="0">
                <a:solidFill>
                  <a:srgbClr val="156082"/>
                </a:solidFill>
                <a:latin typeface="Calibri"/>
              </a:rPr>
              <a:t>Том </a:t>
            </a:r>
            <a:r>
              <a:rPr lang="ru-RU" b="1" i="0" dirty="0" err="1">
                <a:solidFill>
                  <a:srgbClr val="156082"/>
                </a:solidFill>
                <a:latin typeface="Calibri"/>
              </a:rPr>
              <a:t>Тугендхат</a:t>
            </a:r>
            <a:endParaRPr lang="ru-RU" b="1" i="0" dirty="0">
              <a:solidFill>
                <a:srgbClr val="156082"/>
              </a:solidFill>
              <a:latin typeface="Calibri"/>
            </a:endParaRPr>
          </a:p>
          <a:p>
            <a:pPr algn="l"/>
            <a:r>
              <a:rPr lang="ru-RU" sz="1200" b="0" i="0" dirty="0">
                <a:solidFill>
                  <a:srgbClr val="156082"/>
                </a:solidFill>
                <a:latin typeface="Calibri"/>
              </a:rPr>
              <a:t>Член парламента Великобритании; политика и надёжность поставок в зелёном переходе.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355560" y="1366076"/>
            <a:ext cx="5257320" cy="7600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spcAft>
                <a:spcPts val="120"/>
              </a:spcAft>
            </a:pPr>
            <a:r>
              <a:rPr lang="ru-RU" b="1" i="0" dirty="0">
                <a:solidFill>
                  <a:srgbClr val="156082"/>
                </a:solidFill>
                <a:latin typeface="Calibri"/>
              </a:rPr>
              <a:t>Андре Корреа ду Лагу — Президент COP30</a:t>
            </a:r>
          </a:p>
          <a:p>
            <a:pPr algn="l"/>
            <a:r>
              <a:rPr lang="ru-RU" sz="1200" b="0" i="0" dirty="0">
                <a:solidFill>
                  <a:srgbClr val="156082"/>
                </a:solidFill>
                <a:latin typeface="Calibri"/>
              </a:rPr>
              <a:t>Климатическое финансирование и страновые платформы после Белена.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6355560" y="2236076"/>
            <a:ext cx="5257320" cy="7600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spcAft>
                <a:spcPts val="120"/>
              </a:spcAft>
            </a:pPr>
            <a:r>
              <a:rPr lang="ru-RU" b="1" i="0" dirty="0">
                <a:solidFill>
                  <a:srgbClr val="156082"/>
                </a:solidFill>
                <a:latin typeface="Calibri"/>
              </a:rPr>
              <a:t>Сэр Масуд Ахмед</a:t>
            </a:r>
          </a:p>
          <a:p>
            <a:pPr algn="l"/>
            <a:r>
              <a:rPr lang="ru-RU" sz="1200" b="0" i="0" dirty="0">
                <a:solidFill>
                  <a:srgbClr val="156082"/>
                </a:solidFill>
                <a:latin typeface="Calibri"/>
              </a:rPr>
              <a:t>Почётный президент Center </a:t>
            </a:r>
            <a:r>
              <a:rPr lang="ru-RU" sz="1200" b="0" i="0" dirty="0" err="1">
                <a:solidFill>
                  <a:srgbClr val="156082"/>
                </a:solidFill>
                <a:latin typeface="Calibri"/>
              </a:rPr>
              <a:t>for</a:t>
            </a:r>
            <a:r>
              <a:rPr lang="ru-RU" sz="1200" b="0" i="0" dirty="0">
                <a:solidFill>
                  <a:srgbClr val="156082"/>
                </a:solidFill>
                <a:latin typeface="Calibri"/>
              </a:rPr>
              <a:t> Global Development; экс-МВФ и DFID.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355560" y="3106076"/>
            <a:ext cx="5257320" cy="7600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spcAft>
                <a:spcPts val="120"/>
              </a:spcAft>
            </a:pPr>
            <a:r>
              <a:rPr lang="ru-RU" b="1" i="0" dirty="0">
                <a:solidFill>
                  <a:srgbClr val="156082"/>
                </a:solidFill>
                <a:latin typeface="Calibri"/>
              </a:rPr>
              <a:t>Самир Саран — Президент ORF</a:t>
            </a:r>
          </a:p>
          <a:p>
            <a:pPr algn="l"/>
            <a:r>
              <a:rPr lang="ru-RU" sz="1200" b="0" i="0" dirty="0">
                <a:solidFill>
                  <a:srgbClr val="156082"/>
                </a:solidFill>
                <a:latin typeface="Calibri"/>
              </a:rPr>
              <a:t>Куратор </a:t>
            </a:r>
            <a:r>
              <a:rPr lang="ru-RU" sz="1200" b="0" i="0" dirty="0" err="1">
                <a:solidFill>
                  <a:srgbClr val="156082"/>
                </a:solidFill>
                <a:latin typeface="Calibri"/>
              </a:rPr>
              <a:t>Raisina</a:t>
            </a:r>
            <a:r>
              <a:rPr lang="ru-RU" sz="1200" b="0" i="0" dirty="0">
                <a:solidFill>
                  <a:srgbClr val="156082"/>
                </a:solidFill>
                <a:latin typeface="Calibri"/>
              </a:rPr>
              <a:t> </a:t>
            </a:r>
            <a:r>
              <a:rPr lang="ru-RU" sz="1200" b="0" i="0" dirty="0" err="1">
                <a:solidFill>
                  <a:srgbClr val="156082"/>
                </a:solidFill>
                <a:latin typeface="Calibri"/>
              </a:rPr>
              <a:t>Dialogue</a:t>
            </a:r>
            <a:r>
              <a:rPr lang="ru-RU" sz="1200" b="0" i="0" dirty="0">
                <a:solidFill>
                  <a:srgbClr val="156082"/>
                </a:solidFill>
                <a:latin typeface="Calibri"/>
              </a:rPr>
              <a:t>; сеть инвесторов Глобального Юга.</a:t>
            </a:r>
          </a:p>
        </p:txBody>
      </p:sp>
      <p:sp>
        <p:nvSpPr>
          <p:cNvPr id="48" name="RR 48"/>
          <p:cNvSpPr/>
          <p:nvPr/>
        </p:nvSpPr>
        <p:spPr>
          <a:xfrm>
            <a:off x="6262577" y="3830000"/>
            <a:ext cx="5157248" cy="1169216"/>
          </a:xfrm>
          <a:prstGeom prst="roundRect">
            <a:avLst>
              <a:gd name="adj" fmla="val 9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 lang="ru-RU" sz="2400" dirty="0"/>
          </a:p>
        </p:txBody>
      </p:sp>
      <p:sp>
        <p:nvSpPr>
          <p:cNvPr id="49" name="TextBox 49"/>
          <p:cNvSpPr txBox="1"/>
          <p:nvPr/>
        </p:nvSpPr>
        <p:spPr>
          <a:xfrm>
            <a:off x="6343510" y="3838301"/>
            <a:ext cx="4927000" cy="11692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ctr"/>
            <a:r>
              <a:rPr lang="ru-RU" sz="1600" b="1" dirty="0" err="1">
                <a:solidFill>
                  <a:srgbClr val="FFC000"/>
                </a:solidFill>
                <a:latin typeface="Calibri"/>
              </a:rPr>
              <a:t>Ерлік</a:t>
            </a:r>
            <a:r>
              <a:rPr lang="ru-RU" sz="1600" b="1" dirty="0">
                <a:solidFill>
                  <a:srgbClr val="FFC000"/>
                </a:solidFill>
                <a:latin typeface="Calibri"/>
              </a:rPr>
              <a:t> Қаражан </a:t>
            </a:r>
            <a:br>
              <a:rPr lang="ru-RU" sz="1600" b="1" dirty="0">
                <a:solidFill>
                  <a:srgbClr val="FFC000"/>
                </a:solidFill>
                <a:latin typeface="Calibri"/>
              </a:rPr>
            </a:br>
            <a:r>
              <a:rPr lang="ru-RU" sz="1600" b="1" i="0" dirty="0">
                <a:solidFill>
                  <a:srgbClr val="FFFFFF"/>
                </a:solidFill>
                <a:latin typeface="Calibri"/>
              </a:rPr>
              <a:t>Представитель Центральной Азии в Совете</a:t>
            </a:r>
            <a:r>
              <a:rPr lang="ru-RU" sz="1600" b="0" i="0" dirty="0">
                <a:solidFill>
                  <a:srgbClr val="FFFFFF"/>
                </a:solidFill>
                <a:latin typeface="Calibri"/>
              </a:rPr>
              <a:t>, генеральный директор Фонда климата Центральной Азии (CACF).</a:t>
            </a:r>
          </a:p>
        </p:txBody>
      </p:sp>
      <p:sp>
        <p:nvSpPr>
          <p:cNvPr id="3" name="Прямоугольник с двумя скругленными соседними углами 2">
            <a:extLst>
              <a:ext uri="{FF2B5EF4-FFF2-40B4-BE49-F238E27FC236}">
                <a16:creationId xmlns:a16="http://schemas.microsoft.com/office/drawing/2014/main" xmlns="" id="{5FCD3824-A6AA-7E96-93D0-501F54935C59}"/>
              </a:ext>
            </a:extLst>
          </p:cNvPr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A8CE9E32-B962-4E98-14A0-8B0E293057AA}"/>
              </a:ext>
            </a:extLst>
          </p:cNvPr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pPr algn="r"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xmlns="" id="{927F85C6-D400-0799-D94A-72D8A6F600D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3430" y="117904"/>
            <a:ext cx="1910148" cy="711225"/>
          </a:xfrm>
          <a:prstGeom prst="rect">
            <a:avLst/>
          </a:prstGeom>
        </p:spPr>
      </p:pic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xmlns="" id="{43BD834F-5E75-485B-717F-CB928EC3E2AE}"/>
              </a:ext>
            </a:extLst>
          </p:cNvPr>
          <p:cNvCxnSpPr/>
          <p:nvPr/>
        </p:nvCxnSpPr>
        <p:spPr>
          <a:xfrm>
            <a:off x="202858" y="963827"/>
            <a:ext cx="11647273" cy="0"/>
          </a:xfrm>
          <a:prstGeom prst="line">
            <a:avLst/>
          </a:prstGeom>
          <a:ln>
            <a:solidFill>
              <a:srgbClr val="1560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AF8DD949-34B0-1055-26BA-514C164465AE}"/>
              </a:ext>
            </a:extLst>
          </p:cNvPr>
          <p:cNvSpPr txBox="1"/>
          <p:nvPr/>
        </p:nvSpPr>
        <p:spPr>
          <a:xfrm>
            <a:off x="2545975" y="127981"/>
            <a:ext cx="887384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solidFill>
                  <a:srgbClr val="156082"/>
                </a:solidFill>
                <a:latin typeface="Manrope" pitchFamily="2" charset="0"/>
                <a:cs typeface="Calibri" panose="020F0502020204030204" pitchFamily="34" charset="0"/>
              </a:rPr>
              <a:t>Высокий Уполномоченный совет по зеленому переходу </a:t>
            </a:r>
            <a:br>
              <a:rPr lang="ru-RU" sz="2000" b="1" dirty="0">
                <a:solidFill>
                  <a:srgbClr val="156082"/>
                </a:solidFill>
                <a:latin typeface="Manrope" pitchFamily="2" charset="0"/>
                <a:cs typeface="Calibri" panose="020F0502020204030204" pitchFamily="34" charset="0"/>
              </a:rPr>
            </a:br>
            <a:r>
              <a:rPr lang="ru-RU" sz="2000" b="1" dirty="0">
                <a:solidFill>
                  <a:srgbClr val="156082"/>
                </a:solidFill>
                <a:latin typeface="Manrope" pitchFamily="2" charset="0"/>
                <a:cs typeface="Calibri" panose="020F0502020204030204" pitchFamily="34" charset="0"/>
              </a:rPr>
              <a:t>(High-Level </a:t>
            </a:r>
            <a:r>
              <a:rPr lang="ru-RU" sz="2000" b="1" dirty="0" err="1">
                <a:solidFill>
                  <a:srgbClr val="156082"/>
                </a:solidFill>
                <a:latin typeface="Manrope" pitchFamily="2" charset="0"/>
                <a:cs typeface="Calibri" panose="020F0502020204030204" pitchFamily="34" charset="0"/>
              </a:rPr>
              <a:t>Empowered</a:t>
            </a:r>
            <a:r>
              <a:rPr lang="ru-RU" sz="2000" b="1" dirty="0">
                <a:solidFill>
                  <a:srgbClr val="156082"/>
                </a:solidFill>
                <a:latin typeface="Manrope" pitchFamily="2" charset="0"/>
                <a:cs typeface="Calibri" panose="020F0502020204030204" pitchFamily="34" charset="0"/>
              </a:rPr>
              <a:t> Board </a:t>
            </a:r>
            <a:r>
              <a:rPr lang="ru-RU" sz="2000" b="1" dirty="0" err="1">
                <a:solidFill>
                  <a:srgbClr val="156082"/>
                </a:solidFill>
                <a:latin typeface="Manrope" pitchFamily="2" charset="0"/>
                <a:cs typeface="Calibri" panose="020F0502020204030204" pitchFamily="34" charset="0"/>
              </a:rPr>
              <a:t>on</a:t>
            </a:r>
            <a:r>
              <a:rPr lang="ru-RU" sz="2000" b="1" dirty="0">
                <a:solidFill>
                  <a:srgbClr val="156082"/>
                </a:solidFill>
                <a:latin typeface="Manrope" pitchFamily="2" charset="0"/>
                <a:cs typeface="Calibri" panose="020F0502020204030204" pitchFamily="34" charset="0"/>
              </a:rPr>
              <a:t> Green </a:t>
            </a:r>
            <a:r>
              <a:rPr lang="ru-RU" sz="2000" b="1" dirty="0" err="1">
                <a:solidFill>
                  <a:srgbClr val="156082"/>
                </a:solidFill>
                <a:latin typeface="Manrope" pitchFamily="2" charset="0"/>
                <a:cs typeface="Calibri" panose="020F0502020204030204" pitchFamily="34" charset="0"/>
              </a:rPr>
              <a:t>Transition</a:t>
            </a:r>
            <a:r>
              <a:rPr lang="ru-RU" sz="2000" b="1" dirty="0">
                <a:solidFill>
                  <a:srgbClr val="156082"/>
                </a:solidFill>
                <a:latin typeface="Manrope" pitchFamily="2" charset="0"/>
                <a:cs typeface="Calibri" panose="020F0502020204030204" pitchFamily="34" charset="0"/>
              </a:rPr>
              <a:t>) </a:t>
            </a:r>
          </a:p>
        </p:txBody>
      </p:sp>
      <p:sp>
        <p:nvSpPr>
          <p:cNvPr id="9" name="RR 48">
            <a:extLst>
              <a:ext uri="{FF2B5EF4-FFF2-40B4-BE49-F238E27FC236}">
                <a16:creationId xmlns:a16="http://schemas.microsoft.com/office/drawing/2014/main" xmlns="" id="{CB6E2D82-F434-6298-EC4B-76A616A00C45}"/>
              </a:ext>
            </a:extLst>
          </p:cNvPr>
          <p:cNvSpPr/>
          <p:nvPr/>
        </p:nvSpPr>
        <p:spPr>
          <a:xfrm>
            <a:off x="430932" y="5305625"/>
            <a:ext cx="10988892" cy="760000"/>
          </a:xfrm>
          <a:prstGeom prst="roundRect">
            <a:avLst>
              <a:gd name="adj" fmla="val 9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 lang="ru-RU" sz="2400" dirty="0"/>
          </a:p>
        </p:txBody>
      </p:sp>
      <p:sp>
        <p:nvSpPr>
          <p:cNvPr id="10" name="TextBox 49">
            <a:extLst>
              <a:ext uri="{FF2B5EF4-FFF2-40B4-BE49-F238E27FC236}">
                <a16:creationId xmlns:a16="http://schemas.microsoft.com/office/drawing/2014/main" xmlns="" id="{2FA3498C-D765-7C6E-94CA-BCA996261496}"/>
              </a:ext>
            </a:extLst>
          </p:cNvPr>
          <p:cNvSpPr txBox="1"/>
          <p:nvPr/>
        </p:nvSpPr>
        <p:spPr>
          <a:xfrm>
            <a:off x="548640" y="5313926"/>
            <a:ext cx="10498287" cy="7600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ctr"/>
            <a:r>
              <a:rPr lang="ru-RU" sz="1600" b="1" dirty="0">
                <a:solidFill>
                  <a:schemeClr val="bg1"/>
                </a:solidFill>
                <a:latin typeface="Calibri"/>
              </a:rPr>
              <a:t>Голос региона на глобальной площадке | Экспертный вход и связи | PR и позиционирование </a:t>
            </a:r>
            <a:br>
              <a:rPr lang="ru-RU" sz="1600" b="1" dirty="0">
                <a:solidFill>
                  <a:schemeClr val="bg1"/>
                </a:solidFill>
                <a:latin typeface="Calibri"/>
              </a:rPr>
            </a:br>
            <a:r>
              <a:rPr lang="ru-RU" sz="1600" b="1" dirty="0">
                <a:solidFill>
                  <a:schemeClr val="bg1"/>
                </a:solidFill>
                <a:latin typeface="Calibri"/>
              </a:rPr>
              <a:t>Доступ к </a:t>
            </a:r>
            <a:r>
              <a:rPr lang="ru-RU" sz="1600" b="1" dirty="0" err="1">
                <a:solidFill>
                  <a:schemeClr val="bg1"/>
                </a:solidFill>
                <a:latin typeface="Calibri"/>
              </a:rPr>
              <a:t>blended</a:t>
            </a:r>
            <a:r>
              <a:rPr lang="ru-RU" sz="16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ru-RU" sz="1600" b="1" dirty="0" err="1">
                <a:solidFill>
                  <a:schemeClr val="bg1"/>
                </a:solidFill>
                <a:latin typeface="Calibri"/>
              </a:rPr>
              <a:t>finance</a:t>
            </a:r>
            <a:r>
              <a:rPr lang="ru-RU" sz="1600" dirty="0">
                <a:solidFill>
                  <a:schemeClr val="bg1"/>
                </a:solidFill>
                <a:latin typeface="Calibri"/>
              </a:rPr>
              <a:t>, частному капиталу и экспертизе MDB для зелёных/переходных инструментов</a:t>
            </a:r>
            <a:endParaRPr lang="ru-RU" sz="1600" b="1" dirty="0">
              <a:solidFill>
                <a:schemeClr val="bg1"/>
              </a:solidFill>
              <a:latin typeface="Calibri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xmlns="" id="{90D92AD2-EF4E-8EA4-7E1D-3F03A9AA86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457" y="125130"/>
            <a:ext cx="1368186" cy="73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4154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t>10</a:t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51999" y="1062000"/>
            <a:ext cx="116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Информационная и аналитическая работа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999" y="1386000"/>
            <a:ext cx="11664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3B7D48"/>
                </a:solidFill>
                <a:latin typeface="Manrope"/>
              </a:rPr>
              <a:t>июнь – октябрь 2026 года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1999" y="1674000"/>
            <a:ext cx="2232000" cy="720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251999" y="1674000"/>
            <a:ext cx="43200" cy="7200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77999" y="1692000"/>
            <a:ext cx="2052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3B7D48"/>
                </a:solidFill>
                <a:latin typeface="Manrope"/>
              </a:rPr>
              <a:t>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7999" y="2015999"/>
            <a:ext cx="2052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100" b="1">
                <a:solidFill>
                  <a:srgbClr val="1C3E6D"/>
                </a:solidFill>
                <a:latin typeface="Manrope"/>
              </a:rPr>
              <a:t>пресс-релизов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7999" y="2178000"/>
            <a:ext cx="2052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  <a:latin typeface="Manrope"/>
              </a:rPr>
              <a:t>июнь – октябрь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592000" y="1674000"/>
            <a:ext cx="2232000" cy="720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2592000" y="1674000"/>
            <a:ext cx="43200" cy="7200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718000" y="1692000"/>
            <a:ext cx="2052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156082"/>
                </a:solidFill>
                <a:latin typeface="Manrope"/>
              </a:rPr>
              <a:t>101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18000" y="2015999"/>
            <a:ext cx="2052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100" b="1">
                <a:solidFill>
                  <a:srgbClr val="1C3E6D"/>
                </a:solidFill>
                <a:latin typeface="Manrope"/>
              </a:rPr>
              <a:t>публикация в СМИ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18000" y="2178000"/>
            <a:ext cx="2052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  <a:latin typeface="Manrope"/>
              </a:rPr>
              <a:t>июнь – сентябрь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2000" y="1674000"/>
            <a:ext cx="2232000" cy="720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932000" y="1674000"/>
            <a:ext cx="43200" cy="72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058000" y="1692000"/>
            <a:ext cx="2052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130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58000" y="2015999"/>
            <a:ext cx="2052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100" b="1">
                <a:solidFill>
                  <a:srgbClr val="1C3E6D"/>
                </a:solidFill>
                <a:latin typeface="Manrope"/>
              </a:rPr>
              <a:t>постов в соцсетях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58000" y="2178000"/>
            <a:ext cx="2052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  <a:latin typeface="Manrope"/>
              </a:rPr>
              <a:t>июнь – октябрь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272000" y="1674000"/>
            <a:ext cx="2232000" cy="7200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272000" y="1674000"/>
            <a:ext cx="43200" cy="7200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398000" y="1692000"/>
            <a:ext cx="2052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C99A1E"/>
                </a:solidFill>
                <a:latin typeface="Manrope"/>
              </a:rPr>
              <a:t>1 865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98000" y="2015999"/>
            <a:ext cx="2052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100" b="1">
                <a:solidFill>
                  <a:srgbClr val="1C3E6D"/>
                </a:solidFill>
                <a:latin typeface="Manrope"/>
              </a:rPr>
              <a:t>подписчиков в 6 соцсетях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98000" y="2178000"/>
            <a:ext cx="2052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  <a:latin typeface="Manrope"/>
              </a:rPr>
              <a:t>в т.ч. журналисты и СМИ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612000" y="1674000"/>
            <a:ext cx="2232000" cy="720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9612000" y="1674000"/>
            <a:ext cx="43200" cy="7200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738000" y="1692000"/>
            <a:ext cx="2052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3B7D48"/>
                </a:solidFill>
                <a:latin typeface="Manrope"/>
              </a:rPr>
              <a:t>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38000" y="2015999"/>
            <a:ext cx="2052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100" b="1">
                <a:solidFill>
                  <a:srgbClr val="1C3E6D"/>
                </a:solidFill>
                <a:latin typeface="Manrope"/>
              </a:rPr>
              <a:t>материала на сайте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38000" y="2178000"/>
            <a:ext cx="2052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  <a:latin typeface="Manrope"/>
              </a:rPr>
              <a:t>caclimate.fund, июнь – октябрь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51999" y="2484000"/>
            <a:ext cx="5742000" cy="2718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251999" y="2484000"/>
            <a:ext cx="5742000" cy="432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360000" y="2538000"/>
            <a:ext cx="5526000" cy="28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Опубликованные исследования и аналитика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0000" y="2826000"/>
            <a:ext cx="5526000" cy="23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12.10  </a:t>
            </a:r>
            <a:r>
              <a:rPr sz="1050" b="0">
                <a:solidFill>
                  <a:srgbClr val="404040"/>
                </a:solidFill>
                <a:latin typeface="Manrope"/>
              </a:rPr>
              <a:t>Климатические риски Казахстана: 12 видов опасностей, оценка 20 регионов – совместно с ESGQ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21.07  </a:t>
            </a:r>
            <a:r>
              <a:rPr sz="1050" b="0">
                <a:solidFill>
                  <a:srgbClr val="404040"/>
                </a:solidFill>
                <a:latin typeface="Manrope"/>
              </a:rPr>
              <a:t>Рекомендации KAZENERGY по снижению рисков устойчивого развития для энергетики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июль–окт.  </a:t>
            </a:r>
            <a:r>
              <a:rPr sz="1050" b="0">
                <a:solidFill>
                  <a:srgbClr val="404040"/>
                </a:solidFill>
                <a:latin typeface="Manrope"/>
              </a:rPr>
              <a:t>Серия «Как обеспечить Центральную Азию едой, водой, электроэнергией в условиях меняющегося климата», «Чем грозит изменение климата Центральной Азии»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27.10  </a:t>
            </a:r>
            <a:r>
              <a:rPr sz="1050" b="0">
                <a:solidFill>
                  <a:srgbClr val="404040"/>
                </a:solidFill>
                <a:latin typeface="Manrope"/>
              </a:rPr>
              <a:t>Центральная Азия потеряла 44% площади ледников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июль–окт.  </a:t>
            </a:r>
            <a:r>
              <a:rPr sz="1050" b="0">
                <a:solidFill>
                  <a:srgbClr val="404040"/>
                </a:solidFill>
                <a:latin typeface="Manrope"/>
              </a:rPr>
              <a:t>Климатические аномалии: самое жаркое лето за 80 лет, рост погодных аномалий, последствия жары для здоровья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июнь–авг.  </a:t>
            </a:r>
            <a:r>
              <a:rPr sz="1050" b="0">
                <a:solidFill>
                  <a:srgbClr val="404040"/>
                </a:solidFill>
                <a:latin typeface="Manrope"/>
              </a:rPr>
              <a:t>Экологические данные: эмиссии (3,4 млн т), нарушения экологического законодательства, лесной фонд, редкие животные, нацпарки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02000" y="2484000"/>
            <a:ext cx="5850000" cy="2718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6102000" y="2484000"/>
            <a:ext cx="5850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210000" y="2538000"/>
            <a:ext cx="5634000" cy="28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156082"/>
                </a:solidFill>
                <a:latin typeface="Manrope"/>
              </a:rPr>
              <a:t>Научно-аналитические мероприятия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0000" y="2826000"/>
            <a:ext cx="5634000" cy="23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26.06  </a:t>
            </a:r>
            <a:r>
              <a:rPr sz="1050" b="0">
                <a:solidFill>
                  <a:srgbClr val="404040"/>
                </a:solidFill>
                <a:latin typeface="Manrope"/>
              </a:rPr>
              <a:t>Лондон: Высокий консультативный совет ORF по зелёному переходу, глава Фонда вошёл в его состав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30.06  </a:t>
            </a:r>
            <a:r>
              <a:rPr sz="1050" b="0">
                <a:solidFill>
                  <a:srgbClr val="404040"/>
                </a:solidFill>
                <a:latin typeface="Manrope"/>
              </a:rPr>
              <a:t>Гамбург: конференция по устойчивому развитию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август  </a:t>
            </a:r>
            <a:r>
              <a:rPr sz="1050" b="0">
                <a:solidFill>
                  <a:srgbClr val="404040"/>
                </a:solidFill>
                <a:latin typeface="Manrope"/>
              </a:rPr>
              <a:t>Курс «ESG-оценка предприятий Казахстана по официальным экологическим данным» совместно с ИАЦ ООС МЭПР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28–29.08  </a:t>
            </a:r>
            <a:r>
              <a:rPr sz="1050" b="0">
                <a:solidFill>
                  <a:srgbClr val="404040"/>
                </a:solidFill>
                <a:latin typeface="Manrope"/>
              </a:rPr>
              <a:t>Молодёжная климатическая конференция LCOY Kazakhstan 2026, Назарбаев Университет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28.09  </a:t>
            </a:r>
            <a:r>
              <a:rPr sz="1050" b="0">
                <a:solidFill>
                  <a:srgbClr val="404040"/>
                </a:solidFill>
                <a:latin typeface="Manrope"/>
              </a:rPr>
              <a:t>Меморандум о сотрудничестве с Рейтинговым агентством ESGQ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03–05.10  </a:t>
            </a:r>
            <a:r>
              <a:rPr sz="1050" b="0">
                <a:solidFill>
                  <a:srgbClr val="404040"/>
                </a:solidFill>
                <a:latin typeface="Manrope"/>
              </a:rPr>
              <a:t>Нью-Дели: 5-й Экономический конклав Каутильи, выступление главы Фонда; аналитическая записка с рекомендациями для Казахстана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51999" y="5238000"/>
            <a:ext cx="11700000" cy="11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C3E6D"/>
                </a:solidFill>
                <a:latin typeface="Manrope"/>
              </a:rPr>
              <a:t>Публикации выходят на трёх языках: казахском, русском и английском.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1C3E6D"/>
                </a:solidFill>
                <a:latin typeface="Manrope"/>
              </a:rPr>
              <a:t>Казахстанские СМИ (28): </a:t>
            </a:r>
            <a:r>
              <a:rPr sz="950" b="0">
                <a:solidFill>
                  <a:srgbClr val="404040"/>
                </a:solidFill>
                <a:latin typeface="Manrope"/>
              </a:rPr>
              <a:t>Казинформ, KazTag, Kazakhstan Today, Егемен Қазақстан, Egemen Times, Kursiv, Vlast, Orda, BAQ.kz, 24.kz, Улысмедиа, Lifenews, Qumash, Bes.Media, Kapital.kz, Informburo.kz, Exclusive, Inbusiness, DKnews, E-Karaganda, Newsline, Vesti.kz, Spik.kz, AIT Media, Astana Times, Ser-Per.kz, FBRK.kz, CZHR.kz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1C3E6D"/>
                </a:solidFill>
                <a:latin typeface="Manrope"/>
              </a:rPr>
              <a:t>Зарубежные СМИ (13): </a:t>
            </a:r>
            <a:r>
              <a:rPr sz="950" b="0">
                <a:solidFill>
                  <a:srgbClr val="404040"/>
                </a:solidFill>
                <a:latin typeface="Manrope"/>
              </a:rPr>
              <a:t>Euronews, Ultima Bozza (Италия), Travel Tomorrow (Бельгия), Interfax (Россия), Central Asia News, Toshkent.Today (Узбекистан), Open.kg (Кыргызстан), ORIENT.tm (Туркменистан), Imruz и Pamir Inside (Таджикистан), Ekois.net, Getaway (ЮАР), Malaysia News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4F9C59AF-7B85-FDEB-57D9-0C700C334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368696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0B4072C1-957B-5BBE-2D8B-EF24ED2C184A}"/>
              </a:ext>
            </a:extLst>
          </p:cNvPr>
          <p:cNvSpPr txBox="1"/>
          <p:nvPr/>
        </p:nvSpPr>
        <p:spPr>
          <a:xfrm>
            <a:off x="733055" y="1032562"/>
            <a:ext cx="1133489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chemeClr val="bg1"/>
                </a:solidFill>
                <a:latin typeface="Manrope" pitchFamily="2" charset="0"/>
                <a:cs typeface="Calibri" panose="020F0502020204030204" pitchFamily="34" charset="0"/>
              </a:rPr>
              <a:t>Центрально-азиатский </a:t>
            </a:r>
            <a:r>
              <a:rPr lang="ru-RU" b="1" dirty="0">
                <a:solidFill>
                  <a:schemeClr val="bg1"/>
                </a:solidFill>
                <a:cs typeface="Calibri" panose="020F0502020204030204" pitchFamily="34" charset="0"/>
              </a:rPr>
              <a:t>климатический фонд</a:t>
            </a:r>
            <a:br>
              <a:rPr lang="ru-RU" b="1" dirty="0">
                <a:solidFill>
                  <a:schemeClr val="bg1"/>
                </a:solidFill>
                <a:cs typeface="Calibri" panose="020F0502020204030204" pitchFamily="34" charset="0"/>
              </a:rPr>
            </a:br>
            <a:r>
              <a:rPr lang="ru-RU" b="1" dirty="0">
                <a:solidFill>
                  <a:schemeClr val="bg1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b="1" dirty="0">
                <a:solidFill>
                  <a:schemeClr val="bg1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  <a:p>
            <a:endParaRPr lang="ru-RU" sz="2400" b="1" dirty="0">
              <a:solidFill>
                <a:schemeClr val="bg1"/>
              </a:solidFill>
              <a:cs typeface="Calibri" panose="020F0502020204030204" pitchFamily="34" charset="0"/>
            </a:endParaRPr>
          </a:p>
          <a:p>
            <a:pPr algn="ctr"/>
            <a:endParaRPr lang="ru-RU" sz="2800" b="1" dirty="0">
              <a:solidFill>
                <a:schemeClr val="bg1"/>
              </a:solidFill>
              <a:cs typeface="Calibri" panose="020F0502020204030204" pitchFamily="34" charset="0"/>
            </a:endParaRPr>
          </a:p>
          <a:p>
            <a:r>
              <a:rPr lang="ru-RU" sz="2800" b="1" dirty="0">
                <a:solidFill>
                  <a:schemeClr val="bg1"/>
                </a:solidFill>
                <a:cs typeface="Calibri" panose="020F0502020204030204" pitchFamily="34" charset="0"/>
              </a:rPr>
              <a:t>СТРАТЕГИЧЕСКИЕ ВОЗМОЖНОСТИ</a:t>
            </a:r>
          </a:p>
          <a:p>
            <a:endParaRPr lang="ru-RU" sz="2800" b="1" dirty="0">
              <a:solidFill>
                <a:schemeClr val="bg1"/>
              </a:solidFill>
              <a:cs typeface="Calibri" panose="020F0502020204030204" pitchFamily="34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xmlns="" id="{51C0053B-F6D3-EC53-8797-BA6143551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1113" y="303599"/>
            <a:ext cx="2340887" cy="95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2709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t>12</a:t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62255" y="956310"/>
            <a:ext cx="2304415" cy="4939814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2"/>
                </a:solidFill>
                <a:latin typeface="Manrope" pitchFamily="2" charset="0"/>
                <a:cs typeface="Calibri" panose="020F0502020204030204" pitchFamily="34" charset="0"/>
              </a:rPr>
              <a:t>Фонд обладает уникальным сочетанием </a:t>
            </a:r>
            <a:r>
              <a:rPr lang="ru-RU" sz="1600" b="1" dirty="0">
                <a:solidFill>
                  <a:schemeClr val="tx2"/>
                </a:solidFill>
                <a:latin typeface="Manrope" pitchFamily="2" charset="0"/>
                <a:cs typeface="Calibri" panose="020F0502020204030204" pitchFamily="34" charset="0"/>
              </a:rPr>
              <a:t>преимуществ</a:t>
            </a:r>
            <a:r>
              <a:rPr lang="ru-RU" sz="1600" dirty="0">
                <a:solidFill>
                  <a:schemeClr val="tx2"/>
                </a:solidFill>
                <a:latin typeface="Manrope" pitchFamily="2" charset="0"/>
                <a:cs typeface="Calibri" panose="020F0502020204030204" pitchFamily="34" charset="0"/>
              </a:rPr>
              <a:t>:</a:t>
            </a:r>
          </a:p>
          <a:p>
            <a:pPr algn="ctr"/>
            <a:r>
              <a:rPr lang="ru-RU" sz="1600" dirty="0">
                <a:solidFill>
                  <a:schemeClr val="tx2"/>
                </a:solidFill>
                <a:latin typeface="Manrope" pitchFamily="2" charset="0"/>
                <a:cs typeface="Calibri" panose="020F0502020204030204" pitchFamily="34" charset="0"/>
              </a:rPr>
              <a:t> </a:t>
            </a:r>
          </a:p>
          <a:p>
            <a:pPr marL="154305" indent="-154305" algn="l" fontAlgn="auto">
              <a:spcBef>
                <a:spcPts val="600"/>
              </a:spcBef>
              <a:buFont typeface="Wingdings" panose="05000000000000000000" charset="0"/>
              <a:buChar char="ü"/>
            </a:pPr>
            <a:r>
              <a:rPr lang="ru-RU" sz="1500" i="1" dirty="0">
                <a:solidFill>
                  <a:schemeClr val="tx2"/>
                </a:solidFill>
                <a:latin typeface="Manrope" pitchFamily="2" charset="0"/>
                <a:cs typeface="Calibri" panose="020F0502020204030204" pitchFamily="34" charset="0"/>
              </a:rPr>
              <a:t>международным позиционированием, </a:t>
            </a:r>
          </a:p>
          <a:p>
            <a:pPr marL="154305" indent="-154305" algn="l" fontAlgn="auto">
              <a:spcBef>
                <a:spcPts val="600"/>
              </a:spcBef>
              <a:buFont typeface="Wingdings" panose="05000000000000000000" charset="0"/>
              <a:buChar char="ü"/>
            </a:pPr>
            <a:r>
              <a:rPr lang="ru-RU" sz="1500" i="1" dirty="0">
                <a:solidFill>
                  <a:schemeClr val="tx2"/>
                </a:solidFill>
                <a:latin typeface="Manrope" pitchFamily="2" charset="0"/>
                <a:cs typeface="Calibri" panose="020F0502020204030204" pitchFamily="34" charset="0"/>
              </a:rPr>
              <a:t>региональным мандатом, </a:t>
            </a:r>
          </a:p>
          <a:p>
            <a:pPr marL="154305" indent="-154305" algn="l" fontAlgn="auto">
              <a:spcBef>
                <a:spcPts val="600"/>
              </a:spcBef>
              <a:buFont typeface="Wingdings" panose="05000000000000000000" charset="0"/>
              <a:buChar char="ü"/>
            </a:pPr>
            <a:r>
              <a:rPr lang="ru-RU" sz="1500" i="1" dirty="0">
                <a:solidFill>
                  <a:schemeClr val="tx2"/>
                </a:solidFill>
                <a:latin typeface="Manrope" pitchFamily="2" charset="0"/>
                <a:cs typeface="Calibri" panose="020F0502020204030204" pitchFamily="34" charset="0"/>
              </a:rPr>
              <a:t>опытом реализации крупнейшего экологического мероприятия Центральной Азии, </a:t>
            </a:r>
          </a:p>
          <a:p>
            <a:pPr marL="154305" indent="-154305" algn="l" fontAlgn="auto">
              <a:spcBef>
                <a:spcPts val="600"/>
              </a:spcBef>
              <a:buFont typeface="Wingdings" panose="05000000000000000000" charset="0"/>
              <a:buChar char="ü"/>
            </a:pPr>
            <a:r>
              <a:rPr lang="ru-RU" sz="1500" i="1" dirty="0">
                <a:solidFill>
                  <a:schemeClr val="tx2"/>
                </a:solidFill>
                <a:latin typeface="Manrope" pitchFamily="2" charset="0"/>
                <a:cs typeface="Calibri" panose="020F0502020204030204" pitchFamily="34" charset="0"/>
              </a:rPr>
              <a:t>функционированием в юрисдикции МФЦА  </a:t>
            </a:r>
          </a:p>
          <a:p>
            <a:pPr marL="154305" indent="-154305" algn="l" fontAlgn="auto">
              <a:spcBef>
                <a:spcPts val="600"/>
              </a:spcBef>
              <a:buFont typeface="Wingdings" panose="05000000000000000000" charset="0"/>
              <a:buChar char="ü"/>
            </a:pPr>
            <a:r>
              <a:rPr lang="ru-RU" sz="1500" i="1" dirty="0">
                <a:solidFill>
                  <a:schemeClr val="tx2"/>
                </a:solidFill>
                <a:latin typeface="Manrope" pitchFamily="2" charset="0"/>
                <a:cs typeface="Calibri" panose="020F0502020204030204" pitchFamily="34" charset="0"/>
              </a:rPr>
              <a:t>сформированной сетью международных партнерств.</a:t>
            </a:r>
          </a:p>
        </p:txBody>
      </p:sp>
      <p:pic>
        <p:nvPicPr>
          <p:cNvPr id="12" name="Изображение 11"/>
          <p:cNvPicPr>
            <a:picLocks noChangeAspect="1"/>
          </p:cNvPicPr>
          <p:nvPr/>
        </p:nvPicPr>
        <p:blipFill>
          <a:blip r:embed="rId5"/>
          <a:srcRect l="2128" t="15927" r="2032" b="11223"/>
          <a:stretch>
            <a:fillRect/>
          </a:stretch>
        </p:blipFill>
        <p:spPr>
          <a:xfrm>
            <a:off x="2494915" y="1106805"/>
            <a:ext cx="8771890" cy="3441700"/>
          </a:xfrm>
          <a:prstGeom prst="rect">
            <a:avLst/>
          </a:prstGeom>
        </p:spPr>
      </p:pic>
      <p:sp>
        <p:nvSpPr>
          <p:cNvPr id="13" name="Текстовое поле 12"/>
          <p:cNvSpPr txBox="1"/>
          <p:nvPr/>
        </p:nvSpPr>
        <p:spPr>
          <a:xfrm>
            <a:off x="2566670" y="4477385"/>
            <a:ext cx="8700135" cy="1814830"/>
          </a:xfrm>
          <a:prstGeom prst="rect">
            <a:avLst/>
          </a:prstGeom>
          <a:noFill/>
          <a:effectLst/>
          <a:scene3d>
            <a:camera prst="orthographicFront"/>
            <a:lightRig rig="threePt" dir="t"/>
          </a:scene3d>
          <a:sp3d extrusionH="76200">
            <a:extrusionClr>
              <a:srgbClr val="156082"/>
            </a:extrusionClr>
          </a:sp3d>
        </p:spPr>
        <p:style>
          <a:lnRef idx="0">
            <a:srgbClr val="FFFFFF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algn="ctr"/>
            <a:r>
              <a:rPr lang="ru-RU" sz="1600" dirty="0">
                <a:solidFill>
                  <a:schemeClr val="tx1"/>
                </a:solidFill>
                <a:latin typeface="Manrope" pitchFamily="2" charset="0"/>
                <a:cs typeface="Calibri" panose="020F0502020204030204" pitchFamily="34" charset="0"/>
                <a:sym typeface="+mn-ea"/>
              </a:rPr>
              <a:t>Созданная при Фонде «Сеть экспертов Центральной Азии+» позволяет обеспечивать экспертно-аналитическое сопровождение климатической, экологической и энергетической повестки региона, научно-практическое изучение отраслевых вопросов и выработки экспертных заключений, аналитики, рекомендаций и реализации программ по вопросам изменения климата, устойчивого развития и принципов ESG, зеленой энергетики и охраны окружающей среды, в т.ч. отходов, загрязнений, воздуха, деградации земель, опустынивание и т.д.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51999" y="1062000"/>
            <a:ext cx="116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Стратегические цели и этапы развития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999" y="1512000"/>
            <a:ext cx="4860000" cy="28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Цели по уставу Фонда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88000" y="1835999"/>
            <a:ext cx="396000" cy="306000"/>
          </a:xfrm>
          <a:prstGeom prst="roundRect">
            <a:avLst>
              <a:gd name="adj" fmla="val 8000"/>
            </a:avLst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88000" y="1835999"/>
            <a:ext cx="396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2000" y="1818000"/>
            <a:ext cx="4248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Manrope"/>
              </a:rPr>
              <a:t>Ускорение региональных климатических действий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88000" y="24552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88000" y="2455200"/>
            <a:ext cx="396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2000" y="2437200"/>
            <a:ext cx="4248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Manrope"/>
              </a:rPr>
              <a:t>Региональная климатическая политика и сотрудничество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88000" y="3074399"/>
            <a:ext cx="396000" cy="306000"/>
          </a:xfrm>
          <a:prstGeom prst="roundRect">
            <a:avLst>
              <a:gd name="adj" fmla="val 8000"/>
            </a:avLst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88000" y="3074399"/>
            <a:ext cx="396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2000" y="3056399"/>
            <a:ext cx="4248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Manrope"/>
              </a:rPr>
              <a:t>Поддержка разработки политик и регулирования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88000" y="36936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88000" y="3693600"/>
            <a:ext cx="396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2000" y="3675599"/>
            <a:ext cx="4248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Manrope"/>
              </a:rPr>
              <a:t>Исследования и инновации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88000" y="43128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88000" y="4312800"/>
            <a:ext cx="396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2000" y="4294800"/>
            <a:ext cx="4248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Manrope"/>
              </a:rPr>
              <a:t>Партнёрства с МФИ, НПО, бизнесом и наукой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88000" y="49320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288000" y="4932000"/>
            <a:ext cx="396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2000" y="4914000"/>
            <a:ext cx="4248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Manrope"/>
              </a:rPr>
              <a:t>Климатические данные и наука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88000" y="55512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288000" y="5551200"/>
            <a:ext cx="396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2000" y="5533200"/>
            <a:ext cx="4248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Manrope"/>
              </a:rPr>
              <a:t>Повышение осведомлённости и развитие потенциала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28000" y="1512000"/>
            <a:ext cx="6480000" cy="28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Стратегия 2026–2035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328000" y="1835999"/>
            <a:ext cx="6588000" cy="1332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5328000" y="1835999"/>
            <a:ext cx="43200" cy="13320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5472000" y="1943999"/>
            <a:ext cx="136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800" b="1">
                <a:solidFill>
                  <a:srgbClr val="156082"/>
                </a:solidFill>
                <a:latin typeface="Manrope"/>
              </a:rPr>
              <a:t>2026–2027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12000" y="1943999"/>
            <a:ext cx="4896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1C3E6D"/>
                </a:solidFill>
                <a:latin typeface="Manrope"/>
              </a:rPr>
              <a:t>Устойчивость и проектный портфель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12000" y="2286000"/>
            <a:ext cx="489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anrope"/>
              </a:rPr>
              <a:t>Сопровождение решений РЭС, ESG, «Таза Қазақстан», сеть экспертов, международное сотрудничество, тендеры и гранты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328000" y="3311999"/>
            <a:ext cx="6588000" cy="1332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5328000" y="3311999"/>
            <a:ext cx="43200" cy="1332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472000" y="3420000"/>
            <a:ext cx="136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800" b="1">
                <a:solidFill>
                  <a:srgbClr val="1C3E6D"/>
                </a:solidFill>
                <a:latin typeface="Manrope"/>
              </a:rPr>
              <a:t>до 2028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12000" y="3420000"/>
            <a:ext cx="4896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1C3E6D"/>
                </a:solidFill>
                <a:latin typeface="Manrope"/>
              </a:rPr>
              <a:t>«Зелёный Think Tank» Центральной Азии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12000" y="3761999"/>
            <a:ext cx="489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anrope"/>
              </a:rPr>
              <a:t>Собственная аналитическая платформа, регулярная аналитика, признанный центр компетенций региона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328000" y="4788000"/>
            <a:ext cx="6588000" cy="13320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5328000" y="4788000"/>
            <a:ext cx="43200" cy="13320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5472000" y="4896000"/>
            <a:ext cx="136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800" b="1">
                <a:solidFill>
                  <a:srgbClr val="C99A1E"/>
                </a:solidFill>
                <a:latin typeface="Manrope"/>
              </a:rPr>
              <a:t>до 2035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12000" y="4896000"/>
            <a:ext cx="4896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1C3E6D"/>
                </a:solidFill>
                <a:latin typeface="Manrope"/>
              </a:rPr>
              <a:t>«Суперфонд»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12000" y="5238000"/>
            <a:ext cx="489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anrope"/>
              </a:rPr>
              <a:t>Ведущая региональная платформа: ключевой партнёр международных организаций, оператор климатического финансирования, центр координации экологической повестки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51999" y="1062000"/>
            <a:ext cx="116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Направления деятельности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999" y="1440000"/>
            <a:ext cx="7200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Действующие направления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1999" y="171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251999" y="1710000"/>
            <a:ext cx="3780000" cy="432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60000" y="1818000"/>
            <a:ext cx="35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1">
                <a:solidFill>
                  <a:srgbClr val="3B7D48"/>
                </a:solidFill>
                <a:latin typeface="Manrope"/>
              </a:rPr>
              <a:t>Региональный экологический саммит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0000" y="2196000"/>
            <a:ext cx="3564000" cy="70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Сопровождение решений и инициатив РЭС-2026: 58 сессий как портфель проектов и программ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76000" y="171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176000" y="1710000"/>
            <a:ext cx="3780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284000" y="1818000"/>
            <a:ext cx="35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1">
                <a:solidFill>
                  <a:srgbClr val="156082"/>
                </a:solidFill>
                <a:latin typeface="Manrope"/>
              </a:rPr>
              <a:t>«Таза Қазақстан»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84000" y="2196000"/>
            <a:ext cx="3564000" cy="70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Проектный офис и оператор мероприятий инициативы; адаптация практик для стран Центральной Азии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00000" y="171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8100000" y="1710000"/>
            <a:ext cx="3780000" cy="432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208000" y="1818000"/>
            <a:ext cx="35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1">
                <a:solidFill>
                  <a:srgbClr val="1C3E6D"/>
                </a:solidFill>
                <a:latin typeface="Manrope"/>
              </a:rPr>
              <a:t>ESG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08000" y="2196000"/>
            <a:ext cx="3564000" cy="70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Методическая поддержка, оценка, консультирование и обучение по устойчивому развитию и раскрытию нефинансовой информации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51999" y="306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251999" y="3060000"/>
            <a:ext cx="3780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60000" y="3168000"/>
            <a:ext cx="35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1">
                <a:solidFill>
                  <a:srgbClr val="156082"/>
                </a:solidFill>
                <a:latin typeface="Manrope"/>
              </a:rPr>
              <a:t>Климатические и экологические риски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0000" y="3546000"/>
            <a:ext cx="3564000" cy="70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Оценка физических и переходных рисков для государственных органов, организаций и инвесторов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76000" y="306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4176000" y="3060000"/>
            <a:ext cx="3780000" cy="432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284000" y="3168000"/>
            <a:ext cx="35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1">
                <a:solidFill>
                  <a:srgbClr val="1C3E6D"/>
                </a:solidFill>
                <a:latin typeface="Manrope"/>
              </a:rPr>
              <a:t>Аналитика и «Зелёный Think Tank»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84000" y="3546000"/>
            <a:ext cx="3564000" cy="70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Обзоры по Центральной Азии, аналитика по «Таза Қазақстан», климатические риски, ежегодные доклады; сеть экспертов ЦА+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100000" y="306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8100000" y="3060000"/>
            <a:ext cx="3780000" cy="432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208000" y="3168000"/>
            <a:ext cx="35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1">
                <a:solidFill>
                  <a:srgbClr val="C99A1E"/>
                </a:solidFill>
                <a:latin typeface="Manrope"/>
              </a:rPr>
              <a:t>Обучение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08000" y="3546000"/>
            <a:ext cx="3564000" cy="70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Учебный центр Фонда: обучение и повышение квалификации по экологии, климату, устойчивому развитию и ESG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1999" y="4446000"/>
            <a:ext cx="7200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Перспективные направления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51999" y="4716000"/>
            <a:ext cx="2826000" cy="1548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251999" y="4716000"/>
            <a:ext cx="2826000" cy="432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360000" y="4824000"/>
            <a:ext cx="261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1">
                <a:solidFill>
                  <a:srgbClr val="3B7D48"/>
                </a:solidFill>
                <a:latin typeface="Manrope"/>
              </a:rPr>
              <a:t>Офсеты и климатическое финансирование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0000" y="5273999"/>
            <a:ext cx="2610000" cy="935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04040"/>
                </a:solidFill>
                <a:latin typeface="Manrope"/>
              </a:rPr>
              <a:t>Отбор и сопровождение офсетных проектов, привлечение климатического и грантового финансирования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193199" y="4716000"/>
            <a:ext cx="2826000" cy="1548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3193199" y="4716000"/>
            <a:ext cx="2826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3301200" y="4824000"/>
            <a:ext cx="261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1">
                <a:solidFill>
                  <a:srgbClr val="156082"/>
                </a:solidFill>
                <a:latin typeface="Manrope"/>
              </a:rPr>
              <a:t>Озоновый центр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01200" y="5273999"/>
            <a:ext cx="2610000" cy="935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04040"/>
                </a:solidFill>
                <a:latin typeface="Manrope"/>
              </a:rPr>
              <a:t>Мониторинг озоноразрушающих веществ, техническая поддержка, проекты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134400" y="4716000"/>
            <a:ext cx="2826000" cy="1548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6134400" y="4716000"/>
            <a:ext cx="2826000" cy="432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242400" y="4824000"/>
            <a:ext cx="261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1">
                <a:solidFill>
                  <a:srgbClr val="1C3E6D"/>
                </a:solidFill>
                <a:latin typeface="Manrope"/>
              </a:rPr>
              <a:t>«Зелёные школы» с ЮНИСЕФ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42400" y="5273999"/>
            <a:ext cx="2610000" cy="935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04040"/>
                </a:solidFill>
                <a:latin typeface="Manrope"/>
              </a:rPr>
              <a:t>Региональная координация программы в Центральной Азии, волонтёрство, экологическое просвещение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075599" y="4716000"/>
            <a:ext cx="2826000" cy="15480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9075599" y="4716000"/>
            <a:ext cx="2826000" cy="432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9183600" y="4824000"/>
            <a:ext cx="261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1">
                <a:solidFill>
                  <a:srgbClr val="C99A1E"/>
                </a:solidFill>
                <a:latin typeface="Manrope"/>
              </a:rPr>
              <a:t>Цифровые решения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83600" y="5273999"/>
            <a:ext cx="2610000" cy="935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04040"/>
                </a:solidFill>
                <a:latin typeface="Manrope"/>
              </a:rPr>
              <a:t>Платформы на основе ИИ и ГИС для мониторинга экологических и климатических данных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t>15</a:t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51999" y="1062000"/>
            <a:ext cx="116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Проектный офис «Таза Қазақстан» на базе Фонда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1999" y="1512000"/>
            <a:ext cx="11664000" cy="972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251999" y="1512000"/>
            <a:ext cx="43200" cy="972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2000" y="1548000"/>
            <a:ext cx="11376000" cy="90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1C3E6D"/>
                </a:solidFill>
                <a:latin typeface="Manrope"/>
              </a:rPr>
              <a:t>Экологические решения – от сокращения выбросов до обращения с отходами – дают результат только тогда, когда их поддерживает общество и они становятся частью повседневного поведения людей и бизнеса. </a:t>
            </a:r>
            <a:r>
              <a:rPr sz="1400" b="1">
                <a:solidFill>
                  <a:srgbClr val="1C3E6D"/>
                </a:solidFill>
                <a:latin typeface="Manrope"/>
              </a:rPr>
              <a:t>Эту задачу на национальном уровне решает инициатива Главы государства «Таза Қазақстан».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51999" y="2592000"/>
            <a:ext cx="3780000" cy="1764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251999" y="2592000"/>
            <a:ext cx="3780000" cy="432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60000" y="2700000"/>
            <a:ext cx="35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3B7D48"/>
                </a:solidFill>
                <a:latin typeface="Manrope"/>
              </a:rPr>
              <a:t>МЭПР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0000" y="3078000"/>
            <a:ext cx="3564000" cy="12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Общее руководство, определение приоритетов, координация государственных органов и акиматов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93999" y="2592000"/>
            <a:ext cx="3780000" cy="1764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193999" y="2592000"/>
            <a:ext cx="3780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302000" y="2700000"/>
            <a:ext cx="35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156082"/>
                </a:solidFill>
                <a:latin typeface="Manrope"/>
              </a:rPr>
              <a:t>Проектный офис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02000" y="3078000"/>
            <a:ext cx="3564000" cy="12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Реализация задач инициативы: социология, проектное управление и регионы, цифровизация, коммуникация и креатив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135999" y="2592000"/>
            <a:ext cx="3780000" cy="1764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8135999" y="2592000"/>
            <a:ext cx="3780000" cy="432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43999" y="2700000"/>
            <a:ext cx="35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1C3E6D"/>
                </a:solidFill>
                <a:latin typeface="Manrope"/>
              </a:rPr>
              <a:t>Фонд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43999" y="3078000"/>
            <a:ext cx="3564000" cy="12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Организационная, правовая и финансовая платформа, методология и проверка данных, аналитика, международные методики и партнёрства, привлечение внебюджетных средств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1999" y="4482000"/>
            <a:ext cx="11520000" cy="28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Итоги Концепции «Таза Қазақстан» 2024–2029 на сегодня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1999" y="4788000"/>
            <a:ext cx="280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400" b="1">
                <a:solidFill>
                  <a:srgbClr val="3B7D48"/>
                </a:solidFill>
                <a:latin typeface="Manrope"/>
              </a:rPr>
              <a:t>≈3 млн 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1999" y="5274000"/>
            <a:ext cx="2808000" cy="28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anrope"/>
              </a:rPr>
              <a:t>отходов собрано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193199" y="4788000"/>
            <a:ext cx="280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400" b="1">
                <a:solidFill>
                  <a:srgbClr val="156082"/>
                </a:solidFill>
                <a:latin typeface="Manrope"/>
              </a:rPr>
              <a:t>≈3 млн га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93199" y="5274000"/>
            <a:ext cx="2808000" cy="28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anrope"/>
              </a:rPr>
              <a:t>территорий очищено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34400" y="4788000"/>
            <a:ext cx="280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400" b="1">
                <a:solidFill>
                  <a:srgbClr val="1C3E6D"/>
                </a:solidFill>
                <a:latin typeface="Manrope"/>
              </a:rPr>
              <a:t>≈5,8 млн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34400" y="5274000"/>
            <a:ext cx="2808000" cy="28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anrope"/>
              </a:rPr>
              <a:t>деревьев высажено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75599" y="4788000"/>
            <a:ext cx="280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400" b="1">
                <a:solidFill>
                  <a:srgbClr val="C99A1E"/>
                </a:solidFill>
                <a:latin typeface="Manrope"/>
              </a:rPr>
              <a:t>6+ млн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75599" y="5274000"/>
            <a:ext cx="2808000" cy="28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anrope"/>
              </a:rPr>
              <a:t>участников ежегодно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1999" y="5616000"/>
            <a:ext cx="11664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anrope"/>
              </a:rPr>
              <a:t>Размещение Проектного офиса на базе Фонда не требует создания новой государственной структуры и позволяет сразу использовать инфраструктуру, опыт и международные партнёрства Фонда.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CFF5DC6-B44B-F589-487F-AD4BEC783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AEFB92CB-8F6A-0703-170C-AB5322674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368696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74ADC967-6281-DBD8-6DEB-A33556A6415A}"/>
              </a:ext>
            </a:extLst>
          </p:cNvPr>
          <p:cNvSpPr txBox="1"/>
          <p:nvPr/>
        </p:nvSpPr>
        <p:spPr>
          <a:xfrm>
            <a:off x="428551" y="303599"/>
            <a:ext cx="11334897" cy="4647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chemeClr val="bg1"/>
                </a:solidFill>
                <a:latin typeface="Manrope" pitchFamily="2" charset="0"/>
                <a:cs typeface="Calibri" panose="020F0502020204030204" pitchFamily="34" charset="0"/>
              </a:rPr>
              <a:t>Центрально-азиатский </a:t>
            </a:r>
            <a:r>
              <a:rPr lang="ru-RU" b="1" dirty="0">
                <a:solidFill>
                  <a:schemeClr val="bg1"/>
                </a:solidFill>
                <a:cs typeface="Calibri" panose="020F0502020204030204" pitchFamily="34" charset="0"/>
              </a:rPr>
              <a:t>климатический фонд</a:t>
            </a:r>
            <a:br>
              <a:rPr lang="ru-RU" b="1" dirty="0">
                <a:solidFill>
                  <a:schemeClr val="bg1"/>
                </a:solidFill>
                <a:cs typeface="Calibri" panose="020F0502020204030204" pitchFamily="34" charset="0"/>
              </a:rPr>
            </a:br>
            <a:r>
              <a:rPr lang="ru-RU" b="1" dirty="0">
                <a:solidFill>
                  <a:schemeClr val="bg1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b="1" dirty="0">
                <a:solidFill>
                  <a:schemeClr val="bg1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  <a:p>
            <a:endParaRPr lang="ru-RU" sz="2400" b="1" dirty="0">
              <a:solidFill>
                <a:schemeClr val="bg1"/>
              </a:solidFill>
              <a:cs typeface="Calibri" panose="020F0502020204030204" pitchFamily="34" charset="0"/>
            </a:endParaRPr>
          </a:p>
          <a:p>
            <a:pPr algn="ctr"/>
            <a:endParaRPr lang="ru-RU" sz="5400" b="1" dirty="0">
              <a:solidFill>
                <a:schemeClr val="bg1"/>
              </a:solidFill>
              <a:cs typeface="Calibri" panose="020F0502020204030204" pitchFamily="34" charset="0"/>
            </a:endParaRPr>
          </a:p>
          <a:p>
            <a:pPr algn="ctr"/>
            <a:endParaRPr lang="ru-RU" sz="5400" b="1" dirty="0">
              <a:solidFill>
                <a:schemeClr val="bg1"/>
              </a:solidFill>
              <a:cs typeface="Calibri" panose="020F0502020204030204" pitchFamily="34" charset="0"/>
            </a:endParaRPr>
          </a:p>
          <a:p>
            <a:r>
              <a:rPr lang="ru-RU" sz="5400" b="1" dirty="0">
                <a:solidFill>
                  <a:schemeClr val="bg1"/>
                </a:solidFill>
                <a:cs typeface="Calibri" panose="020F0502020204030204" pitchFamily="34" charset="0"/>
              </a:rPr>
              <a:t>ESG принципы</a:t>
            </a:r>
          </a:p>
          <a:p>
            <a:pPr algn="ctr"/>
            <a:endParaRPr lang="ru-RU" sz="2800" b="1" dirty="0">
              <a:solidFill>
                <a:schemeClr val="bg1"/>
              </a:solidFill>
              <a:cs typeface="Calibri" panose="020F0502020204030204" pitchFamily="34" charset="0"/>
            </a:endParaRPr>
          </a:p>
          <a:p>
            <a:pPr algn="ctr"/>
            <a:endParaRPr lang="ru-RU" sz="2800" b="1" dirty="0">
              <a:solidFill>
                <a:schemeClr val="bg1"/>
              </a:solidFill>
              <a:cs typeface="Calibri" panose="020F0502020204030204" pitchFamily="34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xmlns="" id="{EFCDB5C3-CBB5-8546-15BA-49275CE71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1113" y="303599"/>
            <a:ext cx="2340887" cy="95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2856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3000" b="1" i="0" dirty="0">
                <a:solidFill>
                  <a:srgbClr val="2E9E6B"/>
                </a:solidFill>
                <a:latin typeface="Cambr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05313" y="157787"/>
            <a:ext cx="9966960" cy="461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ru-RU" sz="3000" b="1" dirty="0">
                <a:solidFill>
                  <a:srgbClr val="1F3864"/>
                </a:solidFill>
                <a:latin typeface="Cambria"/>
              </a:rPr>
              <a:t>ESG методология</a:t>
            </a:r>
            <a:endParaRPr lang="ru-RU" sz="3000" b="1" i="0" dirty="0">
              <a:solidFill>
                <a:srgbClr val="1F3864"/>
              </a:solidFill>
              <a:latin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88136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500" b="0" i="0" dirty="0" err="1">
                <a:solidFill>
                  <a:srgbClr val="595959"/>
                </a:solidFill>
                <a:latin typeface="Calibri"/>
              </a:rPr>
              <a:t>Rаждый</a:t>
            </a:r>
            <a:r>
              <a:rPr lang="ru-RU" sz="1500" b="0" i="0" dirty="0">
                <a:solidFill>
                  <a:srgbClr val="595959"/>
                </a:solidFill>
                <a:latin typeface="Calibri"/>
              </a:rPr>
              <a:t> показатель опирается на признанный стандарт или норму права.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5303520" cy="3383280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Oval 6"/>
          <p:cNvSpPr/>
          <p:nvPr/>
        </p:nvSpPr>
        <p:spPr>
          <a:xfrm>
            <a:off x="960120" y="2560320"/>
            <a:ext cx="777240" cy="777240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ru-RU" sz="3200" b="1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651760"/>
            <a:ext cx="39319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ru-RU" sz="2000" b="1" i="0" dirty="0">
                <a:solidFill>
                  <a:srgbClr val="2F5597"/>
                </a:solidFill>
                <a:latin typeface="Cambria"/>
              </a:rPr>
              <a:t>Международные стандарты</a:t>
            </a:r>
          </a:p>
        </p:txBody>
      </p:sp>
      <p:sp>
        <p:nvSpPr>
          <p:cNvPr id="9" name="Oval 8"/>
          <p:cNvSpPr/>
          <p:nvPr/>
        </p:nvSpPr>
        <p:spPr>
          <a:xfrm>
            <a:off x="960120" y="3666744"/>
            <a:ext cx="182880" cy="182880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1325880" y="3611880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ru-RU" sz="1450" b="0" i="0" dirty="0">
                <a:solidFill>
                  <a:srgbClr val="3A3A3A"/>
                </a:solidFill>
                <a:latin typeface="Calibri"/>
              </a:rPr>
              <a:t>IFRS S1 / S2 — раскрытие устойчивости</a:t>
            </a:r>
          </a:p>
        </p:txBody>
      </p:sp>
      <p:sp>
        <p:nvSpPr>
          <p:cNvPr id="11" name="Oval 10"/>
          <p:cNvSpPr/>
          <p:nvPr/>
        </p:nvSpPr>
        <p:spPr>
          <a:xfrm>
            <a:off x="960120" y="4142232"/>
            <a:ext cx="182880" cy="182880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1325880" y="4087368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ru-RU" sz="1450" b="0" i="0" dirty="0">
                <a:solidFill>
                  <a:srgbClr val="3A3A3A"/>
                </a:solidFill>
                <a:latin typeface="Calibri"/>
              </a:rPr>
              <a:t>SASB — отраслевая существенность</a:t>
            </a:r>
          </a:p>
        </p:txBody>
      </p:sp>
      <p:sp>
        <p:nvSpPr>
          <p:cNvPr id="13" name="Oval 12"/>
          <p:cNvSpPr/>
          <p:nvPr/>
        </p:nvSpPr>
        <p:spPr>
          <a:xfrm>
            <a:off x="960120" y="4617720"/>
            <a:ext cx="182880" cy="182880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1325880" y="4562856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ru-RU" sz="1450" b="0" i="0" dirty="0">
                <a:solidFill>
                  <a:srgbClr val="3A3A3A"/>
                </a:solidFill>
                <a:latin typeface="Calibri"/>
              </a:rPr>
              <a:t>GRI — стандарты отчётности</a:t>
            </a:r>
          </a:p>
        </p:txBody>
      </p:sp>
      <p:sp>
        <p:nvSpPr>
          <p:cNvPr id="15" name="Oval 14"/>
          <p:cNvSpPr/>
          <p:nvPr/>
        </p:nvSpPr>
        <p:spPr>
          <a:xfrm>
            <a:off x="960120" y="5093207"/>
            <a:ext cx="182880" cy="182880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TextBox 15"/>
          <p:cNvSpPr txBox="1"/>
          <p:nvPr/>
        </p:nvSpPr>
        <p:spPr>
          <a:xfrm>
            <a:off x="1325880" y="5038344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ru-RU" sz="1450" b="0" i="0" dirty="0">
                <a:solidFill>
                  <a:srgbClr val="3A3A3A"/>
                </a:solidFill>
                <a:latin typeface="Calibri"/>
              </a:rPr>
              <a:t>Принцип двойной существенности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2240280"/>
            <a:ext cx="5303520" cy="338328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Oval 17"/>
          <p:cNvSpPr/>
          <p:nvPr/>
        </p:nvSpPr>
        <p:spPr>
          <a:xfrm>
            <a:off x="6565392" y="2560320"/>
            <a:ext cx="777240" cy="777240"/>
          </a:xfrm>
          <a:prstGeom prst="ellipse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ru-RU" sz="3200" b="1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5512" y="2651760"/>
            <a:ext cx="39319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ru-RU" sz="2000" b="1" i="0" dirty="0">
                <a:solidFill>
                  <a:srgbClr val="FFFFFF"/>
                </a:solidFill>
                <a:latin typeface="Cambria"/>
              </a:rPr>
              <a:t>Право Казахстана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3657600"/>
            <a:ext cx="4663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5400" b="1" i="0" dirty="0">
                <a:solidFill>
                  <a:srgbClr val="2E9E6B"/>
                </a:solidFill>
                <a:latin typeface="Cambria"/>
              </a:rPr>
              <a:t>≈ 800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45720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400" b="1" i="0" dirty="0">
                <a:solidFill>
                  <a:srgbClr val="CADCFC"/>
                </a:solidFill>
                <a:latin typeface="Calibri"/>
              </a:rPr>
              <a:t>действующих НПА Республики Казахстан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5392" y="4965192"/>
            <a:ext cx="4663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ru-RU" sz="1300" b="0" i="0" dirty="0">
                <a:solidFill>
                  <a:srgbClr val="B9CCEC"/>
                </a:solidFill>
                <a:latin typeface="Calibri"/>
              </a:rPr>
              <a:t>экология · труд · охрана здоровья · корпоративное управление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5765136"/>
            <a:ext cx="10881360" cy="4290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lang="ru-RU" sz="1300" b="0" i="1" dirty="0">
                <a:solidFill>
                  <a:srgbClr val="595959"/>
                </a:solidFill>
                <a:latin typeface="Calibri"/>
              </a:rPr>
              <a:t>Международная рамка задаёт, что оценивать; национальное право — по каким требованиям. </a:t>
            </a:r>
            <a:br>
              <a:rPr lang="ru-RU" sz="1300" b="0" i="1" dirty="0">
                <a:solidFill>
                  <a:srgbClr val="595959"/>
                </a:solidFill>
                <a:latin typeface="Calibri"/>
              </a:rPr>
            </a:br>
            <a:r>
              <a:rPr lang="ru-RU" sz="1300" b="0" i="1" dirty="0">
                <a:solidFill>
                  <a:srgbClr val="595959"/>
                </a:solidFill>
                <a:latin typeface="Calibri"/>
              </a:rPr>
              <a:t>Методология сводит их вместе и поддерживается в актуальном состоянии.</a:t>
            </a:r>
          </a:p>
        </p:txBody>
      </p:sp>
      <p:sp>
        <p:nvSpPr>
          <p:cNvPr id="24" name="Прямоугольник с двумя скругленными соседними углами 23">
            <a:extLst>
              <a:ext uri="{FF2B5EF4-FFF2-40B4-BE49-F238E27FC236}">
                <a16:creationId xmlns:a16="http://schemas.microsoft.com/office/drawing/2014/main" xmlns="" id="{5705A50C-CF75-0CB8-6BE0-F695F166D796}"/>
              </a:ext>
            </a:extLst>
          </p:cNvPr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xmlns="" id="{40427900-6ABD-7435-A521-4B3C82EF8B99}"/>
              </a:ext>
            </a:extLst>
          </p:cNvPr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pPr algn="r"/>
              <a:t>17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xmlns="" id="{A6157DF1-F01B-0849-EF48-7CFFAF320D2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3430" y="117904"/>
            <a:ext cx="1910148" cy="711225"/>
          </a:xfrm>
          <a:prstGeom prst="rect">
            <a:avLst/>
          </a:prstGeom>
        </p:spPr>
      </p:pic>
      <p:cxnSp>
        <p:nvCxnSpPr>
          <p:cNvPr id="27" name="Прямая соединительная линия 26">
            <a:extLst>
              <a:ext uri="{FF2B5EF4-FFF2-40B4-BE49-F238E27FC236}">
                <a16:creationId xmlns:a16="http://schemas.microsoft.com/office/drawing/2014/main" xmlns="" id="{821CCB53-1AB9-6764-1147-1A77D667A70F}"/>
              </a:ext>
            </a:extLst>
          </p:cNvPr>
          <p:cNvCxnSpPr/>
          <p:nvPr/>
        </p:nvCxnSpPr>
        <p:spPr>
          <a:xfrm>
            <a:off x="202858" y="963827"/>
            <a:ext cx="11647273" cy="0"/>
          </a:xfrm>
          <a:prstGeom prst="line">
            <a:avLst/>
          </a:prstGeom>
          <a:ln>
            <a:solidFill>
              <a:srgbClr val="1560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2217008" y="-4325"/>
            <a:ext cx="99669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ru-RU" sz="3000" b="1" i="0" dirty="0">
                <a:solidFill>
                  <a:srgbClr val="1F3864"/>
                </a:solidFill>
                <a:latin typeface="Cambria"/>
              </a:rPr>
              <a:t>Шкала — ступени зрелости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137647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400" b="0" i="0" dirty="0">
                <a:solidFill>
                  <a:srgbClr val="595959"/>
                </a:solidFill>
                <a:latin typeface="Calibri"/>
              </a:rPr>
              <a:t>Каждая оценка — достигнутый рубеж и следующий шаг вверх. Даже старт — уже результат: компания вступила на путь.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905" y="1596493"/>
            <a:ext cx="10881360" cy="786384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Rounded Rectangle 6"/>
          <p:cNvSpPr/>
          <p:nvPr/>
        </p:nvSpPr>
        <p:spPr>
          <a:xfrm>
            <a:off x="609905" y="1596493"/>
            <a:ext cx="1600200" cy="786384"/>
          </a:xfrm>
          <a:prstGeom prst="roundRect">
            <a:avLst>
              <a:gd name="adj" fmla="val 6000"/>
            </a:avLst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09905" y="1596493"/>
            <a:ext cx="16002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ru-RU" sz="2000" b="1" i="0" dirty="0" err="1">
                <a:solidFill>
                  <a:srgbClr val="FFFFFF"/>
                </a:solidFill>
                <a:latin typeface="Cambria"/>
              </a:rPr>
              <a:t>A</a:t>
            </a:r>
            <a:r>
              <a:rPr lang="ru-RU" sz="2000" b="1" i="0" dirty="0">
                <a:solidFill>
                  <a:srgbClr val="FFFFFF"/>
                </a:solidFill>
                <a:latin typeface="Cambria"/>
              </a:rPr>
              <a:t>+ / </a:t>
            </a:r>
            <a:r>
              <a:rPr lang="ru-RU" sz="2000" b="1" i="0" dirty="0" err="1">
                <a:solidFill>
                  <a:srgbClr val="FFFFFF"/>
                </a:solidFill>
                <a:latin typeface="Cambria"/>
              </a:rPr>
              <a:t>A</a:t>
            </a:r>
            <a:endParaRPr lang="ru-RU" sz="200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392985" y="1596493"/>
            <a:ext cx="27432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ru-RU" sz="1800" b="1" i="0" dirty="0">
                <a:solidFill>
                  <a:srgbClr val="1E6E4A"/>
                </a:solidFill>
                <a:latin typeface="Cambria"/>
              </a:rPr>
              <a:t>Лидирующий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7625" y="1596493"/>
            <a:ext cx="612648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ru-RU" sz="1350" b="0" i="0" dirty="0">
                <a:solidFill>
                  <a:srgbClr val="3A3A3A"/>
                </a:solidFill>
                <a:latin typeface="Calibri"/>
              </a:rPr>
              <a:t>эталонные практики, ориентир отрасли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905" y="2474317"/>
            <a:ext cx="10881360" cy="786384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Rounded Rectangle 11"/>
          <p:cNvSpPr/>
          <p:nvPr/>
        </p:nvSpPr>
        <p:spPr>
          <a:xfrm>
            <a:off x="609905" y="2474317"/>
            <a:ext cx="1600200" cy="786384"/>
          </a:xfrm>
          <a:prstGeom prst="roundRect">
            <a:avLst>
              <a:gd name="adj" fmla="val 6000"/>
            </a:avLst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TextBox 12"/>
          <p:cNvSpPr txBox="1"/>
          <p:nvPr/>
        </p:nvSpPr>
        <p:spPr>
          <a:xfrm>
            <a:off x="609905" y="2474317"/>
            <a:ext cx="16002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ru-RU" sz="2000" b="1" i="0" dirty="0" err="1">
                <a:solidFill>
                  <a:srgbClr val="FFFFFF"/>
                </a:solidFill>
                <a:latin typeface="Cambria"/>
              </a:rPr>
              <a:t>B</a:t>
            </a:r>
            <a:r>
              <a:rPr lang="ru-RU" sz="2000" b="1" i="0" dirty="0">
                <a:solidFill>
                  <a:srgbClr val="FFFFFF"/>
                </a:solidFill>
                <a:latin typeface="Cambria"/>
              </a:rPr>
              <a:t>+ / </a:t>
            </a:r>
            <a:r>
              <a:rPr lang="ru-RU" sz="2000" b="1" i="0" dirty="0" err="1">
                <a:solidFill>
                  <a:srgbClr val="FFFFFF"/>
                </a:solidFill>
                <a:latin typeface="Cambria"/>
              </a:rPr>
              <a:t>B</a:t>
            </a:r>
            <a:endParaRPr lang="ru-RU" sz="200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392985" y="2474317"/>
            <a:ext cx="27432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ru-RU" sz="1800" b="1" i="0" dirty="0">
                <a:solidFill>
                  <a:srgbClr val="2E9E6B"/>
                </a:solidFill>
                <a:latin typeface="Cambria"/>
              </a:rPr>
              <a:t>Зрелый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7625" y="2474317"/>
            <a:ext cx="612648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ru-RU" sz="1350" b="0" i="0" dirty="0">
                <a:solidFill>
                  <a:srgbClr val="3A3A3A"/>
                </a:solidFill>
                <a:latin typeface="Calibri"/>
              </a:rPr>
              <a:t>управление выстроено системно и полно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905" y="3352141"/>
            <a:ext cx="10881360" cy="786384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Rounded Rectangle 16"/>
          <p:cNvSpPr/>
          <p:nvPr/>
        </p:nvSpPr>
        <p:spPr>
          <a:xfrm>
            <a:off x="609905" y="3352141"/>
            <a:ext cx="1600200" cy="786384"/>
          </a:xfrm>
          <a:prstGeom prst="roundRect">
            <a:avLst>
              <a:gd name="adj" fmla="val 6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609905" y="3352141"/>
            <a:ext cx="16002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ru-RU" sz="2000" b="1" i="0" dirty="0" err="1">
                <a:solidFill>
                  <a:srgbClr val="FFFFFF"/>
                </a:solidFill>
                <a:latin typeface="Cambria"/>
              </a:rPr>
              <a:t>C</a:t>
            </a:r>
            <a:r>
              <a:rPr lang="ru-RU" sz="2000" b="1" i="0" dirty="0">
                <a:solidFill>
                  <a:srgbClr val="FFFFFF"/>
                </a:solidFill>
                <a:latin typeface="Cambria"/>
              </a:rPr>
              <a:t>+ / </a:t>
            </a:r>
            <a:r>
              <a:rPr lang="ru-RU" sz="2000" b="1" i="0" dirty="0" err="1">
                <a:solidFill>
                  <a:srgbClr val="FFFFFF"/>
                </a:solidFill>
                <a:latin typeface="Cambria"/>
              </a:rPr>
              <a:t>C</a:t>
            </a:r>
            <a:endParaRPr lang="ru-RU" sz="200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392985" y="3352141"/>
            <a:ext cx="27432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ru-RU" sz="1800" b="1" i="0" dirty="0">
                <a:solidFill>
                  <a:srgbClr val="2F5597"/>
                </a:solidFill>
                <a:latin typeface="Cambria"/>
              </a:rPr>
              <a:t>Уверенный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27625" y="3352141"/>
            <a:ext cx="612648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ru-RU" sz="1350" b="0" i="0" dirty="0">
                <a:solidFill>
                  <a:srgbClr val="3A3A3A"/>
                </a:solidFill>
                <a:latin typeface="Calibri"/>
              </a:rPr>
              <a:t>ключевые аспекты под системным управлением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905" y="4229965"/>
            <a:ext cx="10881360" cy="786384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609905" y="4229965"/>
            <a:ext cx="1600200" cy="786384"/>
          </a:xfrm>
          <a:prstGeom prst="roundRect">
            <a:avLst>
              <a:gd name="adj" fmla="val 6000"/>
            </a:avLst>
          </a:prstGeom>
          <a:solidFill>
            <a:srgbClr val="3E6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TextBox 22"/>
          <p:cNvSpPr txBox="1"/>
          <p:nvPr/>
        </p:nvSpPr>
        <p:spPr>
          <a:xfrm>
            <a:off x="609905" y="4229965"/>
            <a:ext cx="16002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ru-RU" sz="2000" b="1" i="0" dirty="0" err="1">
                <a:solidFill>
                  <a:srgbClr val="FFFFFF"/>
                </a:solidFill>
                <a:latin typeface="Cambria"/>
              </a:rPr>
              <a:t>D</a:t>
            </a:r>
            <a:r>
              <a:rPr lang="ru-RU" sz="2000" b="1" i="0" dirty="0">
                <a:solidFill>
                  <a:srgbClr val="FFFFFF"/>
                </a:solidFill>
                <a:latin typeface="Cambria"/>
              </a:rPr>
              <a:t>+ / </a:t>
            </a:r>
            <a:r>
              <a:rPr lang="ru-RU" sz="2000" b="1" i="0" dirty="0" err="1">
                <a:solidFill>
                  <a:srgbClr val="FFFFFF"/>
                </a:solidFill>
                <a:latin typeface="Cambria"/>
              </a:rPr>
              <a:t>D</a:t>
            </a:r>
            <a:endParaRPr lang="ru-RU" sz="200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392985" y="4229965"/>
            <a:ext cx="27432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ru-RU" sz="1800" b="1" i="0" dirty="0">
                <a:solidFill>
                  <a:srgbClr val="3E63A8"/>
                </a:solidFill>
                <a:latin typeface="Cambria"/>
              </a:rPr>
              <a:t>Развивающийся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27625" y="4229965"/>
            <a:ext cx="612648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ru-RU" sz="1350" b="0" i="0" dirty="0">
                <a:solidFill>
                  <a:srgbClr val="3A3A3A"/>
                </a:solidFill>
                <a:latin typeface="Calibri"/>
              </a:rPr>
              <a:t>базовые практики действуют, приоритеты видны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905" y="5107789"/>
            <a:ext cx="10881360" cy="786384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Rounded Rectangle 26"/>
          <p:cNvSpPr/>
          <p:nvPr/>
        </p:nvSpPr>
        <p:spPr>
          <a:xfrm>
            <a:off x="609905" y="5107789"/>
            <a:ext cx="1600200" cy="786384"/>
          </a:xfrm>
          <a:prstGeom prst="roundRect">
            <a:avLst>
              <a:gd name="adj" fmla="val 6000"/>
            </a:avLst>
          </a:prstGeom>
          <a:solidFill>
            <a:srgbClr val="6E8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TextBox 27"/>
          <p:cNvSpPr txBox="1"/>
          <p:nvPr/>
        </p:nvSpPr>
        <p:spPr>
          <a:xfrm>
            <a:off x="609905" y="5107789"/>
            <a:ext cx="16002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ru-RU" sz="2000" b="1" i="0" dirty="0" err="1">
                <a:solidFill>
                  <a:srgbClr val="FFFFFF"/>
                </a:solidFill>
                <a:latin typeface="Cambria"/>
              </a:rPr>
              <a:t>E</a:t>
            </a:r>
            <a:r>
              <a:rPr lang="ru-RU" sz="2000" b="1" i="0" dirty="0">
                <a:solidFill>
                  <a:srgbClr val="FFFFFF"/>
                </a:solidFill>
                <a:latin typeface="Cambria"/>
              </a:rPr>
              <a:t>+ / </a:t>
            </a:r>
            <a:r>
              <a:rPr lang="ru-RU" sz="2000" b="1" i="0" dirty="0" err="1">
                <a:solidFill>
                  <a:srgbClr val="FFFFFF"/>
                </a:solidFill>
                <a:latin typeface="Cambria"/>
              </a:rPr>
              <a:t>E</a:t>
            </a:r>
            <a:endParaRPr lang="ru-RU" sz="200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392985" y="5107789"/>
            <a:ext cx="27432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ru-RU" sz="1800" b="1" i="0" dirty="0">
                <a:solidFill>
                  <a:srgbClr val="6E8ABE"/>
                </a:solidFill>
                <a:latin typeface="Cambria"/>
              </a:rPr>
              <a:t>Стартовый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27625" y="5107789"/>
            <a:ext cx="612648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ru-RU" sz="1350" b="0" i="0" dirty="0">
                <a:solidFill>
                  <a:srgbClr val="3A3A3A"/>
                </a:solidFill>
                <a:latin typeface="Calibri"/>
              </a:rPr>
              <a:t>компания ведёт учёт, формирует процедуры</a:t>
            </a:r>
          </a:p>
        </p:txBody>
      </p:sp>
      <p:sp>
        <p:nvSpPr>
          <p:cNvPr id="31" name="Up Arrow 30"/>
          <p:cNvSpPr/>
          <p:nvPr/>
        </p:nvSpPr>
        <p:spPr>
          <a:xfrm>
            <a:off x="11658600" y="1965960"/>
            <a:ext cx="365760" cy="4224528"/>
          </a:xfrm>
          <a:prstGeom prst="upArrow">
            <a:avLst/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609905" y="5985613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250" b="0" i="1" dirty="0">
                <a:solidFill>
                  <a:srgbClr val="595959"/>
                </a:solidFill>
                <a:latin typeface="Calibri"/>
              </a:rPr>
              <a:t>Темы ниже 60 % — это «зоны роста»: измеримые возможности подняться на следующую ступень.</a:t>
            </a:r>
          </a:p>
        </p:txBody>
      </p:sp>
      <p:sp>
        <p:nvSpPr>
          <p:cNvPr id="33" name="Прямоугольник с двумя скругленными соседними углами 32">
            <a:extLst>
              <a:ext uri="{FF2B5EF4-FFF2-40B4-BE49-F238E27FC236}">
                <a16:creationId xmlns:a16="http://schemas.microsoft.com/office/drawing/2014/main" xmlns="" id="{6AF09D00-E35C-BB84-0A83-E64B2230AE32}"/>
              </a:ext>
            </a:extLst>
          </p:cNvPr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xmlns="" id="{A04B8B5F-0CF4-6D65-A3A1-76757F9A3E82}"/>
              </a:ext>
            </a:extLst>
          </p:cNvPr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pPr algn="r"/>
              <a:t>18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35" name="Рисунок 34">
            <a:extLst>
              <a:ext uri="{FF2B5EF4-FFF2-40B4-BE49-F238E27FC236}">
                <a16:creationId xmlns:a16="http://schemas.microsoft.com/office/drawing/2014/main" xmlns="" id="{37282EA3-8D51-781C-3E04-81A4AC1AC9A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3430" y="117904"/>
            <a:ext cx="1910148" cy="711225"/>
          </a:xfrm>
          <a:prstGeom prst="rect">
            <a:avLst/>
          </a:prstGeom>
        </p:spPr>
      </p:pic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xmlns="" id="{605EC80F-4BA5-DACD-7CCA-24FF9952B746}"/>
              </a:ext>
            </a:extLst>
          </p:cNvPr>
          <p:cNvCxnSpPr/>
          <p:nvPr/>
        </p:nvCxnSpPr>
        <p:spPr>
          <a:xfrm>
            <a:off x="202858" y="963827"/>
            <a:ext cx="11647273" cy="0"/>
          </a:xfrm>
          <a:prstGeom prst="line">
            <a:avLst/>
          </a:prstGeom>
          <a:ln>
            <a:solidFill>
              <a:srgbClr val="1560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Рисунок 58">
            <a:extLst>
              <a:ext uri="{FF2B5EF4-FFF2-40B4-BE49-F238E27FC236}">
                <a16:creationId xmlns:a16="http://schemas.microsoft.com/office/drawing/2014/main" xmlns="" id="{F7BF4247-A254-FCA0-ECE2-FCC81609CA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92" y="1587755"/>
            <a:ext cx="6141463" cy="350454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ED6F1DD9-E4A4-4B20-F23F-365BFF630BEA}"/>
              </a:ext>
            </a:extLst>
          </p:cNvPr>
          <p:cNvSpPr txBox="1"/>
          <p:nvPr/>
        </p:nvSpPr>
        <p:spPr>
          <a:xfrm>
            <a:off x="2432392" y="125972"/>
            <a:ext cx="11064240" cy="58477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lang="ru-RU" sz="3200" b="1" i="0" dirty="0">
                <a:solidFill>
                  <a:srgbClr val="156082"/>
                </a:solidFill>
                <a:latin typeface="Cambria"/>
              </a:rPr>
              <a:t>Пример оценки </a:t>
            </a:r>
            <a:r>
              <a:rPr lang="en-US" sz="3200" b="1" i="0" dirty="0">
                <a:solidFill>
                  <a:srgbClr val="156082"/>
                </a:solidFill>
                <a:latin typeface="Cambria"/>
              </a:rPr>
              <a:t>ESG</a:t>
            </a:r>
            <a:r>
              <a:rPr lang="ru-RU" sz="3200" b="1" i="0" dirty="0">
                <a:solidFill>
                  <a:srgbClr val="156082"/>
                </a:solidFill>
                <a:latin typeface="Cambria"/>
              </a:rPr>
              <a:t>-зрелости банка </a:t>
            </a:r>
          </a:p>
        </p:txBody>
      </p:sp>
      <p:sp>
        <p:nvSpPr>
          <p:cNvPr id="3" name="Rounded Rectangle 4">
            <a:extLst>
              <a:ext uri="{FF2B5EF4-FFF2-40B4-BE49-F238E27FC236}">
                <a16:creationId xmlns:a16="http://schemas.microsoft.com/office/drawing/2014/main" xmlns="" id="{3ACF330A-9639-A6A7-0F06-A97280EAF87E}"/>
              </a:ext>
            </a:extLst>
          </p:cNvPr>
          <p:cNvSpPr/>
          <p:nvPr/>
        </p:nvSpPr>
        <p:spPr>
          <a:xfrm>
            <a:off x="7964512" y="1128777"/>
            <a:ext cx="3383280" cy="2026843"/>
          </a:xfrm>
          <a:prstGeom prst="roundRect">
            <a:avLst>
              <a:gd name="adj" fmla="val 10000"/>
            </a:avLst>
          </a:prstGeom>
          <a:solidFill>
            <a:schemeClr val="accent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5742B1D0-3B0B-217B-C230-22A77C5CAB0C}"/>
              </a:ext>
            </a:extLst>
          </p:cNvPr>
          <p:cNvSpPr txBox="1"/>
          <p:nvPr/>
        </p:nvSpPr>
        <p:spPr>
          <a:xfrm>
            <a:off x="7890624" y="1212462"/>
            <a:ext cx="3383280" cy="261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lang="ru-RU" sz="1100" b="1" i="0" dirty="0">
                <a:solidFill>
                  <a:srgbClr val="CFE0D3"/>
                </a:solidFill>
                <a:latin typeface="Calibri"/>
              </a:rPr>
              <a:t>ИТОГОВАЯ ОЦЕНКА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3AC30C7B-9045-A4E0-D7D3-563979A12F6A}"/>
              </a:ext>
            </a:extLst>
          </p:cNvPr>
          <p:cNvSpPr txBox="1"/>
          <p:nvPr/>
        </p:nvSpPr>
        <p:spPr>
          <a:xfrm>
            <a:off x="8393229" y="1190767"/>
            <a:ext cx="2425568" cy="144655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lang="ru-RU" sz="8800" b="1" i="0" dirty="0" err="1">
                <a:solidFill>
                  <a:srgbClr val="FFFFFF"/>
                </a:solidFill>
                <a:latin typeface="Cambria"/>
              </a:rPr>
              <a:t>C</a:t>
            </a:r>
            <a:endParaRPr lang="ru-RU" sz="880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44F99CE3-713D-2F7E-E472-45F2237169CE}"/>
              </a:ext>
            </a:extLst>
          </p:cNvPr>
          <p:cNvSpPr txBox="1"/>
          <p:nvPr/>
        </p:nvSpPr>
        <p:spPr>
          <a:xfrm>
            <a:off x="7890624" y="2454438"/>
            <a:ext cx="33832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lang="ru-RU" sz="1400" b="1" i="0" dirty="0">
                <a:solidFill>
                  <a:srgbClr val="C8922B"/>
                </a:solidFill>
                <a:latin typeface="Calibri"/>
              </a:rPr>
              <a:t>УВЕРЕННЫЙ · 41–60 %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E7430964-4A29-FC7E-75FB-16B0D0C55904}"/>
              </a:ext>
            </a:extLst>
          </p:cNvPr>
          <p:cNvSpPr txBox="1"/>
          <p:nvPr/>
        </p:nvSpPr>
        <p:spPr>
          <a:xfrm>
            <a:off x="7890624" y="2774478"/>
            <a:ext cx="3383280" cy="27699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lang="ru-RU" sz="1200" b="0" i="0" dirty="0">
                <a:solidFill>
                  <a:srgbClr val="CFE0D3"/>
                </a:solidFill>
                <a:latin typeface="Calibri"/>
              </a:rPr>
              <a:t>EQ ≈ 43 %</a:t>
            </a:r>
          </a:p>
        </p:txBody>
      </p:sp>
      <p:sp>
        <p:nvSpPr>
          <p:cNvPr id="8" name="Rounded Rectangle 9">
            <a:extLst>
              <a:ext uri="{FF2B5EF4-FFF2-40B4-BE49-F238E27FC236}">
                <a16:creationId xmlns:a16="http://schemas.microsoft.com/office/drawing/2014/main" xmlns="" id="{1685601B-479C-8FD8-9C1B-0B5C065E1D8C}"/>
              </a:ext>
            </a:extLst>
          </p:cNvPr>
          <p:cNvSpPr/>
          <p:nvPr/>
        </p:nvSpPr>
        <p:spPr>
          <a:xfrm>
            <a:off x="8127075" y="3284911"/>
            <a:ext cx="3146829" cy="868680"/>
          </a:xfrm>
          <a:prstGeom prst="roundRect">
            <a:avLst>
              <a:gd name="adj" fmla="val 6000"/>
            </a:avLst>
          </a:prstGeom>
          <a:solidFill>
            <a:srgbClr val="EEF3EE"/>
          </a:solidFill>
          <a:ln w="12700">
            <a:solidFill>
              <a:srgbClr val="D3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600" dirty="0"/>
          </a:p>
        </p:txBody>
      </p:sp>
      <p:sp>
        <p:nvSpPr>
          <p:cNvPr id="9" name="Rounded Rectangle 10">
            <a:extLst>
              <a:ext uri="{FF2B5EF4-FFF2-40B4-BE49-F238E27FC236}">
                <a16:creationId xmlns:a16="http://schemas.microsoft.com/office/drawing/2014/main" xmlns="" id="{A32A5FB8-77ED-9908-BBB0-9EF62CB2907F}"/>
              </a:ext>
            </a:extLst>
          </p:cNvPr>
          <p:cNvSpPr/>
          <p:nvPr/>
        </p:nvSpPr>
        <p:spPr>
          <a:xfrm>
            <a:off x="8264235" y="3422070"/>
            <a:ext cx="594360" cy="594360"/>
          </a:xfrm>
          <a:prstGeom prst="roundRect">
            <a:avLst>
              <a:gd name="adj" fmla="val 6000"/>
            </a:avLst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365F09CC-F67D-7429-DAC2-0CE9BACAD3EF}"/>
              </a:ext>
            </a:extLst>
          </p:cNvPr>
          <p:cNvSpPr txBox="1"/>
          <p:nvPr/>
        </p:nvSpPr>
        <p:spPr>
          <a:xfrm>
            <a:off x="8264235" y="3488418"/>
            <a:ext cx="594360" cy="461665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lang="ru-RU" sz="2400" b="1" i="0" dirty="0" err="1">
                <a:solidFill>
                  <a:srgbClr val="FFFFFF"/>
                </a:solidFill>
                <a:latin typeface="Cambria"/>
              </a:rPr>
              <a:t>E</a:t>
            </a:r>
            <a:endParaRPr lang="ru-RU" sz="240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47B8CEBC-50BE-F374-71B1-600F20472105}"/>
              </a:ext>
            </a:extLst>
          </p:cNvPr>
          <p:cNvSpPr txBox="1"/>
          <p:nvPr/>
        </p:nvSpPr>
        <p:spPr>
          <a:xfrm>
            <a:off x="9041475" y="3549973"/>
            <a:ext cx="1628761" cy="33855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lang="ru-RU" sz="1600" b="1" i="0" dirty="0" err="1">
                <a:solidFill>
                  <a:srgbClr val="1F2A24"/>
                </a:solidFill>
                <a:latin typeface="Calibri"/>
              </a:rPr>
              <a:t>Environmental</a:t>
            </a:r>
            <a:endParaRPr lang="ru-RU" sz="1600" b="1" i="0" dirty="0">
              <a:solidFill>
                <a:srgbClr val="1F2A24"/>
              </a:solidFill>
              <a:latin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33414C82-644E-0D9C-A500-93C5E7BD4A7A}"/>
              </a:ext>
            </a:extLst>
          </p:cNvPr>
          <p:cNvSpPr txBox="1"/>
          <p:nvPr/>
        </p:nvSpPr>
        <p:spPr>
          <a:xfrm>
            <a:off x="10204456" y="3446856"/>
            <a:ext cx="1371600" cy="584775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lang="ru-RU" sz="3200" b="1" i="0" dirty="0" err="1">
                <a:solidFill>
                  <a:srgbClr val="B26B1E"/>
                </a:solidFill>
                <a:latin typeface="Cambria"/>
              </a:rPr>
              <a:t>D</a:t>
            </a:r>
            <a:endParaRPr lang="ru-RU" sz="3200" b="1" i="0" dirty="0">
              <a:solidFill>
                <a:srgbClr val="B26B1E"/>
              </a:solidFill>
              <a:latin typeface="Cambria"/>
            </a:endParaRPr>
          </a:p>
        </p:txBody>
      </p:sp>
      <p:sp>
        <p:nvSpPr>
          <p:cNvPr id="13" name="Rounded Rectangle 14">
            <a:extLst>
              <a:ext uri="{FF2B5EF4-FFF2-40B4-BE49-F238E27FC236}">
                <a16:creationId xmlns:a16="http://schemas.microsoft.com/office/drawing/2014/main" xmlns="" id="{765C2C2D-8FA5-DBB2-55D6-E79C002E6C20}"/>
              </a:ext>
            </a:extLst>
          </p:cNvPr>
          <p:cNvSpPr/>
          <p:nvPr/>
        </p:nvSpPr>
        <p:spPr>
          <a:xfrm>
            <a:off x="8127075" y="4336471"/>
            <a:ext cx="3146829" cy="868680"/>
          </a:xfrm>
          <a:prstGeom prst="roundRect">
            <a:avLst>
              <a:gd name="adj" fmla="val 6000"/>
            </a:avLst>
          </a:prstGeom>
          <a:solidFill>
            <a:srgbClr val="EEF3EE"/>
          </a:solidFill>
          <a:ln w="12700">
            <a:solidFill>
              <a:srgbClr val="D3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600" dirty="0"/>
          </a:p>
        </p:txBody>
      </p:sp>
      <p:sp>
        <p:nvSpPr>
          <p:cNvPr id="14" name="Rounded Rectangle 15">
            <a:extLst>
              <a:ext uri="{FF2B5EF4-FFF2-40B4-BE49-F238E27FC236}">
                <a16:creationId xmlns:a16="http://schemas.microsoft.com/office/drawing/2014/main" xmlns="" id="{F11DAD37-6452-8792-094D-992866257569}"/>
              </a:ext>
            </a:extLst>
          </p:cNvPr>
          <p:cNvSpPr/>
          <p:nvPr/>
        </p:nvSpPr>
        <p:spPr>
          <a:xfrm>
            <a:off x="8264235" y="4473630"/>
            <a:ext cx="594360" cy="594360"/>
          </a:xfrm>
          <a:prstGeom prst="roundRect">
            <a:avLst>
              <a:gd name="adj" fmla="val 6000"/>
            </a:avLst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xmlns="" id="{E0CFCEE1-E4EA-928E-F1AE-61245D1E6B9E}"/>
              </a:ext>
            </a:extLst>
          </p:cNvPr>
          <p:cNvSpPr txBox="1"/>
          <p:nvPr/>
        </p:nvSpPr>
        <p:spPr>
          <a:xfrm>
            <a:off x="8264235" y="4539978"/>
            <a:ext cx="594360" cy="461665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lang="ru-RU" sz="2400" b="1" i="0" dirty="0" err="1">
                <a:solidFill>
                  <a:srgbClr val="FFFFFF"/>
                </a:solidFill>
                <a:latin typeface="Cambria"/>
              </a:rPr>
              <a:t>S</a:t>
            </a:r>
            <a:endParaRPr lang="ru-RU" sz="240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6295AC99-98C2-3982-72E7-3695538115B2}"/>
              </a:ext>
            </a:extLst>
          </p:cNvPr>
          <p:cNvSpPr txBox="1"/>
          <p:nvPr/>
        </p:nvSpPr>
        <p:spPr>
          <a:xfrm>
            <a:off x="9041475" y="4601533"/>
            <a:ext cx="1628761" cy="33855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lang="ru-RU" sz="1600" b="1" i="0" dirty="0">
                <a:solidFill>
                  <a:srgbClr val="1F2A24"/>
                </a:solidFill>
                <a:latin typeface="Calibri"/>
              </a:rPr>
              <a:t>Social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F4FC2C26-4E02-87FF-24F3-6FE50CB84940}"/>
              </a:ext>
            </a:extLst>
          </p:cNvPr>
          <p:cNvSpPr txBox="1"/>
          <p:nvPr/>
        </p:nvSpPr>
        <p:spPr>
          <a:xfrm>
            <a:off x="10204456" y="4498416"/>
            <a:ext cx="1371600" cy="584775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lang="ru-RU" sz="3200" b="1" i="0" dirty="0" err="1">
                <a:solidFill>
                  <a:srgbClr val="B26B1E"/>
                </a:solidFill>
                <a:latin typeface="Cambria"/>
              </a:rPr>
              <a:t>D</a:t>
            </a:r>
            <a:endParaRPr lang="ru-RU" sz="3200" b="1" i="0" dirty="0">
              <a:solidFill>
                <a:srgbClr val="B26B1E"/>
              </a:solidFill>
              <a:latin typeface="Cambria"/>
            </a:endParaRPr>
          </a:p>
        </p:txBody>
      </p:sp>
      <p:sp>
        <p:nvSpPr>
          <p:cNvPr id="18" name="Rounded Rectangle 19">
            <a:extLst>
              <a:ext uri="{FF2B5EF4-FFF2-40B4-BE49-F238E27FC236}">
                <a16:creationId xmlns:a16="http://schemas.microsoft.com/office/drawing/2014/main" xmlns="" id="{0E74C4A9-A774-45B5-0603-C73BEAAF6CBD}"/>
              </a:ext>
            </a:extLst>
          </p:cNvPr>
          <p:cNvSpPr/>
          <p:nvPr/>
        </p:nvSpPr>
        <p:spPr>
          <a:xfrm>
            <a:off x="8127075" y="5388030"/>
            <a:ext cx="3146829" cy="868680"/>
          </a:xfrm>
          <a:prstGeom prst="roundRect">
            <a:avLst>
              <a:gd name="adj" fmla="val 6000"/>
            </a:avLst>
          </a:prstGeom>
          <a:solidFill>
            <a:srgbClr val="EEF3EE"/>
          </a:solidFill>
          <a:ln w="12700">
            <a:solidFill>
              <a:srgbClr val="D3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600" dirty="0"/>
          </a:p>
        </p:txBody>
      </p:sp>
      <p:sp>
        <p:nvSpPr>
          <p:cNvPr id="19" name="Rounded Rectangle 20">
            <a:extLst>
              <a:ext uri="{FF2B5EF4-FFF2-40B4-BE49-F238E27FC236}">
                <a16:creationId xmlns:a16="http://schemas.microsoft.com/office/drawing/2014/main" xmlns="" id="{751127C0-3CB3-5372-219E-27ECC134AC0E}"/>
              </a:ext>
            </a:extLst>
          </p:cNvPr>
          <p:cNvSpPr/>
          <p:nvPr/>
        </p:nvSpPr>
        <p:spPr>
          <a:xfrm>
            <a:off x="8264235" y="5525190"/>
            <a:ext cx="594360" cy="594360"/>
          </a:xfrm>
          <a:prstGeom prst="roundRect">
            <a:avLst>
              <a:gd name="adj" fmla="val 6000"/>
            </a:avLst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xmlns="" id="{7A8791D5-E784-C7B1-DECE-90FB90DDF4C0}"/>
              </a:ext>
            </a:extLst>
          </p:cNvPr>
          <p:cNvSpPr txBox="1"/>
          <p:nvPr/>
        </p:nvSpPr>
        <p:spPr>
          <a:xfrm>
            <a:off x="8264235" y="5591538"/>
            <a:ext cx="594360" cy="461665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lang="ru-RU" sz="2400" b="1" i="0" dirty="0" err="1">
                <a:solidFill>
                  <a:srgbClr val="FFFFFF"/>
                </a:solidFill>
                <a:latin typeface="Cambria"/>
              </a:rPr>
              <a:t>G</a:t>
            </a:r>
            <a:endParaRPr lang="ru-RU" sz="240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xmlns="" id="{23A370E7-8B27-5843-0CD4-493D3268974B}"/>
              </a:ext>
            </a:extLst>
          </p:cNvPr>
          <p:cNvSpPr txBox="1"/>
          <p:nvPr/>
        </p:nvSpPr>
        <p:spPr>
          <a:xfrm>
            <a:off x="9041475" y="5653093"/>
            <a:ext cx="1628761" cy="33855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lang="ru-RU" sz="1600" b="1" i="0" dirty="0" err="1">
                <a:solidFill>
                  <a:srgbClr val="1F2A24"/>
                </a:solidFill>
                <a:latin typeface="Calibri"/>
              </a:rPr>
              <a:t>Governance</a:t>
            </a:r>
            <a:endParaRPr lang="ru-RU" sz="1600" b="1" i="0" dirty="0">
              <a:solidFill>
                <a:srgbClr val="1F2A24"/>
              </a:solidFill>
              <a:latin typeface="Calibri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xmlns="" id="{61FDE2C2-E81F-8B83-794E-44AEE47ABBBE}"/>
              </a:ext>
            </a:extLst>
          </p:cNvPr>
          <p:cNvSpPr txBox="1"/>
          <p:nvPr/>
        </p:nvSpPr>
        <p:spPr>
          <a:xfrm>
            <a:off x="10204456" y="5549975"/>
            <a:ext cx="1371600" cy="584775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lang="ru-RU" sz="3200" b="1" i="0" dirty="0" err="1">
                <a:solidFill>
                  <a:srgbClr val="2C5F2D"/>
                </a:solidFill>
                <a:latin typeface="Cambria"/>
              </a:rPr>
              <a:t>B</a:t>
            </a:r>
            <a:r>
              <a:rPr lang="ru-RU" sz="3200" b="1" i="0" dirty="0">
                <a:solidFill>
                  <a:srgbClr val="2C5F2D"/>
                </a:solidFill>
                <a:latin typeface="Cambria"/>
              </a:rPr>
              <a:t>+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xmlns="" id="{CBB549D6-8402-F177-5F7E-9CD052C2F1CB}"/>
              </a:ext>
            </a:extLst>
          </p:cNvPr>
          <p:cNvSpPr txBox="1"/>
          <p:nvPr/>
        </p:nvSpPr>
        <p:spPr>
          <a:xfrm>
            <a:off x="752701" y="5333009"/>
            <a:ext cx="5913510" cy="52835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 i="0" dirty="0">
                <a:solidFill>
                  <a:srgbClr val="1F2A24"/>
                </a:solidFill>
                <a:latin typeface="Calibri"/>
              </a:rPr>
              <a:t>Казахстан · финансовая отрасль · период оценки 2024</a:t>
            </a:r>
          </a:p>
          <a:p>
            <a:pPr algn="l">
              <a:spcAft>
                <a:spcPts val="400"/>
              </a:spcAft>
            </a:pPr>
            <a:r>
              <a:rPr lang="ru-RU" sz="1200" b="0" i="0" dirty="0">
                <a:solidFill>
                  <a:srgbClr val="5B6B62"/>
                </a:solidFill>
                <a:latin typeface="Calibri"/>
              </a:rPr>
              <a:t>Сертификат QZ2024FINESG0001 · дата выдачи 31.01.2025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xmlns="" id="{5FF5071D-25BC-801D-2DEA-D797F112BAA7}"/>
              </a:ext>
            </a:extLst>
          </p:cNvPr>
          <p:cNvSpPr txBox="1"/>
          <p:nvPr/>
        </p:nvSpPr>
        <p:spPr>
          <a:xfrm>
            <a:off x="691492" y="6312249"/>
            <a:ext cx="110642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lang="ru-RU" sz="900" b="0" i="1" dirty="0">
                <a:solidFill>
                  <a:srgbClr val="5B6B62"/>
                </a:solidFill>
                <a:latin typeface="Calibri"/>
              </a:rPr>
              <a:t>Экспертное мнение ТОО «Рейтинговое агентство ESGQ» · не кредитный рейтинг · не инвестиционная рекомендация</a:t>
            </a:r>
          </a:p>
        </p:txBody>
      </p:sp>
      <p:sp>
        <p:nvSpPr>
          <p:cNvPr id="25" name="Прямоугольник с двумя скругленными соседними углами 24">
            <a:extLst>
              <a:ext uri="{FF2B5EF4-FFF2-40B4-BE49-F238E27FC236}">
                <a16:creationId xmlns:a16="http://schemas.microsoft.com/office/drawing/2014/main" xmlns="" id="{5E859E6B-133A-1158-AE06-91D780655433}"/>
              </a:ext>
            </a:extLst>
          </p:cNvPr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xmlns="" id="{5C16B8E2-E4DE-5ACD-8FA8-DBD2697336D9}"/>
              </a:ext>
            </a:extLst>
          </p:cNvPr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t>19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xmlns="" id="{634BE39F-2A98-2F03-ADBA-D5A5A06E07F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3430" y="117904"/>
            <a:ext cx="1910148" cy="711225"/>
          </a:xfrm>
          <a:prstGeom prst="rect">
            <a:avLst/>
          </a:prstGeom>
        </p:spPr>
      </p:pic>
      <p:cxnSp>
        <p:nvCxnSpPr>
          <p:cNvPr id="28" name="Прямая соединительная линия 27">
            <a:extLst>
              <a:ext uri="{FF2B5EF4-FFF2-40B4-BE49-F238E27FC236}">
                <a16:creationId xmlns:a16="http://schemas.microsoft.com/office/drawing/2014/main" xmlns="" id="{D573FF62-DC65-A809-5B13-798AB87F8FCE}"/>
              </a:ext>
            </a:extLst>
          </p:cNvPr>
          <p:cNvCxnSpPr/>
          <p:nvPr/>
        </p:nvCxnSpPr>
        <p:spPr>
          <a:xfrm>
            <a:off x="202858" y="963827"/>
            <a:ext cx="11647273" cy="0"/>
          </a:xfrm>
          <a:prstGeom prst="line">
            <a:avLst/>
          </a:prstGeom>
          <a:ln>
            <a:solidFill>
              <a:srgbClr val="1560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xmlns="" id="{0ECD04AE-2FDB-8EF8-CFF2-23721A8D9E38}"/>
              </a:ext>
            </a:extLst>
          </p:cNvPr>
          <p:cNvSpPr/>
          <p:nvPr/>
        </p:nvSpPr>
        <p:spPr>
          <a:xfrm>
            <a:off x="2191768" y="2690295"/>
            <a:ext cx="1485083" cy="8662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368696" cy="68580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Chalk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704" y="319942"/>
            <a:ext cx="2178050" cy="180086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/>
          <p:cNvSpPr txBox="1"/>
          <p:nvPr/>
        </p:nvSpPr>
        <p:spPr>
          <a:xfrm>
            <a:off x="378704" y="4149084"/>
            <a:ext cx="6182750" cy="2193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800" u="sng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5"/>
              </a:rPr>
              <a:t>office@caclimate.fund</a:t>
            </a: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b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ru-RU" sz="1800" u="none" strike="noStrike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6"/>
              </a:rPr>
              <a:t>www.caclimate.fund</a:t>
            </a: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b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+77083457971</a:t>
            </a:r>
            <a:endParaRPr lang="ru-RU" sz="1400" kern="100" noProof="1">
              <a:solidFill>
                <a:schemeClr val="bg1"/>
              </a:solidFill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010000, Қазақстан, Астана, </a:t>
            </a:r>
            <a:b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Мәңгілік Ел даң., 11/1, оф. 703 </a:t>
            </a:r>
            <a:endParaRPr lang="ru-RU" sz="1400" kern="100" noProof="1">
              <a:solidFill>
                <a:schemeClr val="bg1"/>
              </a:solidFill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BIN/БИН 240240900538</a:t>
            </a:r>
            <a:endParaRPr lang="ru-RU" sz="1400" kern="100" noProof="1">
              <a:solidFill>
                <a:schemeClr val="bg1"/>
              </a:solidFill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1381</TotalTime>
  <Words>1834</Words>
  <Application>Microsoft Office PowerPoint</Application>
  <PresentationFormat>Широкоэкранный</PresentationFormat>
  <Paragraphs>293</Paragraphs>
  <Slides>20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35" baseType="lpstr">
      <vt:lpstr>Aptos</vt:lpstr>
      <vt:lpstr>Aptos Display</vt:lpstr>
      <vt:lpstr>Arial</vt:lpstr>
      <vt:lpstr>Arial Nova</vt:lpstr>
      <vt:lpstr>Calibri</vt:lpstr>
      <vt:lpstr>Cambria</vt:lpstr>
      <vt:lpstr>Courier New</vt:lpstr>
      <vt:lpstr>Inter</vt:lpstr>
      <vt:lpstr>Inter Bold</vt:lpstr>
      <vt:lpstr>Manrope</vt:lpstr>
      <vt:lpstr>Manrope ExtraBold</vt:lpstr>
      <vt:lpstr>Manrope Light</vt:lpstr>
      <vt:lpstr>Times New Roman</vt:lpstr>
      <vt:lpstr>Wingdings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  <Company>CACF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Центрально-Азиатский климатический фонд</dc:title>
  <dc:creator>YK2026 2019</dc:creator>
  <cp:lastModifiedBy>Учетная запись Майкрософт</cp:lastModifiedBy>
  <cp:revision>44</cp:revision>
  <dcterms:created xsi:type="dcterms:W3CDTF">2026-05-24T18:06:00Z</dcterms:created>
  <dcterms:modified xsi:type="dcterms:W3CDTF">2026-10-29T06:58:22Z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56953FD3133649F9A5ECDEB2F6CE4767_12</vt:lpwstr>
  </property>
  <property fmtid="{D5CDD505-2E9C-101B-9397-08002B2CF9AE}" pid="3" name="KSOProductBuildVer">
    <vt:lpwstr>1049-12.2.0.23203</vt:lpwstr>
  </property>
</Properties>
</file>